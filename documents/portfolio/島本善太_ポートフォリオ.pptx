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7774a1e67a4df7" /><Relationship Type="http://schemas.openxmlformats.org/officeDocument/2006/relationships/extended-properties" Target="/docProps/app.xml" Id="R9ed3491ca0a04c7d" /><Relationship Type="http://schemas.openxmlformats.org/officeDocument/2006/relationships/officeDocument" Target="/ppt/presentation.xml" Id="Rf902a8fe40b248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417df7150d4a82"/>
  </p:sldMasterIdLst>
  <p:notesMasterIdLst>
    <p:notesMasterId xmlns:r="http://schemas.openxmlformats.org/officeDocument/2006/relationships" r:id="Rbcb5e6c257d041d6"/>
  </p:notesMasterIdLst>
  <p:sldIdLst>
    <p:sldId xmlns:r="http://schemas.openxmlformats.org/officeDocument/2006/relationships" id="256" r:id="R1f4989dbf304489f"/>
    <p:sldId xmlns:r="http://schemas.openxmlformats.org/officeDocument/2006/relationships" id="257" r:id="Rbc14f7a1bd774b6a"/>
    <p:sldId xmlns:r="http://schemas.openxmlformats.org/officeDocument/2006/relationships" id="258" r:id="R3a90121698f14a7e"/>
    <p:sldId xmlns:r="http://schemas.openxmlformats.org/officeDocument/2006/relationships" id="259" r:id="R7d8550bf1ae64c95"/>
    <p:sldId xmlns:r="http://schemas.openxmlformats.org/officeDocument/2006/relationships" id="260" r:id="R176038c1b20d4554"/>
    <p:sldId xmlns:r="http://schemas.openxmlformats.org/officeDocument/2006/relationships" id="261" r:id="R82111018832b4b80"/>
    <p:sldId xmlns:r="http://schemas.openxmlformats.org/officeDocument/2006/relationships" id="262" r:id="R382fd57ee9674fd4"/>
    <p:sldId xmlns:r="http://schemas.openxmlformats.org/officeDocument/2006/relationships" id="263" r:id="R0f3bac891bd94c48"/>
    <p:sldId xmlns:r="http://schemas.openxmlformats.org/officeDocument/2006/relationships" id="264" r:id="R2a39c9982dda4848"/>
    <p:sldId xmlns:r="http://schemas.openxmlformats.org/officeDocument/2006/relationships" id="265" r:id="R3e0fcb21ee784391"/>
    <p:sldId xmlns:r="http://schemas.openxmlformats.org/officeDocument/2006/relationships" id="266" r:id="R8a0d433dc80445d5"/>
    <p:sldId xmlns:r="http://schemas.openxmlformats.org/officeDocument/2006/relationships" id="267" r:id="R0a1d1a6723044335"/>
    <p:sldId xmlns:r="http://schemas.openxmlformats.org/officeDocument/2006/relationships" id="268" r:id="R1355755e55e7443c"/>
    <p:sldId xmlns:r="http://schemas.openxmlformats.org/officeDocument/2006/relationships" id="269" r:id="R30f3a0613f4e4b03"/>
    <p:sldId xmlns:r="http://schemas.openxmlformats.org/officeDocument/2006/relationships" id="270" r:id="Rd4fb4d07b29a456a"/>
    <p:sldId xmlns:r="http://schemas.openxmlformats.org/officeDocument/2006/relationships" id="271" r:id="R370868c345f74699"/>
    <p:sldId xmlns:r="http://schemas.openxmlformats.org/officeDocument/2006/relationships" id="272" r:id="Rb8f75f29de994f03"/>
    <p:sldId xmlns:r="http://schemas.openxmlformats.org/officeDocument/2006/relationships" id="273" r:id="R591832f2b492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bd84288924e97" /><Relationship Type="http://schemas.openxmlformats.org/officeDocument/2006/relationships/slideMaster" Target="/ppt/slideMasters/slideMaster1.xml" Id="R0a417df7150d4a82" /><Relationship Type="http://schemas.openxmlformats.org/officeDocument/2006/relationships/notesMaster" Target="/ppt/notesMasters/notesMaster1.xml" Id="Rbcb5e6c257d041d6" /><Relationship Type="http://schemas.openxmlformats.org/officeDocument/2006/relationships/presProps" Target="/ppt/presProps.xml" Id="Rd1f1d6a869144922" /><Relationship Type="http://schemas.openxmlformats.org/officeDocument/2006/relationships/tableStyles" Target="/ppt/tableStyles.xml" Id="R070c4da6af494c3a" /><Relationship Type="http://schemas.openxmlformats.org/officeDocument/2006/relationships/slide" Target="/ppt/slides/slide1.xml" Id="R1f4989dbf304489f" /><Relationship Type="http://schemas.openxmlformats.org/officeDocument/2006/relationships/slide" Target="/ppt/slides/slide2.xml" Id="Rbc14f7a1bd774b6a" /><Relationship Type="http://schemas.openxmlformats.org/officeDocument/2006/relationships/slide" Target="/ppt/slides/slide3.xml" Id="R3a90121698f14a7e" /><Relationship Type="http://schemas.openxmlformats.org/officeDocument/2006/relationships/slide" Target="/ppt/slides/slide4.xml" Id="R7d8550bf1ae64c95" /><Relationship Type="http://schemas.openxmlformats.org/officeDocument/2006/relationships/slide" Target="/ppt/slides/slide5.xml" Id="R176038c1b20d4554" /><Relationship Type="http://schemas.openxmlformats.org/officeDocument/2006/relationships/slide" Target="/ppt/slides/slide6.xml" Id="R82111018832b4b80" /><Relationship Type="http://schemas.openxmlformats.org/officeDocument/2006/relationships/slide" Target="/ppt/slides/slide7.xml" Id="R382fd57ee9674fd4" /><Relationship Type="http://schemas.openxmlformats.org/officeDocument/2006/relationships/slide" Target="/ppt/slides/slide8.xml" Id="R0f3bac891bd94c48" /><Relationship Type="http://schemas.openxmlformats.org/officeDocument/2006/relationships/slide" Target="/ppt/slides/slide9.xml" Id="R2a39c9982dda4848" /><Relationship Type="http://schemas.openxmlformats.org/officeDocument/2006/relationships/slide" Target="/ppt/slides/slide10.xml" Id="R3e0fcb21ee784391" /><Relationship Type="http://schemas.openxmlformats.org/officeDocument/2006/relationships/slide" Target="/ppt/slides/slide11.xml" Id="R8a0d433dc80445d5" /><Relationship Type="http://schemas.openxmlformats.org/officeDocument/2006/relationships/slide" Target="/ppt/slides/slide12.xml" Id="R0a1d1a6723044335" /><Relationship Type="http://schemas.openxmlformats.org/officeDocument/2006/relationships/slide" Target="/ppt/slides/slide13.xml" Id="R1355755e55e7443c" /><Relationship Type="http://schemas.openxmlformats.org/officeDocument/2006/relationships/slide" Target="/ppt/slides/slide14.xml" Id="R30f3a0613f4e4b03" /><Relationship Type="http://schemas.openxmlformats.org/officeDocument/2006/relationships/slide" Target="/ppt/slides/slide15.xml" Id="Rd4fb4d07b29a456a" /><Relationship Type="http://schemas.openxmlformats.org/officeDocument/2006/relationships/slide" Target="/ppt/slides/slide16.xml" Id="R370868c345f74699" /><Relationship Type="http://schemas.openxmlformats.org/officeDocument/2006/relationships/slide" Target="/ppt/slides/slide17.xml" Id="Rb8f75f29de994f03" /><Relationship Type="http://schemas.openxmlformats.org/officeDocument/2006/relationships/slide" Target="/ppt/slides/slide18.xml" Id="R591832f2b492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a2b916cfb4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be6cac6974dd5" /><Relationship Type="http://schemas.openxmlformats.org/officeDocument/2006/relationships/notesMaster" Target="/ppt/notesMasters/notesMaster1.xml" Id="Rfcf4cbae2ee14d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52b3e5347943b3" /><Relationship Type="http://schemas.openxmlformats.org/officeDocument/2006/relationships/notesMaster" Target="/ppt/notesMasters/notesMaster1.xml" Id="R78076f4ba85948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4b68f46e04336" /><Relationship Type="http://schemas.openxmlformats.org/officeDocument/2006/relationships/notesMaster" Target="/ppt/notesMasters/notesMaster1.xml" Id="R75200e72ac4740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0b85cf214f4e37" /><Relationship Type="http://schemas.openxmlformats.org/officeDocument/2006/relationships/notesMaster" Target="/ppt/notesMasters/notesMaster1.xml" Id="R83cb155cec3245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1dd14873d349a7" /><Relationship Type="http://schemas.openxmlformats.org/officeDocument/2006/relationships/notesMaster" Target="/ppt/notesMasters/notesMaster1.xml" Id="R86818ccbc4704c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4b0cf990fe4708" /><Relationship Type="http://schemas.openxmlformats.org/officeDocument/2006/relationships/notesMaster" Target="/ppt/notesMasters/notesMaster1.xml" Id="Rc763617ed94246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faf67dcdb4f15" /><Relationship Type="http://schemas.openxmlformats.org/officeDocument/2006/relationships/notesMaster" Target="/ppt/notesMasters/notesMaster1.xml" Id="R4f07b998fa96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ad0c9d7ca54b9a" /><Relationship Type="http://schemas.openxmlformats.org/officeDocument/2006/relationships/notesMaster" Target="/ppt/notesMasters/notesMaster1.xml" Id="R4c702af7cc764d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a397b014904927" /><Relationship Type="http://schemas.openxmlformats.org/officeDocument/2006/relationships/notesMaster" Target="/ppt/notesMasters/notesMaster1.xml" Id="R49376cac7b2c41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40b95f3ae1471a" /><Relationship Type="http://schemas.openxmlformats.org/officeDocument/2006/relationships/notesMaster" Target="/ppt/notesMasters/notesMaster1.xml" Id="R20905aa4559847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ed1a3fca534ac2" /><Relationship Type="http://schemas.openxmlformats.org/officeDocument/2006/relationships/notesMaster" Target="/ppt/notesMasters/notesMaster1.xml" Id="Rd6d61d59e43047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162759bd964e44" /><Relationship Type="http://schemas.openxmlformats.org/officeDocument/2006/relationships/notesMaster" Target="/ppt/notesMasters/notesMaster1.xml" Id="R6f915a54c54345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736fecb4254085" /><Relationship Type="http://schemas.openxmlformats.org/officeDocument/2006/relationships/notesMaster" Target="/ppt/notesMasters/notesMaster1.xml" Id="Rd0674a8aae5042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2f0d112aef4261" /><Relationship Type="http://schemas.openxmlformats.org/officeDocument/2006/relationships/notesMaster" Target="/ppt/notesMasters/notesMaster1.xml" Id="Rec851246f77b40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e42be2435d4a00" /><Relationship Type="http://schemas.openxmlformats.org/officeDocument/2006/relationships/notesMaster" Target="/ppt/notesMasters/notesMaster1.xml" Id="R83c0e57cbc7747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1496b764be481a" /><Relationship Type="http://schemas.openxmlformats.org/officeDocument/2006/relationships/notesMaster" Target="/ppt/notesMasters/notesMaster1.xml" Id="R5055bc918ecd4a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a123fca8984769" /><Relationship Type="http://schemas.openxmlformats.org/officeDocument/2006/relationships/notesMaster" Target="/ppt/notesMasters/notesMaster1.xml" Id="Rc39c055b79af4f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0814e1a34f4378" /><Relationship Type="http://schemas.openxmlformats.org/officeDocument/2006/relationships/notesMaster" Target="/ppt/notesMasters/notesMaster1.xml" Id="Re5ca1ae2c905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src/sections/about.html</a:t>
            </a:r>
          </a:p>
          <a:p xmlns:a="http://schemas.openxmlformats.org/drawingml/2006/main">
            <a:r>
              <a:t>files/Vlinkvideo.mp4</a:t>
            </a:r>
          </a:p>
          <a:p xmlns:a="http://schemas.openxmlformats.org/drawingml/2006/main">
            <a:r>
              <a:t>src/sections/featured-works.html</a:t>
            </a:r>
          </a:p>
          <a:p xmlns:a="http://schemas.openxmlformats.org/drawingml/2006/main">
            <a:r>
              <a:t>https://apps.apple.com/jp/app/id6816609277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本資料の各作品紹介・企画書・仕様書・プロフィール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利用者の確認：プランナーとして独学で企画を進め、まとめてきたこと、仕様書作成の経験</a:t>
            </a:r>
          </a:p>
          <a:p xmlns:a="http://schemas.openxmlformats.org/drawingml/2006/main">
            <a:r>
              <a:t>利用者の確認：仲間とゲームを制作し、完成させている</a:t>
            </a:r>
          </a:p>
          <a:p xmlns:a="http://schemas.openxmlformats.org/drawingml/2006/main">
            <a:r>
              <a:t>src/sections/about.html</a:t>
            </a:r>
          </a:p>
          <a:p xmlns:a="http://schemas.openxmlformats.org/drawingml/2006/main">
            <a:r>
              <a:t>files/futago_spec.pdf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https://apps.apple.com/jp/app/id6816609277</a:t>
            </a:r>
          </a:p>
          <a:p xmlns:a="http://schemas.openxmlformats.org/drawingml/2006/main">
            <a:r>
              <a:t>https://itunes.apple.com/lookup?id=6816609277&amp;country=jp（2026-10-09確認）</a:t>
            </a:r>
          </a:p>
          <a:p xmlns:a="http://schemas.openxmlformats.org/drawingml/2006/main">
            <a:r>
              <a:t>D:/すべる宇宙船/Assets/SlidingSpaceParking/Docs/iOS.md</a:t>
            </a:r>
          </a:p>
          <a:p xmlns:a="http://schemas.openxmlformats.org/drawingml/2006/main">
            <a:r>
              <a:t>利用者の確認：4人制作、担当は企画立案・整理・画像作成・SE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src/sections/works.html #game-sliding-space-parking</a:t>
            </a:r>
          </a:p>
          <a:p xmlns:a="http://schemas.openxmlformats.org/drawingml/2006/main">
            <a:r>
              <a:t>https://apps.apple.com/jp/app/id6816609277</a:t>
            </a:r>
          </a:p>
          <a:p xmlns:a="http://schemas.openxmlformats.org/drawingml/2006/main">
            <a:r>
              <a:t>D:/すべる宇宙船/Assets/SlidingSpaceParking/Docs/Spec.md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https://apps.apple.com/jp/app/id6816609277</a:t>
            </a:r>
          </a:p>
          <a:p xmlns:a="http://schemas.openxmlformats.org/drawingml/2006/main">
            <a:r>
              <a:t>D:/すべる宇宙船/Assets/SlidingSpaceParking/Docs/iOS.md</a:t>
            </a:r>
          </a:p>
          <a:p xmlns:a="http://schemas.openxmlformats.org/drawingml/2006/main">
            <a:r>
              <a:t>App Store掲載のリザルト画面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src/sections/featured-works.html</a:t>
            </a:r>
          </a:p>
          <a:p xmlns:a="http://schemas.openxmlformats.org/drawingml/2006/main">
            <a:r>
              <a:t>制作人数は利用者の確認：8人</a:t>
            </a:r>
          </a:p>
          <a:p xmlns:a="http://schemas.openxmlformats.org/drawingml/2006/main">
            <a:r>
              <a:t>審査通過実績：src/sections/about.html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D:/企画書、ポートフォリオ、仕様書/企画書/V-LinkBattle (1).pdf p.5</a:t>
            </a:r>
          </a:p>
          <a:p xmlns:a="http://schemas.openxmlformats.org/drawingml/2006/main">
            <a:r>
              <a:t>D:/自作ゲーム動画/アピール.mov</a:t>
            </a:r>
          </a:p>
          <a:p xmlns:a="http://schemas.openxmlformats.org/drawingml/2006/main">
            <a:r>
              <a:t>企画ルールの説明であり、全プラットフォームで同一演出を保証するものではない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D:/企画書、ポートフォリオ、仕様書/企画書/V-LinkBattle (1).pdf p.6-7</a:t>
            </a:r>
          </a:p>
          <a:p xmlns:a="http://schemas.openxmlformats.org/drawingml/2006/main">
            <a:r>
              <a:t>D:/自作ゲーム動画/コメント機能.mov</a:t>
            </a:r>
          </a:p>
          <a:p xmlns:a="http://schemas.openxmlformats.org/drawingml/2006/main">
            <a:r>
              <a:t>D:/自作ゲーム動画/タブ.mov</a:t>
            </a:r>
          </a:p>
          <a:p xmlns:a="http://schemas.openxmlformats.org/drawingml/2006/main">
            <a:r>
              <a:t>Web版はゲーム画面内の通知表示に調整。Windows版の録画を掲載。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src/sections/works.html #game-futago</a:t>
            </a:r>
          </a:p>
          <a:p xmlns:a="http://schemas.openxmlformats.org/drawingml/2006/main">
            <a:r>
              <a:t>files/futago_spec.pdf p.3-4</a:t>
            </a:r>
          </a:p>
          <a:p xmlns:a="http://schemas.openxmlformats.org/drawingml/2006/main">
            <a:r>
              <a:t>制作人数は利用者の確認：6人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files/futago_spec.pdf p.3-5</a:t>
            </a:r>
          </a:p>
          <a:p xmlns:a="http://schemas.openxmlformats.org/drawingml/2006/main">
            <a:r>
              <a:t>仕様書に記載された実装の優先順位と振り返りを要約。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src/sections/works.html #game-line-boundary</a:t>
            </a:r>
          </a:p>
          <a:p xmlns:a="http://schemas.openxmlformats.org/drawingml/2006/main">
            <a:r>
              <a:t>files/line-boundary_proposal.pdf p.3-7</a:t>
            </a:r>
          </a:p>
          <a:p xmlns:a="http://schemas.openxmlformats.org/drawingml/2006/main">
            <a:r>
              <a:t>制作人数は利用者の確認：4人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src/sections/works.html #game-teruteru-wars, #game-hanten-assassination</a:t>
            </a:r>
          </a:p>
          <a:p xmlns:a="http://schemas.openxmlformats.org/drawingml/2006/main">
            <a:r>
              <a:t>制作人数は利用者の確認：各4人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src/sections/works.html #game-bug-hunter</a:t>
            </a:r>
          </a:p>
          <a:p xmlns:a="http://schemas.openxmlformats.org/drawingml/2006/main">
            <a:r>
              <a:t>src/sections/proposals.html #proposal-bug-hunter</a:t>
            </a:r>
          </a:p>
          <a:p xmlns:a="http://schemas.openxmlformats.org/drawingml/2006/main">
            <a:r>
              <a:t>利用者が提示した指示式バトル、転倒・復帰時間・運の設計方針。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files/FiveMinuteDungeon.pdf</a:t>
            </a:r>
          </a:p>
          <a:p xmlns:a="http://schemas.openxmlformats.org/drawingml/2006/main">
            <a:r>
              <a:t>files/seibutsu-master.pdf</a:t>
            </a:r>
          </a:p>
          <a:p xmlns:a="http://schemas.openxmlformats.org/drawingml/2006/main">
            <a:r>
              <a:t>利用者の確認：2件とも企画書のみ。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src/sections/skills.html</a:t>
            </a:r>
          </a:p>
          <a:p xmlns:a="http://schemas.openxmlformats.org/drawingml/2006/main">
            <a:r>
              <a:t>src/sections/about.html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公開URLと資料ファイル名：src/sections/works.html, proposals.html, specifications.html</a:t>
            </a:r>
          </a:p>
          <a:p xmlns:a="http://schemas.openxmlformats.org/drawingml/2006/main">
            <a:r>
              <a:t>V-Link Battleの企画書はWeb未公開のため公開リンクを掲載していません。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src/sections/about.html</a:t>
            </a:r>
          </a:p>
          <a:p xmlns:a="http://schemas.openxmlformats.org/drawingml/2006/main">
            <a:r>
              <a:t>src/sections/contact.html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24cea3fff44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ed3e54c3546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11a62ceec4e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1dcf0d31740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7f576f75c4d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1062a244b4b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0068DE-2893-4A5F-928F-0F1BC2C2D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159CB7-ADA0-456D-9A0D-092F24D430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ACF1C2-9A83-491D-9A2C-CE405FF13D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69F103-6E7D-490C-B11A-3FC6DB24B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6212D2-E0A9-4B93-8B62-92B09B53B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11F26F-B429-46E6-BC1F-4FF622E4A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5FE2BA-EABE-4B97-A466-28A521B2A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B0A796-4111-4BAC-8FC7-C02B2EEDA5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33A4E1-7770-483F-8E76-2B03BC483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625073-E1B1-446E-B92B-9647CF02B7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d151434be415b" /><Relationship Type="http://schemas.openxmlformats.org/officeDocument/2006/relationships/slideLayout" Target="/ppt/slideLayouts/slideLayout1.xml" Id="R7a4c9a8801d54a46" /><Relationship Type="http://schemas.openxmlformats.org/officeDocument/2006/relationships/slideLayout" Target="/ppt/slideLayouts/slideLayout2.xml" Id="R2892965a5fc64004" /><Relationship Type="http://schemas.openxmlformats.org/officeDocument/2006/relationships/slideLayout" Target="/ppt/slideLayouts/slideLayout3.xml" Id="R9df21970c07b4367" /><Relationship Type="http://schemas.openxmlformats.org/officeDocument/2006/relationships/slideLayout" Target="/ppt/slideLayouts/slideLayout4.xml" Id="Rf5837476a0654766" /><Relationship Type="http://schemas.openxmlformats.org/officeDocument/2006/relationships/slideLayout" Target="/ppt/slideLayouts/slideLayout5.xml" Id="R176a5a57e7a9423a" /><Relationship Type="http://schemas.openxmlformats.org/officeDocument/2006/relationships/slideLayout" Target="/ppt/slideLayouts/slideLayout6.xml" Id="Rb2ca6f19b51043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4c9a8801d54a46"/>
    <p:sldLayoutId xmlns:r="http://schemas.openxmlformats.org/officeDocument/2006/relationships" id="2147483650" r:id="R2892965a5fc64004"/>
    <p:sldLayoutId xmlns:r="http://schemas.openxmlformats.org/officeDocument/2006/relationships" id="2147483651" r:id="R9df21970c07b4367"/>
    <p:sldLayoutId xmlns:r="http://schemas.openxmlformats.org/officeDocument/2006/relationships" id="2147483652" r:id="Rf5837476a0654766"/>
    <p:sldLayoutId xmlns:r="http://schemas.openxmlformats.org/officeDocument/2006/relationships" id="2147483653" r:id="R176a5a57e7a9423a"/>
    <p:sldLayoutId xmlns:r="http://schemas.openxmlformats.org/officeDocument/2006/relationships" id="2147483654" r:id="Rb2ca6f19b51043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fb1306c1c4178" /><Relationship Type="http://schemas.openxmlformats.org/officeDocument/2006/relationships/image" Target="/ppt/media/image.jpeg" Id="R8885c61ebfdd4794" /><Relationship Type="http://schemas.openxmlformats.org/officeDocument/2006/relationships/image" Target="/ppt/media/image2.jpeg" Id="R50b8428e7d0a4e35" /><Relationship Type="http://schemas.openxmlformats.org/officeDocument/2006/relationships/notesSlide" Target="/ppt/notesSlides/notesSlide1.xml" Id="R1768133840bc43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d992266134f2b" /><Relationship Type="http://schemas.openxmlformats.org/officeDocument/2006/relationships/notesSlide" Target="/ppt/notesSlides/notesSlide2.xml" Id="R6f02918e029b40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3bbd61fea4cf3" /><Relationship Type="http://schemas.openxmlformats.org/officeDocument/2006/relationships/notesSlide" Target="/ppt/notesSlides/notesSlide3.xml" Id="R2c715ffbcd9449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0c3399d924140" /><Relationship Type="http://schemas.openxmlformats.org/officeDocument/2006/relationships/image" Target="/ppt/media/image.png" Id="R066bd9e8e79e4dbc" /><Relationship Type="http://schemas.openxmlformats.org/officeDocument/2006/relationships/image" Target="/ppt/media/image3.jpeg" Id="R8c7194a5950e4311" /><Relationship Type="http://schemas.openxmlformats.org/officeDocument/2006/relationships/hyperlink" Target="https://apps.apple.com/jp/app/id6816609277" TargetMode="External" Id="Rca729a90dc714044" /><Relationship Type="http://schemas.openxmlformats.org/officeDocument/2006/relationships/hyperlink" Target="https://unityroom.com/games/sliding-space-parking" TargetMode="External" Id="R2b487a677f4f4c22" /><Relationship Type="http://schemas.openxmlformats.org/officeDocument/2006/relationships/notesSlide" Target="/ppt/notesSlides/notesSlide4.xml" Id="R06674f1e6af24e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18105b6b24c27" /><Relationship Type="http://schemas.openxmlformats.org/officeDocument/2006/relationships/image" Target="/ppt/media/image4.jpeg" Id="R9cb2a71aac8d4b80" /><Relationship Type="http://schemas.openxmlformats.org/officeDocument/2006/relationships/notesSlide" Target="/ppt/notesSlides/notesSlide5.xml" Id="Rdafe56e8ade745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ef2c51b994e18" /><Relationship Type="http://schemas.openxmlformats.org/officeDocument/2006/relationships/image" Target="/ppt/media/image5.jpeg" Id="R2c5cc3f11b4b4deb" /><Relationship Type="http://schemas.openxmlformats.org/officeDocument/2006/relationships/hyperlink" Target="https://apps.apple.com/jp/app/id6816609277" TargetMode="External" Id="Rd5af104cc3d7485a" /><Relationship Type="http://schemas.openxmlformats.org/officeDocument/2006/relationships/notesSlide" Target="/ppt/notesSlides/notesSlide6.xml" Id="R6145e9880f504f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f7b31ff4842fe" /><Relationship Type="http://schemas.openxmlformats.org/officeDocument/2006/relationships/image" Target="/ppt/media/image2.png" Id="R6a02ebe837ef4456" /><Relationship Type="http://schemas.openxmlformats.org/officeDocument/2006/relationships/image" Target="/ppt/media/image6.jpeg" Id="Rfc99f4cd8fa74274" /><Relationship Type="http://schemas.openxmlformats.org/officeDocument/2006/relationships/hyperlink" Target="https://kuon-haruto.github.io/portfolio/play/v-link-battle/" TargetMode="External" Id="Rc9606729abe74570" /><Relationship Type="http://schemas.openxmlformats.org/officeDocument/2006/relationships/notesSlide" Target="/ppt/notesSlides/notesSlide7.xml" Id="R33f1219e358f4c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465a890204cfd" /><Relationship Type="http://schemas.openxmlformats.org/officeDocument/2006/relationships/image" Target="/ppt/media/image7.jpeg" Id="R3aac8ee87da24230" /><Relationship Type="http://schemas.openxmlformats.org/officeDocument/2006/relationships/notesSlide" Target="/ppt/notesSlides/notesSlide8.xml" Id="R851b2860fc374c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aae2f5cb641fe" /><Relationship Type="http://schemas.openxmlformats.org/officeDocument/2006/relationships/image" Target="/ppt/media/image8.jpeg" Id="Ra37a60615b864e72" /><Relationship Type="http://schemas.openxmlformats.org/officeDocument/2006/relationships/image" Target="/ppt/media/image9.jpeg" Id="R2463f89e2af7467d" /><Relationship Type="http://schemas.openxmlformats.org/officeDocument/2006/relationships/notesSlide" Target="/ppt/notesSlides/notesSlide9.xml" Id="R90f3299baf3b44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5192be2104e19" /><Relationship Type="http://schemas.openxmlformats.org/officeDocument/2006/relationships/image" Target="/ppt/media/image3.png" Id="Rc3b9beede2be45d7" /><Relationship Type="http://schemas.openxmlformats.org/officeDocument/2006/relationships/image" Target="/ppt/media/image4.png" Id="R160f99a9e93b4f1d" /><Relationship Type="http://schemas.openxmlformats.org/officeDocument/2006/relationships/hyperlink" Target="https://kuon-haruto.github.io/portfolio/play/futago/" TargetMode="External" Id="R2efbe20827064561" /><Relationship Type="http://schemas.openxmlformats.org/officeDocument/2006/relationships/notesSlide" Target="/ppt/notesSlides/notesSlide10.xml" Id="Rb1389cf1cc8041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fd536bdaa4393" /><Relationship Type="http://schemas.openxmlformats.org/officeDocument/2006/relationships/image" Target="/ppt/media/image5.png" Id="R08143aeeef61405a" /><Relationship Type="http://schemas.openxmlformats.org/officeDocument/2006/relationships/notesSlide" Target="/ppt/notesSlides/notesSlide11.xml" Id="Rd0545deb45244d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527a3de2e4067" /><Relationship Type="http://schemas.openxmlformats.org/officeDocument/2006/relationships/image" Target="/ppt/media/image6.png" Id="R3b4b0b3b8d144a09" /><Relationship Type="http://schemas.openxmlformats.org/officeDocument/2006/relationships/image" Target="/ppt/media/image7.png" Id="Rae5b1d2a03434d10" /><Relationship Type="http://schemas.openxmlformats.org/officeDocument/2006/relationships/hyperlink" Target="https://kuon-haruto.github.io/portfolio/play/line-boundary/" TargetMode="External" Id="R364b36c977ca4cec" /><Relationship Type="http://schemas.openxmlformats.org/officeDocument/2006/relationships/notesSlide" Target="/ppt/notesSlides/notesSlide12.xml" Id="R27a0b4d6858c41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ab875251445d4" /><Relationship Type="http://schemas.openxmlformats.org/officeDocument/2006/relationships/image" Target="/ppt/media/image8.png" Id="Rd3970a4d78944533" /><Relationship Type="http://schemas.openxmlformats.org/officeDocument/2006/relationships/image" Target="/ppt/media/image10.jpeg" Id="Ra3113780f51740b1" /><Relationship Type="http://schemas.openxmlformats.org/officeDocument/2006/relationships/image" Target="/ppt/media/image9.png" Id="R77000cfa056e4f36" /><Relationship Type="http://schemas.openxmlformats.org/officeDocument/2006/relationships/image" Target="/ppt/media/image10.png" Id="R29ba440a88d44020" /><Relationship Type="http://schemas.openxmlformats.org/officeDocument/2006/relationships/notesSlide" Target="/ppt/notesSlides/notesSlide13.xml" Id="R000fcd305b614c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3064fb1b54ba1" /><Relationship Type="http://schemas.openxmlformats.org/officeDocument/2006/relationships/image" Target="/ppt/media/image11.png" Id="R748124ed47d8496b" /><Relationship Type="http://schemas.openxmlformats.org/officeDocument/2006/relationships/image" Target="/ppt/media/image12.png" Id="Rbf758ccab22d4266" /><Relationship Type="http://schemas.openxmlformats.org/officeDocument/2006/relationships/hyperlink" Target="https://kuon-haruto.github.io/portfolio/play/bug-hunter/" TargetMode="External" Id="Rc3883476d3004ca9" /><Relationship Type="http://schemas.openxmlformats.org/officeDocument/2006/relationships/notesSlide" Target="/ppt/notesSlides/notesSlide14.xml" Id="R7b2d9792645b4d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b6525ec8d4c12" /><Relationship Type="http://schemas.openxmlformats.org/officeDocument/2006/relationships/image" Target="/ppt/media/image13.png" Id="Rc49bad677cab4e11" /><Relationship Type="http://schemas.openxmlformats.org/officeDocument/2006/relationships/image" Target="/ppt/media/image14.png" Id="R3898bf7ff2684ed3" /><Relationship Type="http://schemas.openxmlformats.org/officeDocument/2006/relationships/notesSlide" Target="/ppt/notesSlides/notesSlide15.xml" Id="Rf7aaa46b5da149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ba2dc6f5940f3" /><Relationship Type="http://schemas.openxmlformats.org/officeDocument/2006/relationships/image" Target="/ppt/media/image15.png" Id="R1a2c167e86234fa6" /><Relationship Type="http://schemas.openxmlformats.org/officeDocument/2006/relationships/image" Target="/ppt/media/image16.png" Id="Rb3db0a8e6cb043bb" /><Relationship Type="http://schemas.openxmlformats.org/officeDocument/2006/relationships/image" Target="/ppt/media/image17.png" Id="Rfe001cf235ee43f2" /><Relationship Type="http://schemas.openxmlformats.org/officeDocument/2006/relationships/image" Target="/ppt/media/image18.png" Id="R29c17fa8f9c24a0a" /><Relationship Type="http://schemas.openxmlformats.org/officeDocument/2006/relationships/image" Target="/ppt/media/image19.png" Id="Refb46f991e574820" /><Relationship Type="http://schemas.openxmlformats.org/officeDocument/2006/relationships/image" Target="/ppt/media/image20.png" Id="Rdd6f6e8d608449a7" /><Relationship Type="http://schemas.openxmlformats.org/officeDocument/2006/relationships/image" Target="/ppt/media/image21.png" Id="R286f9656b2054681" /><Relationship Type="http://schemas.openxmlformats.org/officeDocument/2006/relationships/image" Target="/ppt/media/image22.png" Id="Rd96adc97ac6f46b3" /><Relationship Type="http://schemas.openxmlformats.org/officeDocument/2006/relationships/notesSlide" Target="/ppt/notesSlides/notesSlide16.xml" Id="Re5d1fcb9eecb4f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929a39d234dce" /><Relationship Type="http://schemas.openxmlformats.org/officeDocument/2006/relationships/hyperlink" Target="https://unityroom.com/games/sliding-space-parking" TargetMode="External" Id="R176798d9d8b242f7" /><Relationship Type="http://schemas.openxmlformats.org/officeDocument/2006/relationships/hyperlink" Target="https://apps.apple.com/jp/app/id6816609277" TargetMode="External" Id="Re3cc39c5be5b4e15" /><Relationship Type="http://schemas.openxmlformats.org/officeDocument/2006/relationships/hyperlink" Target="https://kuon-haruto.github.io/portfolio/play/v-link-battle/" TargetMode="External" Id="Rc9054554639641ff" /><Relationship Type="http://schemas.openxmlformats.org/officeDocument/2006/relationships/hyperlink" Target="https://kuon-haruto.github.io/portfolio/play/futago/" TargetMode="External" Id="Ra9789eb44c464f5e" /><Relationship Type="http://schemas.openxmlformats.org/officeDocument/2006/relationships/hyperlink" Target="https://kuon-haruto.github.io/portfolio/files/futago_proposal.pdf" TargetMode="External" Id="R992a0c4edec94f43" /><Relationship Type="http://schemas.openxmlformats.org/officeDocument/2006/relationships/hyperlink" Target="https://kuon-haruto.github.io/portfolio/files/futago_spec.pdf" TargetMode="External" Id="Ra57a15eee3bb4f1e" /><Relationship Type="http://schemas.openxmlformats.org/officeDocument/2006/relationships/hyperlink" Target="https://kuon-haruto.github.io/portfolio/play/line-boundary/" TargetMode="External" Id="R56a22c354122480a" /><Relationship Type="http://schemas.openxmlformats.org/officeDocument/2006/relationships/hyperlink" Target="https://kuon-haruto.github.io/portfolio/files/line-boundary_proposal.pdf" TargetMode="External" Id="R8a8db27ca3394ccc" /><Relationship Type="http://schemas.openxmlformats.org/officeDocument/2006/relationships/hyperlink" Target="https://kuon-haruto.github.io/portfolio/files/kochiratomukou_spec.pdf" TargetMode="External" Id="Rf2e78b3a1a1e4563" /><Relationship Type="http://schemas.openxmlformats.org/officeDocument/2006/relationships/hyperlink" Target="https://kuon-haruto.github.io/portfolio/play/teruteru-wars/" TargetMode="External" Id="Rc673694e408b4e9e" /><Relationship Type="http://schemas.openxmlformats.org/officeDocument/2006/relationships/hyperlink" Target="https://kuon-haruto.github.io/portfolio/files/teruteruwars_proposal.pdf" TargetMode="External" Id="R92c4af0b05ed4fb0" /><Relationship Type="http://schemas.openxmlformats.org/officeDocument/2006/relationships/hyperlink" Target="https://kuon-haruto.github.io/portfolio/files/teruteru-wars_spec.pdf" TargetMode="External" Id="R14b6455f10ff4d3b" /><Relationship Type="http://schemas.openxmlformats.org/officeDocument/2006/relationships/hyperlink" Target="https://kuon-haruto.github.io/portfolio/play/hanten-assassination/" TargetMode="External" Id="R765060633aae4633" /><Relationship Type="http://schemas.openxmlformats.org/officeDocument/2006/relationships/hyperlink" Target="https://kuon-haruto.github.io/portfolio/files/hantenansatsu_proposal.pdf" TargetMode="External" Id="R5d532f248e56432b" /><Relationship Type="http://schemas.openxmlformats.org/officeDocument/2006/relationships/hyperlink" Target="https://kuon-haruto.github.io/portfolio/files/hanntenn-ansatu_spec.pdf" TargetMode="External" Id="R8bbd7cc5a41645f4" /><Relationship Type="http://schemas.openxmlformats.org/officeDocument/2006/relationships/hyperlink" Target="https://kuon-haruto.github.io/portfolio/play/bug-hunter/" TargetMode="External" Id="Rc462daf7d4be4a1f" /><Relationship Type="http://schemas.openxmlformats.org/officeDocument/2006/relationships/hyperlink" Target="https://kuon-haruto.github.io/portfolio/files/mushi-shooting.pdf" TargetMode="External" Id="R560478f1f93b413e" /><Relationship Type="http://schemas.openxmlformats.org/officeDocument/2006/relationships/hyperlink" Target="https://kuon-haruto.github.io/portfolio/files/FiveMinuteDungeon.pdf" TargetMode="External" Id="R0b199ade664a4563" /><Relationship Type="http://schemas.openxmlformats.org/officeDocument/2006/relationships/hyperlink" Target="https://kuon-haruto.github.io/portfolio/files/seibutsu-master.pdf" TargetMode="External" Id="Ra51a92eca8ec4520" /><Relationship Type="http://schemas.openxmlformats.org/officeDocument/2006/relationships/notesSlide" Target="/ppt/notesSlides/notesSlide17.xml" Id="Rbd315b14083a4e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5299d20e04a60" /><Relationship Type="http://schemas.openxmlformats.org/officeDocument/2006/relationships/hyperlink" Target="mailto:shimachan.z@icloud.com" TargetMode="External" Id="R1dc2a52f565b4a3b" /><Relationship Type="http://schemas.openxmlformats.org/officeDocument/2006/relationships/hyperlink" Target="https://kuon-haruto.github.io/portfolio/" TargetMode="External" Id="Rf46bce6cc1a945d5" /><Relationship Type="http://schemas.openxmlformats.org/officeDocument/2006/relationships/notesSlide" Target="/ppt/notesSlides/notesSlide18.xml" Id="Rcb839c300a2048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ORTFOLIO">
            <a:extLst xmlns:a="http://schemas.openxmlformats.org/drawingml/2006/main">
              <a:ext uri="{FF2B5EF4-FFF2-40B4-BE49-F238E27FC236}">
                <a16:creationId xmlns:a16="http://schemas.microsoft.com/office/drawing/2014/main" id="{E5781C72-A742-4DEA-92D3-BD92546D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PORTFOLIO</a:t>
            </a:r>
          </a:p>
        </p:txBody>
      </p:sp>
      <p:sp>
        <p:nvSpPr>
          <p:cNvPr id="2" name="島本 善太">
            <a:extLst xmlns:a="http://schemas.openxmlformats.org/drawingml/2006/main">
              <a:ext uri="{FF2B5EF4-FFF2-40B4-BE49-F238E27FC236}">
                <a16:creationId xmlns:a16="http://schemas.microsoft.com/office/drawing/2014/main" id="{319A7720-3BC0-4E54-95D9-6D08A77B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715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島本 善太</a:t>
            </a:r>
          </a:p>
        </p:txBody>
      </p:sp>
      <p:sp>
        <p:nvSpPr>
          <p:cNvPr id="3" name="ゲームプランナー志望 / 2028年卒業予定">
            <a:extLst xmlns:a="http://schemas.openxmlformats.org/drawingml/2006/main">
              <a:ext uri="{FF2B5EF4-FFF2-40B4-BE49-F238E27FC236}">
                <a16:creationId xmlns:a16="http://schemas.microsoft.com/office/drawing/2014/main" id="{290978D2-010E-4AAA-8310-606EAF3E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ゲームプランナー志望 / 2028年卒業予定</a:t>
            </a:r>
          </a:p>
        </p:txBody>
      </p:sp>
      <p:sp>
        <p:nvSpPr>
          <p:cNvPr id="4" name="企画を考え、仲間と遊べる形まで作る。">
            <a:extLst xmlns:a="http://schemas.openxmlformats.org/drawingml/2006/main">
              <a:ext uri="{FF2B5EF4-FFF2-40B4-BE49-F238E27FC236}">
                <a16:creationId xmlns:a16="http://schemas.microsoft.com/office/drawing/2014/main" id="{935BDC35-0054-4585-8C16-4850C7F0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企画を考え、仲間と遊べる形まで作る。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F39E0-84DB-4F52-BA3A-260E0A9F4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5c61ebfdd4794"/>
          <a:stretch xmlns:a="http://schemas.openxmlformats.org/drawingml/2006/main"/>
        </p:blipFill>
        <p:spPr>
          <a:xfrm xmlns:a="http://schemas.openxmlformats.org/drawingml/2006/main">
            <a:off x="609600" y="3422094"/>
            <a:ext cx="5219700" cy="241411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48514-1ECA-42C6-9E53-4DF93E4361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8428e7d0a4e35"/>
          <a:stretch xmlns:a="http://schemas.openxmlformats.org/drawingml/2006/main"/>
        </p:blipFill>
        <p:spPr>
          <a:xfrm xmlns:a="http://schemas.openxmlformats.org/drawingml/2006/main">
            <a:off x="6635750" y="3314700"/>
            <a:ext cx="4673600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すべる宇宙駐車場 / App Store公開">
            <a:extLst xmlns:a="http://schemas.openxmlformats.org/drawingml/2006/main">
              <a:ext uri="{FF2B5EF4-FFF2-40B4-BE49-F238E27FC236}">
                <a16:creationId xmlns:a16="http://schemas.microsoft.com/office/drawing/2014/main" id="{CA8D3E25-C57C-4745-A14C-29EDDB9F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すべる宇宙駐車場 / App Store公開</a:t>
            </a:r>
          </a:p>
        </p:txBody>
      </p:sp>
      <p:sp>
        <p:nvSpPr>
          <p:cNvPr id="8" name="V-Link Battle / 神エボ1次審査通過">
            <a:extLst xmlns:a="http://schemas.openxmlformats.org/drawingml/2006/main">
              <a:ext uri="{FF2B5EF4-FFF2-40B4-BE49-F238E27FC236}">
                <a16:creationId xmlns:a16="http://schemas.microsoft.com/office/drawing/2014/main" id="{7673A348-4A9F-4672-B702-84F1A22C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57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V-Link Battle / 神エボ1次審査通過</a:t>
            </a:r>
          </a:p>
        </p:txBody>
      </p:sp>
      <p:sp>
        <p:nvSpPr>
          <p:cNvPr id="9" name="01 / 18">
            <a:extLst xmlns:a="http://schemas.openxmlformats.org/drawingml/2006/main">
              <a:ext uri="{FF2B5EF4-FFF2-40B4-BE49-F238E27FC236}">
                <a16:creationId xmlns:a16="http://schemas.microsoft.com/office/drawing/2014/main" id="{606A9475-D48F-4E90-801F-3F57A7F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01 / 18</a:t>
            </a:r>
          </a:p>
        </p:txBody>
      </p:sp>
      <p:sp>
        <p:nvSpPr>
          <p:cNvPr id="10" name="次：目次">
            <a:extLst xmlns:a="http://schemas.openxmlformats.org/drawingml/2006/main">
              <a:ext uri="{FF2B5EF4-FFF2-40B4-BE49-F238E27FC236}">
                <a16:creationId xmlns:a16="http://schemas.microsoft.com/office/drawing/2014/main" id="{A1EBC49F-4CA3-41A1-912A-5E0D71F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次：目次</a:t>
            </a:r>
          </a:p>
        </p:txBody>
      </p:sp>
    </p:spTree>
    <p:extLst>
      <p:ext uri="{BB962C8B-B14F-4D97-AF65-F5344CB8AC3E}">
        <p14:creationId xmlns:p14="http://schemas.microsoft.com/office/powerpoint/2010/main" val="1166785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目次">
            <a:extLst xmlns:a="http://schemas.openxmlformats.org/drawingml/2006/main">
              <a:ext uri="{FF2B5EF4-FFF2-40B4-BE49-F238E27FC236}">
                <a16:creationId xmlns:a16="http://schemas.microsoft.com/office/drawing/2014/main" id="{F5711EA1-4A03-4A7B-9465-CBFC5A98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目次</a:t>
            </a:r>
          </a:p>
        </p:txBody>
      </p:sp>
      <p:sp>
        <p:nvSpPr>
          <p:cNvPr id="2" name="強み・制作作品・企画書と仕様書">
            <a:extLst xmlns:a="http://schemas.openxmlformats.org/drawingml/2006/main">
              <a:ext uri="{FF2B5EF4-FFF2-40B4-BE49-F238E27FC236}">
                <a16:creationId xmlns:a16="http://schemas.microsoft.com/office/drawing/2014/main" id="{686593CC-4C48-4440-B93D-8D7982D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強み・制作作品・企画書と仕様書</a:t>
            </a:r>
          </a:p>
        </p:txBody>
      </p:sp>
      <p:sp>
        <p:nvSpPr>
          <p:cNvPr id="3" name="私の強み">
            <a:extLst xmlns:a="http://schemas.openxmlformats.org/drawingml/2006/main">
              <a:ext uri="{FF2B5EF4-FFF2-40B4-BE49-F238E27FC236}">
                <a16:creationId xmlns:a16="http://schemas.microsoft.com/office/drawing/2014/main" id="{F9EA281F-9A5F-4AF3-B7C1-DE79263B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私の強み</a:t>
            </a:r>
          </a:p>
        </p:txBody>
      </p:sp>
      <p:sp>
        <p:nvSpPr>
          <p:cNvPr id="4" name="代表作① すべる宇宙駐車場">
            <a:extLst xmlns:a="http://schemas.openxmlformats.org/drawingml/2006/main">
              <a:ext uri="{FF2B5EF4-FFF2-40B4-BE49-F238E27FC236}">
                <a16:creationId xmlns:a16="http://schemas.microsoft.com/office/drawing/2014/main" id="{133689CB-5414-411D-9B5E-6516CC9C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代表作① すべる宇宙駐車場</a:t>
            </a:r>
          </a:p>
        </p:txBody>
      </p:sp>
      <p:sp>
        <p:nvSpPr>
          <p:cNvPr id="5" name="代表作② V-Link Battle">
            <a:extLst xmlns:a="http://schemas.openxmlformats.org/drawingml/2006/main">
              <a:ext uri="{FF2B5EF4-FFF2-40B4-BE49-F238E27FC236}">
                <a16:creationId xmlns:a16="http://schemas.microsoft.com/office/drawing/2014/main" id="{ADD3B151-27AB-465B-961E-55F1E91B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代表作② V-Link Battle</a:t>
            </a:r>
          </a:p>
        </p:txBody>
      </p:sp>
      <p:sp>
        <p:nvSpPr>
          <p:cNvPr id="6" name="その他の制作作品">
            <a:extLst xmlns:a="http://schemas.openxmlformats.org/drawingml/2006/main">
              <a:ext uri="{FF2B5EF4-FFF2-40B4-BE49-F238E27FC236}">
                <a16:creationId xmlns:a16="http://schemas.microsoft.com/office/drawing/2014/main" id="{C9DA7F78-9B43-40AB-A39A-6C64C818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その他の制作作品</a:t>
            </a:r>
          </a:p>
        </p:txBody>
      </p:sp>
      <p:sp>
        <p:nvSpPr>
          <p:cNvPr id="7" name="企画書・仕様書">
            <a:extLst xmlns:a="http://schemas.openxmlformats.org/drawingml/2006/main">
              <a:ext uri="{FF2B5EF4-FFF2-40B4-BE49-F238E27FC236}">
                <a16:creationId xmlns:a16="http://schemas.microsoft.com/office/drawing/2014/main" id="{93C448D3-5493-4493-B7D1-9EFEB3D8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企画書・仕様書</a:t>
            </a:r>
          </a:p>
        </p:txBody>
      </p:sp>
      <p:sp>
        <p:nvSpPr>
          <p:cNvPr id="8" name="制作ツール・スキル">
            <a:extLst xmlns:a="http://schemas.openxmlformats.org/drawingml/2006/main">
              <a:ext uri="{FF2B5EF4-FFF2-40B4-BE49-F238E27FC236}">
                <a16:creationId xmlns:a16="http://schemas.microsoft.com/office/drawing/2014/main" id="{1398E104-AD68-4760-9E7D-55714F66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制作ツール・スキル</a:t>
            </a:r>
          </a:p>
        </p:txBody>
      </p:sp>
      <p:sp>
        <p:nvSpPr>
          <p:cNvPr id="9" name="作品リンク・自己紹介・連絡先">
            <a:extLst xmlns:a="http://schemas.openxmlformats.org/drawingml/2006/main">
              <a:ext uri="{FF2B5EF4-FFF2-40B4-BE49-F238E27FC236}">
                <a16:creationId xmlns:a16="http://schemas.microsoft.com/office/drawing/2014/main" id="{364FD18C-8FE6-4A7F-9D6E-E7F396F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947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作品リンク・自己紹介・連絡先</a:t>
            </a:r>
          </a:p>
        </p:txBody>
      </p:sp>
      <p:sp>
        <p:nvSpPr>
          <p:cNvPr id="10" name="仕様書の制作例は「双子」の紹介ページにも掲載しています。">
            <a:extLst xmlns:a="http://schemas.openxmlformats.org/drawingml/2006/main">
              <a:ext uri="{FF2B5EF4-FFF2-40B4-BE49-F238E27FC236}">
                <a16:creationId xmlns:a16="http://schemas.microsoft.com/office/drawing/2014/main" id="{52B8D073-E813-4008-8332-D26817C1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仕様書の制作例は「双子」の紹介ページにも掲載しています。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A5670095-EC86-4FAF-BC51-82BD35AA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526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FE03EB5B-6078-43ED-9205-218FECC3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09BFB1CC-AAF5-442F-B54E-C80135DB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9085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1A83D437-E243-4CC0-A6F3-DD0A5A7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0997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15" name="15">
            <a:extLst xmlns:a="http://schemas.openxmlformats.org/drawingml/2006/main">
              <a:ext uri="{FF2B5EF4-FFF2-40B4-BE49-F238E27FC236}">
                <a16:creationId xmlns:a16="http://schemas.microsoft.com/office/drawing/2014/main" id="{9892A880-C7CD-4103-AF0A-ADD3F585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2910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16" name="16">
            <a:extLst xmlns:a="http://schemas.openxmlformats.org/drawingml/2006/main">
              <a:ext uri="{FF2B5EF4-FFF2-40B4-BE49-F238E27FC236}">
                <a16:creationId xmlns:a16="http://schemas.microsoft.com/office/drawing/2014/main" id="{AE9929E6-A054-4B50-876A-0C975C61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48225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17" name="17">
            <a:extLst xmlns:a="http://schemas.openxmlformats.org/drawingml/2006/main">
              <a:ext uri="{FF2B5EF4-FFF2-40B4-BE49-F238E27FC236}">
                <a16:creationId xmlns:a16="http://schemas.microsoft.com/office/drawing/2014/main" id="{E8665CDD-DFCA-466C-9FD8-A3BA8776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67350"/>
            <a:ext cx="1009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21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18" name="02 / 18">
            <a:extLst xmlns:a="http://schemas.openxmlformats.org/drawingml/2006/main">
              <a:ext uri="{FF2B5EF4-FFF2-40B4-BE49-F238E27FC236}">
                <a16:creationId xmlns:a16="http://schemas.microsoft.com/office/drawing/2014/main" id="{CB71E58A-C37C-401D-A3A8-230E7A2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02 / 18</a:t>
            </a:r>
          </a:p>
        </p:txBody>
      </p:sp>
      <p:sp>
        <p:nvSpPr>
          <p:cNvPr id="19" name="次：私の強み">
            <a:extLst xmlns:a="http://schemas.openxmlformats.org/drawingml/2006/main">
              <a:ext uri="{FF2B5EF4-FFF2-40B4-BE49-F238E27FC236}">
                <a16:creationId xmlns:a16="http://schemas.microsoft.com/office/drawing/2014/main" id="{69049F70-4CF0-4A92-9EC4-34B1C6D2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次：私の強み</a:t>
            </a:r>
          </a:p>
        </p:txBody>
      </p:sp>
    </p:spTree>
    <p:extLst>
      <p:ext uri="{BB962C8B-B14F-4D97-AF65-F5344CB8AC3E}">
        <p14:creationId xmlns:p14="http://schemas.microsoft.com/office/powerpoint/2010/main" val="1530669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私の強み">
            <a:extLst xmlns:a="http://schemas.openxmlformats.org/drawingml/2006/main">
              <a:ext uri="{FF2B5EF4-FFF2-40B4-BE49-F238E27FC236}">
                <a16:creationId xmlns:a16="http://schemas.microsoft.com/office/drawing/2014/main" id="{D8C74674-7CFF-4417-887C-8D30F80F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私の強み</a:t>
            </a:r>
          </a:p>
        </p:txBody>
      </p:sp>
      <p:sp>
        <p:nvSpPr>
          <p:cNvPr id="2" name="ゲームプランナーを目指して、取り組んできたこと">
            <a:extLst xmlns:a="http://schemas.openxmlformats.org/drawingml/2006/main">
              <a:ext uri="{FF2B5EF4-FFF2-40B4-BE49-F238E27FC236}">
                <a16:creationId xmlns:a16="http://schemas.microsoft.com/office/drawing/2014/main" id="{43EFDE56-23AE-4FA8-9790-507C4CE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ゲームプランナーを目指して、取り組んできたこと</a:t>
            </a:r>
          </a:p>
        </p:txBody>
      </p:sp>
      <p:sp>
        <p:nvSpPr>
          <p:cNvPr id="3" name="自分で学び、柔軟に考える">
            <a:extLst xmlns:a="http://schemas.openxmlformats.org/drawingml/2006/main">
              <a:ext uri="{FF2B5EF4-FFF2-40B4-BE49-F238E27FC236}">
                <a16:creationId xmlns:a16="http://schemas.microsoft.com/office/drawing/2014/main" id="{B03554D1-6C62-4568-B72A-3FB6AE14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自分で学び、柔軟に考える</a:t>
            </a:r>
          </a:p>
        </p:txBody>
      </p:sp>
      <p:sp>
        <p:nvSpPr>
          <p:cNvPr id="4" name="プランナーの役割を一人で担い、独学で企画や資料作成を進め">
            <a:extLst xmlns:a="http://schemas.openxmlformats.org/drawingml/2006/main">
              <a:ext uri="{FF2B5EF4-FFF2-40B4-BE49-F238E27FC236}">
                <a16:creationId xmlns:a16="http://schemas.microsoft.com/office/drawing/2014/main" id="{5E0C0871-7780-44BC-BD24-7B9A4D59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プランナーの役割を一人で担い、独学で企画や資料作成を進めてきました。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遊ぶ人の気持ちや作る側の進めやすさなど、いろいろな視点から考え、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一つの案にこだわらず、状況に合わせて企画を見直すことを意識しています。</a:t>
            </a:r>
          </a:p>
        </p:txBody>
      </p:sp>
      <p:sp>
        <p:nvSpPr>
          <p:cNvPr id="5" name="仕様書を作った経験">
            <a:extLst xmlns:a="http://schemas.openxmlformats.org/drawingml/2006/main">
              <a:ext uri="{FF2B5EF4-FFF2-40B4-BE49-F238E27FC236}">
                <a16:creationId xmlns:a16="http://schemas.microsoft.com/office/drawing/2014/main" id="{89D1ED48-7B53-44A6-A576-C9F286AD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仕様書を作った経験</a:t>
            </a:r>
          </a:p>
        </p:txBody>
      </p:sp>
      <p:sp>
        <p:nvSpPr>
          <p:cNvPr id="6" name="企画書だけでなく、ルールやゲームの動きを整理した仕様書も">
            <a:extLst xmlns:a="http://schemas.openxmlformats.org/drawingml/2006/main">
              <a:ext uri="{FF2B5EF4-FFF2-40B4-BE49-F238E27FC236}">
                <a16:creationId xmlns:a16="http://schemas.microsoft.com/office/drawing/2014/main" id="{9430BE4B-07E3-4E84-8062-222E7CD6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企画書だけでなく、ルールやゲームの動きを整理した仕様書も作成しました。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自分の頭の中だけで終わらせず、制作メンバーに伝わるようにまとめることを意識しています。</a:t>
            </a:r>
          </a:p>
        </p:txBody>
      </p:sp>
      <p:sp>
        <p:nvSpPr>
          <p:cNvPr id="7" name="仲間と完成させた経験">
            <a:extLst xmlns:a="http://schemas.openxmlformats.org/drawingml/2006/main">
              <a:ext uri="{FF2B5EF4-FFF2-40B4-BE49-F238E27FC236}">
                <a16:creationId xmlns:a16="http://schemas.microsoft.com/office/drawing/2014/main" id="{DF1C74A1-8842-4ABA-8A3B-76D16E3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仲間と完成させた経験</a:t>
            </a:r>
          </a:p>
        </p:txBody>
      </p:sp>
      <p:sp>
        <p:nvSpPr>
          <p:cNvPr id="8" name="仲間と一緒にゲームを制作し、作品を完成させてきました。&#10;">
            <a:extLst xmlns:a="http://schemas.openxmlformats.org/drawingml/2006/main">
              <a:ext uri="{FF2B5EF4-FFF2-40B4-BE49-F238E27FC236}">
                <a16:creationId xmlns:a16="http://schemas.microsoft.com/office/drawing/2014/main" id="{96AA33B6-257F-43CC-ABE9-2301467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仲間と一緒にゲームを制作し、作品を完成させてきました。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企画の整理や画像作成・SEなど、自分にできることに取り組んでいます。</a:t>
            </a:r>
          </a:p>
        </p:txBody>
      </p:sp>
      <p:sp>
        <p:nvSpPr>
          <p:cNvPr id="9" name="03 / 18">
            <a:extLst xmlns:a="http://schemas.openxmlformats.org/drawingml/2006/main">
              <a:ext uri="{FF2B5EF4-FFF2-40B4-BE49-F238E27FC236}">
                <a16:creationId xmlns:a16="http://schemas.microsoft.com/office/drawing/2014/main" id="{20795D37-4B34-43C0-B753-B235A3D4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03 / 18</a:t>
            </a:r>
          </a:p>
        </p:txBody>
      </p:sp>
      <p:sp>
        <p:nvSpPr>
          <p:cNvPr id="10" name="次：すべる宇宙駐車場">
            <a:extLst xmlns:a="http://schemas.openxmlformats.org/drawingml/2006/main">
              <a:ext uri="{FF2B5EF4-FFF2-40B4-BE49-F238E27FC236}">
                <a16:creationId xmlns:a16="http://schemas.microsoft.com/office/drawing/2014/main" id="{E7EB04A2-95B5-400E-8809-493D5B26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次：すべる宇宙駐車場</a:t>
            </a:r>
          </a:p>
        </p:txBody>
      </p:sp>
    </p:spTree>
    <p:extLst>
      <p:ext uri="{BB962C8B-B14F-4D97-AF65-F5344CB8AC3E}">
        <p14:creationId xmlns:p14="http://schemas.microsoft.com/office/powerpoint/2010/main" val="765499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代表作 / App Store公開 / iPhone・i">
            <a:extLst xmlns:a="http://schemas.openxmlformats.org/drawingml/2006/main">
              <a:ext uri="{FF2B5EF4-FFF2-40B4-BE49-F238E27FC236}">
                <a16:creationId xmlns:a16="http://schemas.microsoft.com/office/drawing/2014/main" id="{79AF4452-1AD2-4909-AA08-E274052C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代表作 / App Store公開 / iPhone・iPad / Unity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F0096-7C46-44B5-8C73-D935A2951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bd9e8e79e4dbc"/>
          <a:stretch xmlns:a="http://schemas.openxmlformats.org/drawingml/2006/main"/>
        </p:blipFill>
        <p:spPr>
          <a:xfrm xmlns:a="http://schemas.openxmlformats.org/drawingml/2006/main">
            <a:off x="609600" y="4572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すべる宇宙駐車場">
            <a:extLst xmlns:a="http://schemas.openxmlformats.org/drawingml/2006/main">
              <a:ext uri="{FF2B5EF4-FFF2-40B4-BE49-F238E27FC236}">
                <a16:creationId xmlns:a16="http://schemas.microsoft.com/office/drawing/2014/main" id="{E80388F9-8A6A-4374-A89E-009D05F5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すべる宇宙駐車場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A3902-4F1D-46D3-90D9-28A527E293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194a5950e4311"/>
          <a:stretch xmlns:a="http://schemas.openxmlformats.org/drawingml/2006/main"/>
        </p:blipFill>
        <p:spPr>
          <a:xfrm xmlns:a="http://schemas.openxmlformats.org/drawingml/2006/main">
            <a:off x="610630" y="1809750"/>
            <a:ext cx="7084541" cy="3276600"/>
          </a:xfrm>
          <a:prstGeom xmlns:a="http://schemas.openxmlformats.org/drawingml/2006/main" prst="rect">
            <a:avLst/>
          </a:prstGeom>
        </p:spPr>
      </p:pic>
      <p:sp>
        <p:nvSpPr>
          <p:cNvPr id="5" name="App Store公開">
            <a:extLst xmlns:a="http://schemas.openxmlformats.org/drawingml/2006/main">
              <a:ext uri="{FF2B5EF4-FFF2-40B4-BE49-F238E27FC236}">
                <a16:creationId xmlns:a16="http://schemas.microsoft.com/office/drawing/2014/main" id="{499597CE-12D1-4B72-944D-E138E08A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App Store公開</a:t>
            </a:r>
          </a:p>
        </p:txBody>
      </p:sp>
      <p:sp>
        <p:nvSpPr>
          <p:cNvPr id="6" name="2026年10月7日リリース">
            <a:extLst xmlns:a="http://schemas.openxmlformats.org/drawingml/2006/main">
              <a:ext uri="{FF2B5EF4-FFF2-40B4-BE49-F238E27FC236}">
                <a16:creationId xmlns:a16="http://schemas.microsoft.com/office/drawing/2014/main" id="{3A22A966-EB25-4F9D-9413-B95D0BEE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3448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2026年10月7日リリース</a:t>
            </a:r>
          </a:p>
        </p:txBody>
      </p:sp>
      <p:sp>
        <p:nvSpPr>
          <p:cNvPr id="7" name="制作人数">
            <a:extLst xmlns:a="http://schemas.openxmlformats.org/drawingml/2006/main">
              <a:ext uri="{FF2B5EF4-FFF2-40B4-BE49-F238E27FC236}">
                <a16:creationId xmlns:a16="http://schemas.microsoft.com/office/drawing/2014/main" id="{B63F24B4-745E-4094-BCF8-CDC7FD22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19425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制作人数</a:t>
            </a:r>
          </a:p>
        </p:txBody>
      </p:sp>
      <p:sp>
        <p:nvSpPr>
          <p:cNvPr id="8" name="4人">
            <a:extLst xmlns:a="http://schemas.openxmlformats.org/drawingml/2006/main">
              <a:ext uri="{FF2B5EF4-FFF2-40B4-BE49-F238E27FC236}">
                <a16:creationId xmlns:a16="http://schemas.microsoft.com/office/drawing/2014/main" id="{7A092B55-5055-47B0-A22D-F8265EAB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4人</a:t>
            </a:r>
          </a:p>
        </p:txBody>
      </p:sp>
      <p:sp>
        <p:nvSpPr>
          <p:cNvPr id="9" name="私の担当">
            <a:extLst xmlns:a="http://schemas.openxmlformats.org/drawingml/2006/main">
              <a:ext uri="{FF2B5EF4-FFF2-40B4-BE49-F238E27FC236}">
                <a16:creationId xmlns:a16="http://schemas.microsoft.com/office/drawing/2014/main" id="{71ECF5F7-9ABA-44B6-8DA6-99FF8EF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81525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私の担当</a:t>
            </a:r>
          </a:p>
        </p:txBody>
      </p:sp>
      <p:sp>
        <p:nvSpPr>
          <p:cNvPr id="10" name="企画立案・整理&#10;画像作成・SE">
            <a:extLst xmlns:a="http://schemas.openxmlformats.org/drawingml/2006/main">
              <a:ext uri="{FF2B5EF4-FFF2-40B4-BE49-F238E27FC236}">
                <a16:creationId xmlns:a16="http://schemas.microsoft.com/office/drawing/2014/main" id="{213D936F-0B73-40B3-B99F-24F84EC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企画立案・整理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画像作成・SE</a:t>
            </a:r>
          </a:p>
        </p:txBody>
      </p:sp>
      <p:sp>
        <p:nvSpPr>
          <p:cNvPr id="11" name="慣性で滑る船を、逆噴射で駐車する。">
            <a:extLst xmlns:a="http://schemas.openxmlformats.org/drawingml/2006/main">
              <a:ext uri="{FF2B5EF4-FFF2-40B4-BE49-F238E27FC236}">
                <a16:creationId xmlns:a16="http://schemas.microsoft.com/office/drawing/2014/main" id="{6948FD6F-272E-49BA-B6C7-15216573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708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慣性で滑る船を、逆噴射で駐車する。</a:t>
            </a:r>
          </a:p>
        </p:txBody>
      </p:sp>
      <p:sp>
        <p:nvSpPr>
          <p:cNvPr id="12" name="App Storeで見る">
            <a:extLst xmlns:a="http://schemas.openxmlformats.org/drawingml/2006/main">
              <a:ext uri="{FF2B5EF4-FFF2-40B4-BE49-F238E27FC236}">
                <a16:creationId xmlns:a16="http://schemas.microsoft.com/office/drawing/2014/main" id="{F16481DC-DFCC-44EC-8CB9-A2DB27D0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a729a90dc714044"/>
              </a:rPr>
              <a:t>App Storeで見る</a:t>
            </a:r>
          </a:p>
        </p:txBody>
      </p:sp>
      <p:sp>
        <p:nvSpPr>
          <p:cNvPr id="13" name="ブラウザーでプレイ">
            <a:extLst xmlns:a="http://schemas.openxmlformats.org/drawingml/2006/main">
              <a:ext uri="{FF2B5EF4-FFF2-40B4-BE49-F238E27FC236}">
                <a16:creationId xmlns:a16="http://schemas.microsoft.com/office/drawing/2014/main" id="{06AAB959-0D3D-420E-99A3-44EEE7F7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15025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2b487a677f4f4c22"/>
              </a:rPr>
              <a:t>ブラウザーでプレイ</a:t>
            </a:r>
          </a:p>
        </p:txBody>
      </p:sp>
      <p:sp>
        <p:nvSpPr>
          <p:cNvPr id="14" name="04 / 18">
            <a:extLst xmlns:a="http://schemas.openxmlformats.org/drawingml/2006/main">
              <a:ext uri="{FF2B5EF4-FFF2-40B4-BE49-F238E27FC236}">
                <a16:creationId xmlns:a16="http://schemas.microsoft.com/office/drawing/2014/main" id="{8FEEE02D-2089-4EF5-B34A-E6701B3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04 / 18</a:t>
            </a:r>
          </a:p>
        </p:txBody>
      </p:sp>
      <p:sp>
        <p:nvSpPr>
          <p:cNvPr id="15" name="次：慣性と駐車を組み合わせた操作設計">
            <a:extLst xmlns:a="http://schemas.openxmlformats.org/drawingml/2006/main">
              <a:ext uri="{FF2B5EF4-FFF2-40B4-BE49-F238E27FC236}">
                <a16:creationId xmlns:a16="http://schemas.microsoft.com/office/drawing/2014/main" id="{ED80EF13-421C-41A7-95A3-0EEB4BF4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次：慣性と駐車を組み合わせた操作設計</a:t>
            </a:r>
          </a:p>
        </p:txBody>
      </p:sp>
    </p:spTree>
    <p:extLst>
      <p:ext uri="{BB962C8B-B14F-4D97-AF65-F5344CB8AC3E}">
        <p14:creationId xmlns:p14="http://schemas.microsoft.com/office/powerpoint/2010/main" val="286558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慣性と駐車を組み合わせた操作設計">
            <a:extLst xmlns:a="http://schemas.openxmlformats.org/drawingml/2006/main">
              <a:ext uri="{FF2B5EF4-FFF2-40B4-BE49-F238E27FC236}">
                <a16:creationId xmlns:a16="http://schemas.microsoft.com/office/drawing/2014/main" id="{77EDC5B5-C178-4195-AD74-BCEEA3B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慣性と駐車を組み合わせた操作設計</a:t>
            </a:r>
          </a:p>
        </p:txBody>
      </p:sp>
      <p:sp>
        <p:nvSpPr>
          <p:cNvPr id="2" name="すべる宇宙駐車場 / 止めるタイミングを考える遊び">
            <a:extLst xmlns:a="http://schemas.openxmlformats.org/drawingml/2006/main">
              <a:ext uri="{FF2B5EF4-FFF2-40B4-BE49-F238E27FC236}">
                <a16:creationId xmlns:a16="http://schemas.microsoft.com/office/drawing/2014/main" id="{CEAA8001-F7B4-465A-B29F-13F108D3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E80"/>
                </a:solidFill>
                <a:latin typeface="Meiryo"/>
                <a:ea typeface="Meiryo"/>
                <a:cs typeface="Meiryo"/>
              </a:rPr>
              <a:t>すべる宇宙駐車場 / 止めるタイミングを考える遊び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260A2-D6EB-4BA8-99F7-FBDC79CA1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2a71aac8d4b80"/>
          <a:stretch xmlns:a="http://schemas.openxmlformats.org/drawingml/2006/main"/>
        </p:blipFill>
        <p:spPr>
          <a:xfrm xmlns:a="http://schemas.openxmlformats.org/drawingml/2006/main">
            <a:off x="610630" y="1809750"/>
            <a:ext cx="7084541" cy="3276600"/>
          </a:xfrm>
          <a:prstGeom xmlns:a="http://schemas.openxmlformats.org/drawingml/2006/main" prst="rect">
            <a:avLst/>
          </a:prstGeom>
        </p:spPr>
      </p:pic>
      <p:sp>
        <p:nvSpPr>
          <p:cNvPr id="4" name="遊びの核">
            <a:extLst xmlns:a="http://schemas.openxmlformats.org/drawingml/2006/main">
              <a:ext uri="{FF2B5EF4-FFF2-40B4-BE49-F238E27FC236}">
                <a16:creationId xmlns:a16="http://schemas.microsoft.com/office/drawing/2014/main" id="{71644E76-7FBB-4EE0-9090-19726B2D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遊びの核</a:t>
            </a:r>
          </a:p>
        </p:txBody>
      </p:sp>
      <p:sp>
        <p:nvSpPr>
          <p:cNvPr id="5" name="指を離しても船は進み続ける。&#10;反対方向への噴射で減速し、">
            <a:extLst xmlns:a="http://schemas.openxmlformats.org/drawingml/2006/main">
              <a:ext uri="{FF2B5EF4-FFF2-40B4-BE49-F238E27FC236}">
                <a16:creationId xmlns:a16="http://schemas.microsoft.com/office/drawing/2014/main" id="{032FFF64-B55E-478D-AA27-E774BE8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346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指を離しても船は進み続ける。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反対方向への噴射で減速し、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枠内で止めます。</a:t>
            </a:r>
          </a:p>
        </p:txBody>
      </p:sp>
      <p:sp>
        <p:nvSpPr>
          <p:cNvPr id="6" name="プレイヤーの判断">
            <a:extLst xmlns:a="http://schemas.openxmlformats.org/drawingml/2006/main">
              <a:ext uri="{FF2B5EF4-FFF2-40B4-BE49-F238E27FC236}">
                <a16:creationId xmlns:a16="http://schemas.microsoft.com/office/drawing/2014/main" id="{FB8AD773-AB91-4043-882F-6F581237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86175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プレイヤーの判断</a:t>
            </a:r>
          </a:p>
        </p:txBody>
      </p:sp>
      <p:sp>
        <p:nvSpPr>
          <p:cNvPr id="7" name="進路だけでなく、&#10;いつ減速を始めるかを考える。&#10;隕石の予">
            <a:extLst xmlns:a="http://schemas.openxmlformats.org/drawingml/2006/main">
              <a:ext uri="{FF2B5EF4-FFF2-40B4-BE49-F238E27FC236}">
                <a16:creationId xmlns:a16="http://schemas.microsoft.com/office/drawing/2014/main" id="{8C24D319-2C0C-448F-B95F-DC2E8DF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46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進路だけでなく、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いつ減速を始めるかを考える。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隕石の予告も見て操作します。</a:t>
            </a:r>
          </a:p>
        </p:txBody>
      </p:sp>
      <p:sp>
        <p:nvSpPr>
          <p:cNvPr id="8" name="身近な「駐車」を、慣性によって難しくする。">
            <a:extLst xmlns:a="http://schemas.openxmlformats.org/drawingml/2006/main">
              <a:ext uri="{FF2B5EF4-FFF2-40B4-BE49-F238E27FC236}">
                <a16:creationId xmlns:a16="http://schemas.microsoft.com/office/drawing/2014/main" id="{0786C7AC-056C-48B1-9638-C49F5B0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身近な「駐車」を、慣性によって難しくする。</a:t>
            </a:r>
          </a:p>
        </p:txBody>
      </p:sp>
      <p:sp>
        <p:nvSpPr>
          <p:cNvPr id="9" name="少ない操作で枠に収まったときの達成感を狙いました。">
            <a:extLst xmlns:a="http://schemas.openxmlformats.org/drawingml/2006/main">
              <a:ext uri="{FF2B5EF4-FFF2-40B4-BE49-F238E27FC236}">
                <a16:creationId xmlns:a16="http://schemas.microsoft.com/office/drawing/2014/main" id="{B8766522-B506-462C-8971-154CC68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少ない操作で枠に収まったときの達成感を狙いました。</a:t>
            </a:r>
          </a:p>
        </p:txBody>
      </p:sp>
      <p:sp>
        <p:nvSpPr>
          <p:cNvPr id="10" name="05 / 18">
            <a:extLst xmlns:a="http://schemas.openxmlformats.org/drawingml/2006/main">
              <a:ext uri="{FF2B5EF4-FFF2-40B4-BE49-F238E27FC236}">
                <a16:creationId xmlns:a16="http://schemas.microsoft.com/office/drawing/2014/main" id="{E489A90C-168B-4A63-9017-A2ED5369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05 / 18</a:t>
            </a:r>
          </a:p>
        </p:txBody>
      </p:sp>
      <p:sp>
        <p:nvSpPr>
          <p:cNvPr id="11" name="次：記録を比べ、もう一度挑戦する">
            <a:extLst xmlns:a="http://schemas.openxmlformats.org/drawingml/2006/main">
              <a:ext uri="{FF2B5EF4-FFF2-40B4-BE49-F238E27FC236}">
                <a16:creationId xmlns:a16="http://schemas.microsoft.com/office/drawing/2014/main" id="{CC838451-95AF-4635-B619-8B365AE9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次：記録を比べ、もう一度挑戦する</a:t>
            </a:r>
          </a:p>
        </p:txBody>
      </p:sp>
    </p:spTree>
    <p:extLst>
      <p:ext uri="{BB962C8B-B14F-4D97-AF65-F5344CB8AC3E}">
        <p14:creationId xmlns:p14="http://schemas.microsoft.com/office/powerpoint/2010/main" val="1748001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記録を比べ、もう一度挑戦する">
            <a:extLst xmlns:a="http://schemas.openxmlformats.org/drawingml/2006/main">
              <a:ext uri="{FF2B5EF4-FFF2-40B4-BE49-F238E27FC236}">
                <a16:creationId xmlns:a16="http://schemas.microsoft.com/office/drawing/2014/main" id="{CE8C696E-5D5E-4D53-8C59-AFD01049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記録を比べ、もう一度挑戦する</a:t>
            </a:r>
          </a:p>
        </p:txBody>
      </p:sp>
      <p:sp>
        <p:nvSpPr>
          <p:cNvPr id="2" name="すべる宇宙駐車場 / 公開版の評価とリプレイ性">
            <a:extLst xmlns:a="http://schemas.openxmlformats.org/drawingml/2006/main">
              <a:ext uri="{FF2B5EF4-FFF2-40B4-BE49-F238E27FC236}">
                <a16:creationId xmlns:a16="http://schemas.microsoft.com/office/drawing/2014/main" id="{DC06726F-A656-4C4A-9144-1013E70A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E80"/>
                </a:solidFill>
                <a:latin typeface="Meiryo"/>
                <a:ea typeface="Meiryo"/>
                <a:cs typeface="Meiryo"/>
              </a:rPr>
              <a:t>すべる宇宙駐車場 / 公開版の評価とリプレイ性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2F5AC-FD5E-4307-AC9A-05F5AA2C8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cc3f11b4b4deb"/>
          <a:stretch xmlns:a="http://schemas.openxmlformats.org/drawingml/2006/main"/>
        </p:blipFill>
        <p:spPr>
          <a:xfrm xmlns:a="http://schemas.openxmlformats.org/drawingml/2006/main">
            <a:off x="610630" y="1809750"/>
            <a:ext cx="7084541" cy="3276600"/>
          </a:xfrm>
          <a:prstGeom xmlns:a="http://schemas.openxmlformats.org/drawingml/2006/main" prst="rect">
            <a:avLst/>
          </a:prstGeom>
        </p:spPr>
      </p:pic>
      <p:sp>
        <p:nvSpPr>
          <p:cNvPr id="4" name="上達が見える記録">
            <a:extLst xmlns:a="http://schemas.openxmlformats.org/drawingml/2006/main">
              <a:ext uri="{FF2B5EF4-FFF2-40B4-BE49-F238E27FC236}">
                <a16:creationId xmlns:a16="http://schemas.microsoft.com/office/drawing/2014/main" id="{F9AC2D73-E464-4730-B6A6-044EDC5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上達が見える記録</a:t>
            </a:r>
          </a:p>
        </p:txBody>
      </p:sp>
      <p:sp>
        <p:nvSpPr>
          <p:cNvPr id="5" name="時間・操作回数・衝突回数を&#10;コースごとに表示。&#10;次のプレ">
            <a:extLst xmlns:a="http://schemas.openxmlformats.org/drawingml/2006/main">
              <a:ext uri="{FF2B5EF4-FFF2-40B4-BE49-F238E27FC236}">
                <a16:creationId xmlns:a16="http://schemas.microsoft.com/office/drawing/2014/main" id="{99276A64-BAFF-4665-9E28-72B8316F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346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時間・操作回数・衝突回数を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コースごとに表示。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次のプレイと比べられます。</a:t>
            </a:r>
          </a:p>
        </p:txBody>
      </p:sp>
      <p:sp>
        <p:nvSpPr>
          <p:cNvPr id="6" name="公開版の特徴">
            <a:extLst xmlns:a="http://schemas.openxmlformats.org/drawingml/2006/main">
              <a:ext uri="{FF2B5EF4-FFF2-40B4-BE49-F238E27FC236}">
                <a16:creationId xmlns:a16="http://schemas.microsoft.com/office/drawing/2014/main" id="{8D6B5E70-84B8-4278-AB9D-86B64DB8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86175"/>
            <a:ext cx="346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公開版の特徴</a:t>
            </a:r>
          </a:p>
        </p:txBody>
      </p:sp>
      <p:sp>
        <p:nvSpPr>
          <p:cNvPr id="7" name="全6コース、S〜Cの評価。&#10;Game Centerのラン">
            <a:extLst xmlns:a="http://schemas.openxmlformats.org/drawingml/2006/main">
              <a:ext uri="{FF2B5EF4-FFF2-40B4-BE49-F238E27FC236}">
                <a16:creationId xmlns:a16="http://schemas.microsoft.com/office/drawing/2014/main" id="{98AF7519-87B1-42FA-BDFF-92319644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467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全6コース、S〜Cの評価。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Game Centerのランキングで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ほかのプレイヤーと競えます。</a:t>
            </a:r>
          </a:p>
        </p:txBody>
      </p:sp>
      <p:sp>
        <p:nvSpPr>
          <p:cNvPr id="8" name="クリアの次は、より少ない噴射で。">
            <a:extLst xmlns:a="http://schemas.openxmlformats.org/drawingml/2006/main">
              <a:ext uri="{FF2B5EF4-FFF2-40B4-BE49-F238E27FC236}">
                <a16:creationId xmlns:a16="http://schemas.microsoft.com/office/drawing/2014/main" id="{7C98C614-3703-4A47-AE20-861826A2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クリアの次は、より少ない噴射で。</a:t>
            </a:r>
          </a:p>
        </p:txBody>
      </p:sp>
      <p:sp>
        <p:nvSpPr>
          <p:cNvPr id="9" name="公開中のアプリを見る">
            <a:extLst xmlns:a="http://schemas.openxmlformats.org/drawingml/2006/main">
              <a:ext uri="{FF2B5EF4-FFF2-40B4-BE49-F238E27FC236}">
                <a16:creationId xmlns:a16="http://schemas.microsoft.com/office/drawing/2014/main" id="{FD69D801-7224-4A6C-B2A1-A6DFB18B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d5af104cc3d7485a"/>
              </a:rPr>
              <a:t>公開中のアプリを見る</a:t>
            </a:r>
          </a:p>
        </p:txBody>
      </p:sp>
      <p:sp>
        <p:nvSpPr>
          <p:cNvPr id="10" name="06 / 18">
            <a:extLst xmlns:a="http://schemas.openxmlformats.org/drawingml/2006/main">
              <a:ext uri="{FF2B5EF4-FFF2-40B4-BE49-F238E27FC236}">
                <a16:creationId xmlns:a16="http://schemas.microsoft.com/office/drawing/2014/main" id="{D2FCFEB9-E46C-4E64-AA2D-B646C1A3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06 / 18</a:t>
            </a:r>
          </a:p>
        </p:txBody>
      </p:sp>
      <p:sp>
        <p:nvSpPr>
          <p:cNvPr id="11" name="次：V-Link Battle">
            <a:extLst xmlns:a="http://schemas.openxmlformats.org/drawingml/2006/main">
              <a:ext uri="{FF2B5EF4-FFF2-40B4-BE49-F238E27FC236}">
                <a16:creationId xmlns:a16="http://schemas.microsoft.com/office/drawing/2014/main" id="{16889FA8-A511-4DB6-B295-86B0393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次：V-Link Battle</a:t>
            </a:r>
          </a:p>
        </p:txBody>
      </p:sp>
    </p:spTree>
    <p:extLst>
      <p:ext uri="{BB962C8B-B14F-4D97-AF65-F5344CB8AC3E}">
        <p14:creationId xmlns:p14="http://schemas.microsoft.com/office/powerpoint/2010/main" val="1001434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代表作 / 神ゲーエボリューション2025 1次審査通過">
            <a:extLst xmlns:a="http://schemas.openxmlformats.org/drawingml/2006/main">
              <a:ext uri="{FF2B5EF4-FFF2-40B4-BE49-F238E27FC236}">
                <a16:creationId xmlns:a16="http://schemas.microsoft.com/office/drawing/2014/main" id="{2791BD70-125C-4D3A-8AEC-4B91077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代表作 / 神ゲーエボリューション2025 1次審査通過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9A394-6229-4A1C-B617-39A6C4BD4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2ebe837ef4456"/>
          <a:stretch xmlns:a="http://schemas.openxmlformats.org/drawingml/2006/main"/>
        </p:blipFill>
        <p:spPr>
          <a:xfrm xmlns:a="http://schemas.openxmlformats.org/drawingml/2006/main">
            <a:off x="609600" y="4572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V-Link Battle">
            <a:extLst xmlns:a="http://schemas.openxmlformats.org/drawingml/2006/main">
              <a:ext uri="{FF2B5EF4-FFF2-40B4-BE49-F238E27FC236}">
                <a16:creationId xmlns:a16="http://schemas.microsoft.com/office/drawing/2014/main" id="{274D6E08-991A-4C9A-9DBE-5770F025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V-Link Battle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79B7F-9B57-405E-B18D-E940761C7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9f4cd8fa74274"/>
          <a:stretch xmlns:a="http://schemas.openxmlformats.org/drawingml/2006/main"/>
        </p:blipFill>
        <p:spPr>
          <a:xfrm xmlns:a="http://schemas.openxmlformats.org/drawingml/2006/main">
            <a:off x="609600" y="1745456"/>
            <a:ext cx="7086600" cy="3986213"/>
          </a:xfrm>
          <a:prstGeom xmlns:a="http://schemas.openxmlformats.org/drawingml/2006/main" prst="rect">
            <a:avLst/>
          </a:prstGeom>
        </p:spPr>
      </p:pic>
      <p:sp>
        <p:nvSpPr>
          <p:cNvPr id="5" name="制作人数：8人">
            <a:extLst xmlns:a="http://schemas.openxmlformats.org/drawingml/2006/main">
              <a:ext uri="{FF2B5EF4-FFF2-40B4-BE49-F238E27FC236}">
                <a16:creationId xmlns:a16="http://schemas.microsoft.com/office/drawing/2014/main" id="{D58BE255-C441-4D8F-8059-3AB2BD23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43075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制作人数：8人</a:t>
            </a:r>
          </a:p>
        </p:txBody>
      </p:sp>
      <p:sp>
        <p:nvSpPr>
          <p:cNvPr id="6" name="どんな遊びか">
            <a:extLst xmlns:a="http://schemas.openxmlformats.org/drawingml/2006/main">
              <a:ext uri="{FF2B5EF4-FFF2-40B4-BE49-F238E27FC236}">
                <a16:creationId xmlns:a16="http://schemas.microsoft.com/office/drawing/2014/main" id="{DEEF07DF-D007-4745-8114-D8FFB02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どんな遊びか</a:t>
            </a:r>
          </a:p>
        </p:txBody>
      </p:sp>
      <p:sp>
        <p:nvSpPr>
          <p:cNvPr id="7" name="VTuberの配信文化を&#10;題材にした3D対戦アクション。">
            <a:extLst xmlns:a="http://schemas.openxmlformats.org/drawingml/2006/main">
              <a:ext uri="{FF2B5EF4-FFF2-40B4-BE49-F238E27FC236}">
                <a16:creationId xmlns:a16="http://schemas.microsoft.com/office/drawing/2014/main" id="{3960635B-5582-4521-AD57-9ACB3C9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8612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VTuberの配信文化を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題材にした3D対戦アクション。</a:t>
            </a:r>
          </a:p>
        </p:txBody>
      </p:sp>
      <p:sp>
        <p:nvSpPr>
          <p:cNvPr id="8" name="私の担当">
            <a:extLst xmlns:a="http://schemas.openxmlformats.org/drawingml/2006/main">
              <a:ext uri="{FF2B5EF4-FFF2-40B4-BE49-F238E27FC236}">
                <a16:creationId xmlns:a16="http://schemas.microsoft.com/office/drawing/2014/main" id="{A585C45D-F73D-41D8-A435-963A003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私の担当</a:t>
            </a:r>
          </a:p>
        </p:txBody>
      </p:sp>
      <p:sp>
        <p:nvSpPr>
          <p:cNvPr id="9" name="企画・仕様整理・システム設計&#10;タスク振り分け&#10;3D素材・">
            <a:extLst xmlns:a="http://schemas.openxmlformats.org/drawingml/2006/main">
              <a:ext uri="{FF2B5EF4-FFF2-40B4-BE49-F238E27FC236}">
                <a16:creationId xmlns:a16="http://schemas.microsoft.com/office/drawing/2014/main" id="{0BC07EF5-B79E-4AD2-B268-B304C35C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38675"/>
            <a:ext cx="3448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企画・仕様整理・システム設計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タスク振り分け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3D素材・エフェクト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アニメーション</a:t>
            </a:r>
          </a:p>
        </p:txBody>
      </p:sp>
      <p:sp>
        <p:nvSpPr>
          <p:cNvPr id="10" name="V-Link Battleをプレイ">
            <a:extLst xmlns:a="http://schemas.openxmlformats.org/drawingml/2006/main">
              <a:ext uri="{FF2B5EF4-FFF2-40B4-BE49-F238E27FC236}">
                <a16:creationId xmlns:a16="http://schemas.microsoft.com/office/drawing/2014/main" id="{05CD9807-5FC9-49A4-87C6-628DD2EB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9606729abe74570"/>
              </a:rPr>
              <a:t>V-Link Battleをプレイ</a:t>
            </a:r>
          </a:p>
        </p:txBody>
      </p:sp>
      <p:sp>
        <p:nvSpPr>
          <p:cNvPr id="11" name="07 / 18">
            <a:extLst xmlns:a="http://schemas.openxmlformats.org/drawingml/2006/main">
              <a:ext uri="{FF2B5EF4-FFF2-40B4-BE49-F238E27FC236}">
                <a16:creationId xmlns:a16="http://schemas.microsoft.com/office/drawing/2014/main" id="{66B21BA4-4DFF-4E24-8877-DEEFCD3D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07 / 18</a:t>
            </a:r>
          </a:p>
        </p:txBody>
      </p:sp>
      <p:sp>
        <p:nvSpPr>
          <p:cNvPr id="12" name="次：アピールに、攻撃されるリスクを持たせる">
            <a:extLst xmlns:a="http://schemas.openxmlformats.org/drawingml/2006/main">
              <a:ext uri="{FF2B5EF4-FFF2-40B4-BE49-F238E27FC236}">
                <a16:creationId xmlns:a16="http://schemas.microsoft.com/office/drawing/2014/main" id="{AEC85E71-41CD-47CE-BDE6-893EFDB9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次：アピールに、攻撃されるリスクを持たせる</a:t>
            </a:r>
          </a:p>
        </p:txBody>
      </p:sp>
    </p:spTree>
    <p:extLst>
      <p:ext uri="{BB962C8B-B14F-4D97-AF65-F5344CB8AC3E}">
        <p14:creationId xmlns:p14="http://schemas.microsoft.com/office/powerpoint/2010/main" val="128105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アピールに、攻撃されるリスクを持たせる">
            <a:extLst xmlns:a="http://schemas.openxmlformats.org/drawingml/2006/main">
              <a:ext uri="{FF2B5EF4-FFF2-40B4-BE49-F238E27FC236}">
                <a16:creationId xmlns:a16="http://schemas.microsoft.com/office/drawing/2014/main" id="{D0D1D3D4-957F-4079-84F6-0F965629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アピールに、攻撃されるリスクを持たせる</a:t>
            </a:r>
          </a:p>
        </p:txBody>
      </p:sp>
      <p:sp>
        <p:nvSpPr>
          <p:cNvPr id="2" name="V-Link Battle / 配信らしさを戦い方につな">
            <a:extLst xmlns:a="http://schemas.openxmlformats.org/drawingml/2006/main">
              <a:ext uri="{FF2B5EF4-FFF2-40B4-BE49-F238E27FC236}">
                <a16:creationId xmlns:a16="http://schemas.microsoft.com/office/drawing/2014/main" id="{AE2BDDF5-F207-4D01-A4F7-4B83A463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BB307E"/>
                </a:solidFill>
                <a:latin typeface="Meiryo"/>
                <a:ea typeface="Meiryo"/>
                <a:cs typeface="Meiryo"/>
              </a:rPr>
              <a:t>V-Link Battle / 配信らしさを戦い方につなげる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CA05-A5E1-4355-B879-B740C8C3F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c8ee87da24230"/>
          <a:stretch xmlns:a="http://schemas.openxmlformats.org/drawingml/2006/main"/>
        </p:blipFill>
        <p:spPr>
          <a:xfrm xmlns:a="http://schemas.openxmlformats.org/drawingml/2006/main">
            <a:off x="609600" y="1752600"/>
            <a:ext cx="6705600" cy="3771900"/>
          </a:xfrm>
          <a:prstGeom xmlns:a="http://schemas.openxmlformats.org/drawingml/2006/main" prst="rect">
            <a:avLst/>
          </a:prstGeom>
        </p:spPr>
      </p:pic>
      <p:sp>
        <p:nvSpPr>
          <p:cNvPr id="4" name="狙い">
            <a:extLst xmlns:a="http://schemas.openxmlformats.org/drawingml/2006/main">
              <a:ext uri="{FF2B5EF4-FFF2-40B4-BE49-F238E27FC236}">
                <a16:creationId xmlns:a16="http://schemas.microsoft.com/office/drawing/2014/main" id="{F182B115-2160-4F5E-9448-BC5C420A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145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狙い</a:t>
            </a:r>
          </a:p>
        </p:txBody>
      </p:sp>
      <p:sp>
        <p:nvSpPr>
          <p:cNvPr id="5" name="攻撃を続けるだけでなく、&#10;「いつ魅せるか」を考える対戦。">
            <a:extLst xmlns:a="http://schemas.openxmlformats.org/drawingml/2006/main">
              <a:ext uri="{FF2B5EF4-FFF2-40B4-BE49-F238E27FC236}">
                <a16:creationId xmlns:a16="http://schemas.microsoft.com/office/drawing/2014/main" id="{6EDD8E40-5C8E-40A8-B041-C6F5C2BA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3790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攻撃を続けるだけでなく、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「いつ魅せるか」を考える対戦。</a:t>
            </a:r>
          </a:p>
        </p:txBody>
      </p:sp>
      <p:sp>
        <p:nvSpPr>
          <p:cNvPr id="6" name="企画上のルール">
            <a:extLst xmlns:a="http://schemas.openxmlformats.org/drawingml/2006/main">
              <a:ext uri="{FF2B5EF4-FFF2-40B4-BE49-F238E27FC236}">
                <a16:creationId xmlns:a16="http://schemas.microsoft.com/office/drawing/2014/main" id="{FF34BCBF-C0DA-4D97-82FB-552641C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企画上のルール</a:t>
            </a:r>
          </a:p>
        </p:txBody>
      </p:sp>
      <p:sp>
        <p:nvSpPr>
          <p:cNvPr id="7" name="アピール中は無防備。&#10;成功後の攻撃でボルテージを&#10;高める">
            <a:extLst xmlns:a="http://schemas.openxmlformats.org/drawingml/2006/main">
              <a:ext uri="{FF2B5EF4-FFF2-40B4-BE49-F238E27FC236}">
                <a16:creationId xmlns:a16="http://schemas.microsoft.com/office/drawing/2014/main" id="{FF8A7872-0B81-4D6E-844C-36200C6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05225"/>
            <a:ext cx="37909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アピール中は無防備。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成功後の攻撃でボルテージを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高める仕組みを設計しました。</a:t>
            </a:r>
          </a:p>
        </p:txBody>
      </p:sp>
      <p:sp>
        <p:nvSpPr>
          <p:cNvPr id="8" name="プレイヤーの判断&#10;相手の隙にアピールするか、先に攻撃する">
            <a:extLst xmlns:a="http://schemas.openxmlformats.org/drawingml/2006/main">
              <a:ext uri="{FF2B5EF4-FFF2-40B4-BE49-F238E27FC236}">
                <a16:creationId xmlns:a16="http://schemas.microsoft.com/office/drawing/2014/main" id="{D729FEBC-9A06-4678-AFC1-79EA4656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プレイヤーの判断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相手の隙にアピールするか、先に攻撃するか。</a:t>
            </a:r>
          </a:p>
        </p:txBody>
      </p:sp>
      <p:sp>
        <p:nvSpPr>
          <p:cNvPr id="9" name="08 / 18">
            <a:extLst xmlns:a="http://schemas.openxmlformats.org/drawingml/2006/main">
              <a:ext uri="{FF2B5EF4-FFF2-40B4-BE49-F238E27FC236}">
                <a16:creationId xmlns:a16="http://schemas.microsoft.com/office/drawing/2014/main" id="{5217FC07-F99F-4017-A6B9-CC4E2B04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08 / 18</a:t>
            </a:r>
          </a:p>
        </p:txBody>
      </p:sp>
      <p:sp>
        <p:nvSpPr>
          <p:cNvPr id="10" name="次：配信文化をバトルの仕掛けにする">
            <a:extLst xmlns:a="http://schemas.openxmlformats.org/drawingml/2006/main">
              <a:ext uri="{FF2B5EF4-FFF2-40B4-BE49-F238E27FC236}">
                <a16:creationId xmlns:a16="http://schemas.microsoft.com/office/drawing/2014/main" id="{C05BFA1A-4BFA-4A01-9225-40F77251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次：配信文化をバトルの仕掛けにする</a:t>
            </a:r>
          </a:p>
        </p:txBody>
      </p:sp>
    </p:spTree>
    <p:extLst>
      <p:ext uri="{BB962C8B-B14F-4D97-AF65-F5344CB8AC3E}">
        <p14:creationId xmlns:p14="http://schemas.microsoft.com/office/powerpoint/2010/main" val="6164611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配信文化をバトルの仕掛けにする">
            <a:extLst xmlns:a="http://schemas.openxmlformats.org/drawingml/2006/main">
              <a:ext uri="{FF2B5EF4-FFF2-40B4-BE49-F238E27FC236}">
                <a16:creationId xmlns:a16="http://schemas.microsoft.com/office/drawing/2014/main" id="{267A553A-5707-4613-9A6F-0AC6B48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配信文化をバトルの仕掛けにする</a:t>
            </a:r>
          </a:p>
        </p:txBody>
      </p:sp>
      <p:sp>
        <p:nvSpPr>
          <p:cNvPr id="2" name="V-Link Battle / コメントと通知ウィンドウ">
            <a:extLst xmlns:a="http://schemas.openxmlformats.org/drawingml/2006/main">
              <a:ext uri="{FF2B5EF4-FFF2-40B4-BE49-F238E27FC236}">
                <a16:creationId xmlns:a16="http://schemas.microsoft.com/office/drawing/2014/main" id="{290F465A-50CF-4A32-953A-629616F1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BB307E"/>
                </a:solidFill>
                <a:latin typeface="Meiryo"/>
                <a:ea typeface="Meiryo"/>
                <a:cs typeface="Meiryo"/>
              </a:rPr>
              <a:t>V-Link Battle / コメントと通知ウィンドウ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58781-A821-465C-A829-2E5E2F625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a60615b864e72"/>
          <a:stretch xmlns:a="http://schemas.openxmlformats.org/drawingml/2006/main"/>
        </p:blipFill>
        <p:spPr>
          <a:xfrm xmlns:a="http://schemas.openxmlformats.org/drawingml/2006/main">
            <a:off x="609600" y="1708547"/>
            <a:ext cx="5219700" cy="2936081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712EA-4989-44BA-864C-84389A9C7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3f89e2af7467d"/>
          <a:stretch xmlns:a="http://schemas.openxmlformats.org/drawingml/2006/main"/>
        </p:blipFill>
        <p:spPr>
          <a:xfrm xmlns:a="http://schemas.openxmlformats.org/drawingml/2006/main">
            <a:off x="6362700" y="1708547"/>
            <a:ext cx="5219700" cy="2936081"/>
          </a:xfrm>
          <a:prstGeom xmlns:a="http://schemas.openxmlformats.org/drawingml/2006/main" prst="rect">
            <a:avLst/>
          </a:prstGeom>
        </p:spPr>
      </p:pic>
      <p:sp>
        <p:nvSpPr>
          <p:cNvPr id="5" name="コメント">
            <a:extLst xmlns:a="http://schemas.openxmlformats.org/drawingml/2006/main">
              <a:ext uri="{FF2B5EF4-FFF2-40B4-BE49-F238E27FC236}">
                <a16:creationId xmlns:a16="http://schemas.microsoft.com/office/drawing/2014/main" id="{68068C91-43E0-4090-997E-7D64433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コメント</a:t>
            </a:r>
          </a:p>
        </p:txBody>
      </p:sp>
      <p:sp>
        <p:nvSpPr>
          <p:cNvPr id="6" name="画面を横切るコメントに効果を持たせ、&#10;触れるか避けるかの">
            <a:extLst xmlns:a="http://schemas.openxmlformats.org/drawingml/2006/main">
              <a:ext uri="{FF2B5EF4-FFF2-40B4-BE49-F238E27FC236}">
                <a16:creationId xmlns:a16="http://schemas.microsoft.com/office/drawing/2014/main" id="{F3E9DD25-243B-4728-9F1A-2AC22A7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画面を横切るコメントに効果を持たせ、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触れるか避けるかの判断につなげます。</a:t>
            </a:r>
          </a:p>
        </p:txBody>
      </p:sp>
      <p:sp>
        <p:nvSpPr>
          <p:cNvPr id="7" name="通知ウィンドウ">
            <a:extLst xmlns:a="http://schemas.openxmlformats.org/drawingml/2006/main">
              <a:ext uri="{FF2B5EF4-FFF2-40B4-BE49-F238E27FC236}">
                <a16:creationId xmlns:a16="http://schemas.microsoft.com/office/drawing/2014/main" id="{BB546E84-103D-4986-B415-D56F756F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1490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BB307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B307E"/>
                </a:solidFill>
                <a:latin typeface="Meiryo"/>
                <a:ea typeface="Meiryo"/>
                <a:cs typeface="Meiryo"/>
              </a:rPr>
              <a:t>通知ウィンドウ</a:t>
            </a:r>
          </a:p>
        </p:txBody>
      </p:sp>
      <p:sp>
        <p:nvSpPr>
          <p:cNvPr id="8" name="通知の出現とゲーム内イベントを結びつけ、&#10;相手との間合い">
            <a:extLst xmlns:a="http://schemas.openxmlformats.org/drawingml/2006/main">
              <a:ext uri="{FF2B5EF4-FFF2-40B4-BE49-F238E27FC236}">
                <a16:creationId xmlns:a16="http://schemas.microsoft.com/office/drawing/2014/main" id="{38AF97DA-1FCE-494C-80B2-2FA8A12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24475"/>
            <a:ext cx="521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通知の出現とゲーム内イベントを結びつけ、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相手との間合いやタイミングを変えます。</a:t>
            </a:r>
          </a:p>
        </p:txBody>
      </p:sp>
      <p:sp>
        <p:nvSpPr>
          <p:cNvPr id="9" name="09 / 18">
            <a:extLst xmlns:a="http://schemas.openxmlformats.org/drawingml/2006/main">
              <a:ext uri="{FF2B5EF4-FFF2-40B4-BE49-F238E27FC236}">
                <a16:creationId xmlns:a16="http://schemas.microsoft.com/office/drawing/2014/main" id="{B9CEEB0F-2C33-4975-9825-7DD08B00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09 / 18</a:t>
            </a:r>
          </a:p>
        </p:txBody>
      </p:sp>
      <p:sp>
        <p:nvSpPr>
          <p:cNvPr id="10" name="次：双子">
            <a:extLst xmlns:a="http://schemas.openxmlformats.org/drawingml/2006/main">
              <a:ext uri="{FF2B5EF4-FFF2-40B4-BE49-F238E27FC236}">
                <a16:creationId xmlns:a16="http://schemas.microsoft.com/office/drawing/2014/main" id="{8A59CB4A-1B92-4C44-8D7F-5A931CD5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次：双子</a:t>
            </a:r>
          </a:p>
        </p:txBody>
      </p:sp>
    </p:spTree>
    <p:extLst>
      <p:ext uri="{BB962C8B-B14F-4D97-AF65-F5344CB8AC3E}">
        <p14:creationId xmlns:p14="http://schemas.microsoft.com/office/powerpoint/2010/main" val="2077028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リンク型コマンドバトル / 制作人数：6人 / Unit">
            <a:extLst xmlns:a="http://schemas.openxmlformats.org/drawingml/2006/main">
              <a:ext uri="{FF2B5EF4-FFF2-40B4-BE49-F238E27FC236}">
                <a16:creationId xmlns:a16="http://schemas.microsoft.com/office/drawing/2014/main" id="{E0E9D369-983E-4D33-BC8C-0CB24272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リンク型コマンドバトル / 制作人数：6人 / Unity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128EF-CA3A-4872-92ED-4ABF2BBB8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9beede2be45d7"/>
          <a:stretch xmlns:a="http://schemas.openxmlformats.org/drawingml/2006/main"/>
        </p:blipFill>
        <p:spPr>
          <a:xfrm xmlns:a="http://schemas.openxmlformats.org/drawingml/2006/main">
            <a:off x="609600" y="4572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双子">
            <a:extLst xmlns:a="http://schemas.openxmlformats.org/drawingml/2006/main">
              <a:ext uri="{FF2B5EF4-FFF2-40B4-BE49-F238E27FC236}">
                <a16:creationId xmlns:a16="http://schemas.microsoft.com/office/drawing/2014/main" id="{58FBD6FE-911A-486D-9ECE-8CE0DD9C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双子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9E968-7EC1-4324-8CB8-2F0E03B8B4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f99a9e93b4f1d"/>
          <a:stretch xmlns:a="http://schemas.openxmlformats.org/drawingml/2006/main"/>
        </p:blipFill>
        <p:spPr>
          <a:xfrm xmlns:a="http://schemas.openxmlformats.org/drawingml/2006/main">
            <a:off x="609600" y="1752600"/>
            <a:ext cx="670560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どんな遊びか">
            <a:extLst xmlns:a="http://schemas.openxmlformats.org/drawingml/2006/main">
              <a:ext uri="{FF2B5EF4-FFF2-40B4-BE49-F238E27FC236}">
                <a16:creationId xmlns:a16="http://schemas.microsoft.com/office/drawing/2014/main" id="{88CAF208-C290-4B15-8589-F0493BDE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14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どんな遊びか</a:t>
            </a:r>
          </a:p>
        </p:txBody>
      </p:sp>
      <p:sp>
        <p:nvSpPr>
          <p:cNvPr id="6" name="キャラクター同士を線でつなぎ、&#10;ダメージやバフを共有して">
            <a:extLst xmlns:a="http://schemas.openxmlformats.org/drawingml/2006/main">
              <a:ext uri="{FF2B5EF4-FFF2-40B4-BE49-F238E27FC236}">
                <a16:creationId xmlns:a16="http://schemas.microsoft.com/office/drawing/2014/main" id="{B2D21392-E70D-4CC6-BE10-367B59E0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381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キャラクター同士を線でつなぎ、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ダメージやバフを共有して戦う。</a:t>
            </a:r>
          </a:p>
        </p:txBody>
      </p:sp>
      <p:sp>
        <p:nvSpPr>
          <p:cNvPr id="7" name="私の担当">
            <a:extLst xmlns:a="http://schemas.openxmlformats.org/drawingml/2006/main">
              <a:ext uri="{FF2B5EF4-FFF2-40B4-BE49-F238E27FC236}">
                <a16:creationId xmlns:a16="http://schemas.microsoft.com/office/drawing/2014/main" id="{737B583A-A627-4A0D-B8BA-8C9E2087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146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私の担当</a:t>
            </a:r>
          </a:p>
        </p:txBody>
      </p:sp>
      <p:sp>
        <p:nvSpPr>
          <p:cNvPr id="8" name="企画・仕様整理・システム設計&#10;タスク振り分け・素材集め">
            <a:extLst xmlns:a="http://schemas.openxmlformats.org/drawingml/2006/main">
              <a:ext uri="{FF2B5EF4-FFF2-40B4-BE49-F238E27FC236}">
                <a16:creationId xmlns:a16="http://schemas.microsoft.com/office/drawing/2014/main" id="{E47E140D-091D-4F10-9051-D22E14C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381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企画・仕様整理・システム設計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タスク振り分け・素材集め</a:t>
            </a:r>
          </a:p>
        </p:txBody>
      </p:sp>
      <p:sp>
        <p:nvSpPr>
          <p:cNvPr id="9" name="設計の工夫">
            <a:extLst xmlns:a="http://schemas.openxmlformats.org/drawingml/2006/main">
              <a:ext uri="{FF2B5EF4-FFF2-40B4-BE49-F238E27FC236}">
                <a16:creationId xmlns:a16="http://schemas.microsoft.com/office/drawing/2014/main" id="{4BE6C2CD-2FAF-4856-B3B7-48A20C8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053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設計の工夫</a:t>
            </a:r>
          </a:p>
        </p:txBody>
      </p:sp>
      <p:sp>
        <p:nvSpPr>
          <p:cNvPr id="10" name="誰と誰をつなぐかに加え、&#10;リンクの発動順と使用回数を&#10;判">
            <a:extLst xmlns:a="http://schemas.openxmlformats.org/drawingml/2006/main">
              <a:ext uri="{FF2B5EF4-FFF2-40B4-BE49-F238E27FC236}">
                <a16:creationId xmlns:a16="http://schemas.microsoft.com/office/drawing/2014/main" id="{56686818-0BDC-441C-9141-AEE7A619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3810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誰と誰をつなぐかに加え、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リンクの発動順と使用回数を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判断する仕組みを考えました。</a:t>
            </a:r>
          </a:p>
        </p:txBody>
      </p:sp>
      <p:sp>
        <p:nvSpPr>
          <p:cNvPr id="11" name="双子をプレイ">
            <a:extLst xmlns:a="http://schemas.openxmlformats.org/drawingml/2006/main">
              <a:ext uri="{FF2B5EF4-FFF2-40B4-BE49-F238E27FC236}">
                <a16:creationId xmlns:a16="http://schemas.microsoft.com/office/drawing/2014/main" id="{0995F5C7-B61B-4F42-93C5-A22170C3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2efbe20827064561"/>
              </a:rPr>
              <a:t>双子をプレイ</a:t>
            </a:r>
          </a:p>
        </p:txBody>
      </p:sp>
      <p:sp>
        <p:nvSpPr>
          <p:cNvPr id="12" name="10 / 18">
            <a:extLst xmlns:a="http://schemas.openxmlformats.org/drawingml/2006/main">
              <a:ext uri="{FF2B5EF4-FFF2-40B4-BE49-F238E27FC236}">
                <a16:creationId xmlns:a16="http://schemas.microsoft.com/office/drawing/2014/main" id="{10048461-4901-45B9-A465-2BA4264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10 / 18</a:t>
            </a:r>
          </a:p>
        </p:txBody>
      </p:sp>
      <p:sp>
        <p:nvSpPr>
          <p:cNvPr id="13" name="次：仕様で、実装範囲と例外処理を共有する">
            <a:extLst xmlns:a="http://schemas.openxmlformats.org/drawingml/2006/main">
              <a:ext uri="{FF2B5EF4-FFF2-40B4-BE49-F238E27FC236}">
                <a16:creationId xmlns:a16="http://schemas.microsoft.com/office/drawing/2014/main" id="{7C74D485-B61A-47B2-9CAB-FB69458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次：仕様で、実装範囲と例外処理を共有する</a:t>
            </a:r>
          </a:p>
        </p:txBody>
      </p:sp>
    </p:spTree>
    <p:extLst>
      <p:ext uri="{BB962C8B-B14F-4D97-AF65-F5344CB8AC3E}">
        <p14:creationId xmlns:p14="http://schemas.microsoft.com/office/powerpoint/2010/main" val="1643424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仕様で、実装範囲と例外処理を共有する">
            <a:extLst xmlns:a="http://schemas.openxmlformats.org/drawingml/2006/main">
              <a:ext uri="{FF2B5EF4-FFF2-40B4-BE49-F238E27FC236}">
                <a16:creationId xmlns:a16="http://schemas.microsoft.com/office/drawing/2014/main" id="{0BB7079A-CEDA-441E-8BE4-0711B342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仕様で、実装範囲と例外処理を共有する</a:t>
            </a:r>
          </a:p>
        </p:txBody>
      </p:sp>
      <p:sp>
        <p:nvSpPr>
          <p:cNvPr id="2" name="双子 / 完成に向けた優先順位と、残った課題">
            <a:extLst xmlns:a="http://schemas.openxmlformats.org/drawingml/2006/main">
              <a:ext uri="{FF2B5EF4-FFF2-40B4-BE49-F238E27FC236}">
                <a16:creationId xmlns:a16="http://schemas.microsoft.com/office/drawing/2014/main" id="{89D00A20-029F-4C64-9458-CBD71183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双子 / 完成に向けた優先順位と、残った課題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70EB5-BD59-452C-B1D4-9744EACA4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43aeeef61405a"/>
          <a:srcRect xmlns:a="http://schemas.openxmlformats.org/drawingml/2006/main" l="0" t="0" r="0" b="45000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6324600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制作仕様書 p.3 抜粋">
            <a:extLst xmlns:a="http://schemas.openxmlformats.org/drawingml/2006/main">
              <a:ext uri="{FF2B5EF4-FFF2-40B4-BE49-F238E27FC236}">
                <a16:creationId xmlns:a16="http://schemas.microsoft.com/office/drawing/2014/main" id="{5E71AD7E-950D-4AAB-A00E-BC949F43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632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制作仕様書 p.3 抜粋</a:t>
            </a:r>
          </a:p>
        </p:txBody>
      </p:sp>
      <p:sp>
        <p:nvSpPr>
          <p:cNvPr id="5" name="先に固めたもの">
            <a:extLst xmlns:a="http://schemas.openxmlformats.org/drawingml/2006/main">
              <a:ext uri="{FF2B5EF4-FFF2-40B4-BE49-F238E27FC236}">
                <a16:creationId xmlns:a16="http://schemas.microsoft.com/office/drawing/2014/main" id="{3CA43775-5AF0-432E-9DE6-FE02106F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先に固めたもの</a:t>
            </a:r>
          </a:p>
        </p:txBody>
      </p:sp>
      <p:sp>
        <p:nvSpPr>
          <p:cNvPr id="6" name="ダメージリンクとバフリンクを優先。&#10;パッシブリンクは実装">
            <a:extLst xmlns:a="http://schemas.openxmlformats.org/drawingml/2006/main">
              <a:ext uri="{FF2B5EF4-FFF2-40B4-BE49-F238E27FC236}">
                <a16:creationId xmlns:a16="http://schemas.microsoft.com/office/drawing/2014/main" id="{FD6E5F21-FAD1-4BA5-8BC3-0959AA0F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85975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ダメージリンクとバフリンクを優先。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パッシブリンクは実装を見送りました。</a:t>
            </a:r>
          </a:p>
        </p:txBody>
      </p:sp>
      <p:sp>
        <p:nvSpPr>
          <p:cNvPr id="7" name="ルールにしたもの">
            <a:extLst xmlns:a="http://schemas.openxmlformats.org/drawingml/2006/main">
              <a:ext uri="{FF2B5EF4-FFF2-40B4-BE49-F238E27FC236}">
                <a16:creationId xmlns:a16="http://schemas.microsoft.com/office/drawing/2014/main" id="{B2A1D9FB-9994-404A-AB04-5E672676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48025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ルールにしたもの</a:t>
            </a:r>
          </a:p>
        </p:txBody>
      </p:sp>
      <p:sp>
        <p:nvSpPr>
          <p:cNvPr id="8" name="発動済みリンクの削除。&#10;重複回数の制限と、&#10;死亡した対象">
            <a:extLst xmlns:a="http://schemas.openxmlformats.org/drawingml/2006/main">
              <a:ext uri="{FF2B5EF4-FFF2-40B4-BE49-F238E27FC236}">
                <a16:creationId xmlns:a16="http://schemas.microsoft.com/office/drawing/2014/main" id="{9953A217-5E4A-495F-8AC0-96B87C86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4152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発動済みリンクの削除。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重複回数の制限と、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死亡した対象への効果の扱い。</a:t>
            </a:r>
          </a:p>
        </p:txBody>
      </p:sp>
      <p:sp>
        <p:nvSpPr>
          <p:cNvPr id="9" name="次に改善したいこと">
            <a:extLst xmlns:a="http://schemas.openxmlformats.org/drawingml/2006/main">
              <a:ext uri="{FF2B5EF4-FFF2-40B4-BE49-F238E27FC236}">
                <a16:creationId xmlns:a16="http://schemas.microsoft.com/office/drawing/2014/main" id="{4565E10D-4062-4CBE-BAB7-2F3982F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次に改善したいこと</a:t>
            </a:r>
          </a:p>
        </p:txBody>
      </p:sp>
      <p:sp>
        <p:nvSpPr>
          <p:cNvPr id="10" name="複雑になった発動順を、&#10;チーム内でより伝わる言葉と&#10;手順">
            <a:extLst xmlns:a="http://schemas.openxmlformats.org/drawingml/2006/main">
              <a:ext uri="{FF2B5EF4-FFF2-40B4-BE49-F238E27FC236}">
                <a16:creationId xmlns:a16="http://schemas.microsoft.com/office/drawing/2014/main" id="{B57287C6-5E82-4D0A-BABD-54F4B1A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4152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複雑になった発動順を、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チーム内でより伝わる言葉と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手順に整理することです。</a:t>
            </a:r>
          </a:p>
        </p:txBody>
      </p:sp>
      <p:sp>
        <p:nvSpPr>
          <p:cNvPr id="11" name="11 / 18">
            <a:extLst xmlns:a="http://schemas.openxmlformats.org/drawingml/2006/main">
              <a:ext uri="{FF2B5EF4-FFF2-40B4-BE49-F238E27FC236}">
                <a16:creationId xmlns:a16="http://schemas.microsoft.com/office/drawing/2014/main" id="{F59E1562-A2DC-48EA-8710-907BA30F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11 / 18</a:t>
            </a:r>
          </a:p>
        </p:txBody>
      </p:sp>
      <p:sp>
        <p:nvSpPr>
          <p:cNvPr id="12" name="次：線のこちら側 / 向こう側">
            <a:extLst xmlns:a="http://schemas.openxmlformats.org/drawingml/2006/main">
              <a:ext uri="{FF2B5EF4-FFF2-40B4-BE49-F238E27FC236}">
                <a16:creationId xmlns:a16="http://schemas.microsoft.com/office/drawing/2014/main" id="{8F3251C3-83F7-4B78-A19E-1CDDFD0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次：線のこちら側 / 向こう側</a:t>
            </a:r>
          </a:p>
        </p:txBody>
      </p:sp>
    </p:spTree>
    <p:extLst>
      <p:ext uri="{BB962C8B-B14F-4D97-AF65-F5344CB8AC3E}">
        <p14:creationId xmlns:p14="http://schemas.microsoft.com/office/powerpoint/2010/main" val="10066819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パズルアクション / 制作人数：4人 / Unity">
            <a:extLst xmlns:a="http://schemas.openxmlformats.org/drawingml/2006/main">
              <a:ext uri="{FF2B5EF4-FFF2-40B4-BE49-F238E27FC236}">
                <a16:creationId xmlns:a16="http://schemas.microsoft.com/office/drawing/2014/main" id="{76D8041F-D04C-4AF7-8BAF-7F779357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パズルアクション / 制作人数：4人 / Unity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BDD8B-67A9-4052-A0F9-578683B1C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b0b3b8d144a09"/>
          <a:stretch xmlns:a="http://schemas.openxmlformats.org/drawingml/2006/main"/>
        </p:blipFill>
        <p:spPr>
          <a:xfrm xmlns:a="http://schemas.openxmlformats.org/drawingml/2006/main">
            <a:off x="609600" y="4572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線のこちら側 / 向こう側">
            <a:extLst xmlns:a="http://schemas.openxmlformats.org/drawingml/2006/main">
              <a:ext uri="{FF2B5EF4-FFF2-40B4-BE49-F238E27FC236}">
                <a16:creationId xmlns:a16="http://schemas.microsoft.com/office/drawing/2014/main" id="{BA91B500-CFF9-4E86-90CB-FFF4845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線のこちら側 / 向こう側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96F54-484E-4221-BA70-351E9EC70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b1d2a03434d10"/>
          <a:stretch xmlns:a="http://schemas.openxmlformats.org/drawingml/2006/main"/>
        </p:blipFill>
        <p:spPr>
          <a:xfrm xmlns:a="http://schemas.openxmlformats.org/drawingml/2006/main">
            <a:off x="609600" y="1752600"/>
            <a:ext cx="670560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どんな遊びか">
            <a:extLst xmlns:a="http://schemas.openxmlformats.org/drawingml/2006/main">
              <a:ext uri="{FF2B5EF4-FFF2-40B4-BE49-F238E27FC236}">
                <a16:creationId xmlns:a16="http://schemas.microsoft.com/office/drawing/2014/main" id="{20E5100E-11F3-48F5-A689-9750B19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14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どんな遊びか</a:t>
            </a:r>
          </a:p>
        </p:txBody>
      </p:sp>
      <p:sp>
        <p:nvSpPr>
          <p:cNvPr id="6" name="線を境に、重力のある領域と&#10;無重力の領域を作ります。">
            <a:extLst xmlns:a="http://schemas.openxmlformats.org/drawingml/2006/main">
              <a:ext uri="{FF2B5EF4-FFF2-40B4-BE49-F238E27FC236}">
                <a16:creationId xmlns:a16="http://schemas.microsoft.com/office/drawing/2014/main" id="{BB210997-CA7B-4B3A-AA5D-FC66E89A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線を境に、重力のある領域と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無重力の領域を作ります。</a:t>
            </a:r>
          </a:p>
        </p:txBody>
      </p:sp>
      <p:sp>
        <p:nvSpPr>
          <p:cNvPr id="7" name="私の担当">
            <a:extLst xmlns:a="http://schemas.openxmlformats.org/drawingml/2006/main">
              <a:ext uri="{FF2B5EF4-FFF2-40B4-BE49-F238E27FC236}">
                <a16:creationId xmlns:a16="http://schemas.microsoft.com/office/drawing/2014/main" id="{A760C937-AB68-4C60-A495-6DB43371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私の担当</a:t>
            </a:r>
          </a:p>
        </p:txBody>
      </p:sp>
      <p:sp>
        <p:nvSpPr>
          <p:cNvPr id="8" name="企画・仕様整理・レベルデザイン&#10;タスク振り分け・素材集め">
            <a:extLst xmlns:a="http://schemas.openxmlformats.org/drawingml/2006/main">
              <a:ext uri="{FF2B5EF4-FFF2-40B4-BE49-F238E27FC236}">
                <a16:creationId xmlns:a16="http://schemas.microsoft.com/office/drawing/2014/main" id="{8A14BDAE-5A1E-4F65-B3DF-A18B1CC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147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企画・仕様整理・レベルデザイン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タスク振り分け・素材集め</a:t>
            </a:r>
          </a:p>
        </p:txBody>
      </p:sp>
      <p:sp>
        <p:nvSpPr>
          <p:cNvPr id="9" name="企画意図">
            <a:extLst xmlns:a="http://schemas.openxmlformats.org/drawingml/2006/main">
              <a:ext uri="{FF2B5EF4-FFF2-40B4-BE49-F238E27FC236}">
                <a16:creationId xmlns:a16="http://schemas.microsoft.com/office/drawing/2014/main" id="{2D577D6F-14AE-47DB-B334-B3182C22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企画意図</a:t>
            </a:r>
          </a:p>
        </p:txBody>
      </p:sp>
      <p:sp>
        <p:nvSpPr>
          <p:cNvPr id="10" name="用意された道を通るだけでなく、&#10;線の置き方で攻略方法を&#10;">
            <a:extLst xmlns:a="http://schemas.openxmlformats.org/drawingml/2006/main">
              <a:ext uri="{FF2B5EF4-FFF2-40B4-BE49-F238E27FC236}">
                <a16:creationId xmlns:a16="http://schemas.microsoft.com/office/drawing/2014/main" id="{5D162612-0C4F-4655-B7C6-9360A231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86325"/>
            <a:ext cx="3810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用意された道を通るだけでなく、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線の置き方で攻略方法を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作り出す楽しさを目指しました。</a:t>
            </a:r>
          </a:p>
        </p:txBody>
      </p:sp>
      <p:sp>
        <p:nvSpPr>
          <p:cNvPr id="11" name="線のこちら側 / 向こう側をプレイ">
            <a:extLst xmlns:a="http://schemas.openxmlformats.org/drawingml/2006/main">
              <a:ext uri="{FF2B5EF4-FFF2-40B4-BE49-F238E27FC236}">
                <a16:creationId xmlns:a16="http://schemas.microsoft.com/office/drawing/2014/main" id="{CF79E97B-F141-4B1D-95FD-ECC8C07C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364b36c977ca4cec"/>
              </a:rPr>
              <a:t>線のこちら側 / 向こう側をプレイ</a:t>
            </a:r>
          </a:p>
        </p:txBody>
      </p:sp>
      <p:sp>
        <p:nvSpPr>
          <p:cNvPr id="12" name="12 / 18">
            <a:extLst xmlns:a="http://schemas.openxmlformats.org/drawingml/2006/main">
              <a:ext uri="{FF2B5EF4-FFF2-40B4-BE49-F238E27FC236}">
                <a16:creationId xmlns:a16="http://schemas.microsoft.com/office/drawing/2014/main" id="{0835A19A-0014-4A50-B5FB-E9A1607F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12 / 18</a:t>
            </a:r>
          </a:p>
        </p:txBody>
      </p:sp>
      <p:sp>
        <p:nvSpPr>
          <p:cNvPr id="13" name="次：異なる遊びを考え、形にする">
            <a:extLst xmlns:a="http://schemas.openxmlformats.org/drawingml/2006/main">
              <a:ext uri="{FF2B5EF4-FFF2-40B4-BE49-F238E27FC236}">
                <a16:creationId xmlns:a16="http://schemas.microsoft.com/office/drawing/2014/main" id="{648A3A36-8922-4FE2-B6CC-097AF6D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次：異なる遊びを考え、形にする</a:t>
            </a:r>
          </a:p>
        </p:txBody>
      </p:sp>
    </p:spTree>
    <p:extLst>
      <p:ext uri="{BB962C8B-B14F-4D97-AF65-F5344CB8AC3E}">
        <p14:creationId xmlns:p14="http://schemas.microsoft.com/office/powerpoint/2010/main" val="6781880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異なる遊びを考え、形にする">
            <a:extLst xmlns:a="http://schemas.openxmlformats.org/drawingml/2006/main">
              <a:ext uri="{FF2B5EF4-FFF2-40B4-BE49-F238E27FC236}">
                <a16:creationId xmlns:a16="http://schemas.microsoft.com/office/drawing/2014/main" id="{B273E3B6-5DFF-445F-B9F8-98626795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異なる遊びを考え、形にする</a:t>
            </a:r>
          </a:p>
        </p:txBody>
      </p:sp>
      <p:sp>
        <p:nvSpPr>
          <p:cNvPr id="2" name="チーム制作 / 制作人数：各4人 / Unity">
            <a:extLst xmlns:a="http://schemas.openxmlformats.org/drawingml/2006/main">
              <a:ext uri="{FF2B5EF4-FFF2-40B4-BE49-F238E27FC236}">
                <a16:creationId xmlns:a16="http://schemas.microsoft.com/office/drawing/2014/main" id="{41CC214A-1599-445A-AAF3-6D87945C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チーム制作 / 制作人数：各4人 / Unity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DD3D-6E96-4180-B0AF-84C45E9EAF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70a4d78944533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てるてるウォーズ">
            <a:extLst xmlns:a="http://schemas.openxmlformats.org/drawingml/2006/main">
              <a:ext uri="{FF2B5EF4-FFF2-40B4-BE49-F238E27FC236}">
                <a16:creationId xmlns:a16="http://schemas.microsoft.com/office/drawing/2014/main" id="{30E97FA0-B846-48DD-97EA-82D29CF7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76400"/>
            <a:ext cx="438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てるてるウォーズ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40FF8-C633-4AAC-BCEE-365241138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13780f51740b1"/>
          <a:stretch xmlns:a="http://schemas.openxmlformats.org/drawingml/2006/main"/>
        </p:blipFill>
        <p:spPr>
          <a:xfrm xmlns:a="http://schemas.openxmlformats.org/drawingml/2006/main">
            <a:off x="6362700" y="1657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6" name="反転暗殺">
            <a:extLst xmlns:a="http://schemas.openxmlformats.org/drawingml/2006/main">
              <a:ext uri="{FF2B5EF4-FFF2-40B4-BE49-F238E27FC236}">
                <a16:creationId xmlns:a16="http://schemas.microsoft.com/office/drawing/2014/main" id="{477DCFB2-298B-4C51-AD70-95AF8C34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76400"/>
            <a:ext cx="447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反転暗殺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317BE-7450-435F-A21D-E1F2F61D1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00cfa056e4f36"/>
          <a:stretch xmlns:a="http://schemas.openxmlformats.org/drawingml/2006/main"/>
        </p:blipFill>
        <p:spPr>
          <a:xfrm xmlns:a="http://schemas.openxmlformats.org/drawingml/2006/main">
            <a:off x="611717" y="2381250"/>
            <a:ext cx="5215467" cy="29337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692FE-2AAE-494D-BF35-9DD22C5B2F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a440a88d44020"/>
          <a:stretch xmlns:a="http://schemas.openxmlformats.org/drawingml/2006/main"/>
        </p:blipFill>
        <p:spPr>
          <a:xfrm xmlns:a="http://schemas.openxmlformats.org/drawingml/2006/main">
            <a:off x="6364817" y="2381250"/>
            <a:ext cx="5215467" cy="2933700"/>
          </a:xfrm>
          <a:prstGeom xmlns:a="http://schemas.openxmlformats.org/drawingml/2006/main" prst="rect">
            <a:avLst/>
          </a:prstGeom>
        </p:spPr>
      </p:pic>
      <p:sp>
        <p:nvSpPr>
          <p:cNvPr id="9" name="通常・逆さの切替と特殊能力で防衛。&#10;担当：企画・仕様整理">
            <a:extLst xmlns:a="http://schemas.openxmlformats.org/drawingml/2006/main">
              <a:ext uri="{FF2B5EF4-FFF2-40B4-BE49-F238E27FC236}">
                <a16:creationId xmlns:a16="http://schemas.microsoft.com/office/drawing/2014/main" id="{F232B5A0-2245-4B36-8DB1-E59BFE8F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通常・逆さの切替と特殊能力で防衛。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担当：企画・仕様整理・プログラムなど</a:t>
            </a:r>
          </a:p>
        </p:txBody>
      </p:sp>
      <p:sp>
        <p:nvSpPr>
          <p:cNvPr id="10" name="盤面反転で安全と危険が入れ替わる。&#10;担当：企画・仕様整理">
            <a:extLst xmlns:a="http://schemas.openxmlformats.org/drawingml/2006/main">
              <a:ext uri="{FF2B5EF4-FFF2-40B4-BE49-F238E27FC236}">
                <a16:creationId xmlns:a16="http://schemas.microsoft.com/office/drawing/2014/main" id="{526BF820-26A8-4382-873E-EEE0FD46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054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盤面反転で安全と危険が入れ替わる。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担当：企画・仕様整理・レベル設計など</a:t>
            </a:r>
          </a:p>
        </p:txBody>
      </p:sp>
      <p:sp>
        <p:nvSpPr>
          <p:cNvPr id="11" name="13 / 18">
            <a:extLst xmlns:a="http://schemas.openxmlformats.org/drawingml/2006/main">
              <a:ext uri="{FF2B5EF4-FFF2-40B4-BE49-F238E27FC236}">
                <a16:creationId xmlns:a16="http://schemas.microsoft.com/office/drawing/2014/main" id="{84241943-89EB-4F4F-ABA2-99B1F4C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13 / 18</a:t>
            </a:r>
          </a:p>
        </p:txBody>
      </p:sp>
      <p:sp>
        <p:nvSpPr>
          <p:cNvPr id="12" name="次：バグハンター">
            <a:extLst xmlns:a="http://schemas.openxmlformats.org/drawingml/2006/main">
              <a:ext uri="{FF2B5EF4-FFF2-40B4-BE49-F238E27FC236}">
                <a16:creationId xmlns:a16="http://schemas.microsoft.com/office/drawing/2014/main" id="{C06FE2BD-A03E-40A1-A19A-7402906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次：バグハンター</a:t>
            </a:r>
          </a:p>
        </p:txBody>
      </p:sp>
    </p:spTree>
    <p:extLst>
      <p:ext uri="{BB962C8B-B14F-4D97-AF65-F5344CB8AC3E}">
        <p14:creationId xmlns:p14="http://schemas.microsoft.com/office/powerpoint/2010/main" val="14688940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昆虫育成・指示式バトル / 制作人数：1人 / Unit">
            <a:extLst xmlns:a="http://schemas.openxmlformats.org/drawingml/2006/main">
              <a:ext uri="{FF2B5EF4-FFF2-40B4-BE49-F238E27FC236}">
                <a16:creationId xmlns:a16="http://schemas.microsoft.com/office/drawing/2014/main" id="{86ED7882-5E5C-4490-88E2-285E4A4E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昆虫育成・指示式バトル / 制作人数：1人 / Unity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C1659-6AC2-4403-82E5-BF2EB0F83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124ed47d8496b"/>
          <a:stretch xmlns:a="http://schemas.openxmlformats.org/drawingml/2006/main"/>
        </p:blipFill>
        <p:spPr>
          <a:xfrm xmlns:a="http://schemas.openxmlformats.org/drawingml/2006/main">
            <a:off x="609600" y="4572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バグハンター">
            <a:extLst xmlns:a="http://schemas.openxmlformats.org/drawingml/2006/main">
              <a:ext uri="{FF2B5EF4-FFF2-40B4-BE49-F238E27FC236}">
                <a16:creationId xmlns:a16="http://schemas.microsoft.com/office/drawing/2014/main" id="{912CC199-4073-4FC4-81DA-BE01E997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バグハンター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08D86-6975-4B77-A502-28E3FB59A4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58ccab22d4266"/>
          <a:stretch xmlns:a="http://schemas.openxmlformats.org/drawingml/2006/main"/>
        </p:blipFill>
        <p:spPr>
          <a:xfrm xmlns:a="http://schemas.openxmlformats.org/drawingml/2006/main">
            <a:off x="609600" y="1752600"/>
            <a:ext cx="670560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企画の出発点">
            <a:extLst xmlns:a="http://schemas.openxmlformats.org/drawingml/2006/main">
              <a:ext uri="{FF2B5EF4-FFF2-40B4-BE49-F238E27FC236}">
                <a16:creationId xmlns:a16="http://schemas.microsoft.com/office/drawing/2014/main" id="{3BA4540C-D00D-42CF-8C3B-F5B690C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145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企画の出発点</a:t>
            </a:r>
          </a:p>
        </p:txBody>
      </p:sp>
      <p:sp>
        <p:nvSpPr>
          <p:cNvPr id="6" name="外で虫取りができなくても、&#10;捕まえて育てる楽しさを届けた">
            <a:extLst xmlns:a="http://schemas.openxmlformats.org/drawingml/2006/main">
              <a:ext uri="{FF2B5EF4-FFF2-40B4-BE49-F238E27FC236}">
                <a16:creationId xmlns:a16="http://schemas.microsoft.com/office/drawing/2014/main" id="{CE74E9C3-05D4-4D38-9E8C-E889EDDB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381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外で虫取りができなくても、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捕まえて育てる楽しさを届けたい。</a:t>
            </a:r>
          </a:p>
        </p:txBody>
      </p:sp>
      <p:sp>
        <p:nvSpPr>
          <p:cNvPr id="7" name="指示式のバトル">
            <a:extLst xmlns:a="http://schemas.openxmlformats.org/drawingml/2006/main">
              <a:ext uri="{FF2B5EF4-FFF2-40B4-BE49-F238E27FC236}">
                <a16:creationId xmlns:a16="http://schemas.microsoft.com/office/drawing/2014/main" id="{C7E8AF49-C48B-49CA-B13F-E67C5CF1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813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指示式のバトル</a:t>
            </a:r>
          </a:p>
        </p:txBody>
      </p:sp>
      <p:sp>
        <p:nvSpPr>
          <p:cNvPr id="8" name="移動や接近は昆虫が行います。&#10;プレイヤーは攻撃・防御・技">
            <a:extLst xmlns:a="http://schemas.openxmlformats.org/drawingml/2006/main">
              <a:ext uri="{FF2B5EF4-FFF2-40B4-BE49-F238E27FC236}">
                <a16:creationId xmlns:a16="http://schemas.microsoft.com/office/drawing/2014/main" id="{349F3996-B9CB-4421-B970-520B68F6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909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移動や接近は昆虫が行います。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プレイヤーは攻撃・防御・技を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選んで指示します。</a:t>
            </a:r>
          </a:p>
        </p:txBody>
      </p:sp>
      <p:sp>
        <p:nvSpPr>
          <p:cNvPr id="9" name="能力値だけで決まらない勝負">
            <a:extLst xmlns:a="http://schemas.openxmlformats.org/drawingml/2006/main">
              <a:ext uri="{FF2B5EF4-FFF2-40B4-BE49-F238E27FC236}">
                <a16:creationId xmlns:a16="http://schemas.microsoft.com/office/drawing/2014/main" id="{4F84BC7A-11EA-41F8-B2A7-DFB9B693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386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能力値だけで決まらない勝負</a:t>
            </a:r>
          </a:p>
        </p:txBody>
      </p:sp>
      <p:sp>
        <p:nvSpPr>
          <p:cNvPr id="10" name="転倒からの復帰中は無防備。&#10;個体差に加え、体勢や運も&#10;勝">
            <a:extLst xmlns:a="http://schemas.openxmlformats.org/drawingml/2006/main">
              <a:ext uri="{FF2B5EF4-FFF2-40B4-BE49-F238E27FC236}">
                <a16:creationId xmlns:a16="http://schemas.microsoft.com/office/drawing/2014/main" id="{62ACFFDD-67DE-4429-94AD-D19129D7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4825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転倒からの復帰中は無防備。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個体差に加え、体勢や運も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勝敗を左右する仕組みです。</a:t>
            </a:r>
          </a:p>
        </p:txBody>
      </p:sp>
      <p:sp>
        <p:nvSpPr>
          <p:cNvPr id="11" name="バグハンターをプレイ">
            <a:extLst xmlns:a="http://schemas.openxmlformats.org/drawingml/2006/main">
              <a:ext uri="{FF2B5EF4-FFF2-40B4-BE49-F238E27FC236}">
                <a16:creationId xmlns:a16="http://schemas.microsoft.com/office/drawing/2014/main" id="{D36CD64B-8473-4B58-8D9F-4D0B58DE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3883476d3004ca9"/>
              </a:rPr>
              <a:t>バグハンターをプレイ</a:t>
            </a:r>
          </a:p>
        </p:txBody>
      </p:sp>
      <p:sp>
        <p:nvSpPr>
          <p:cNvPr id="12" name="14 / 18">
            <a:extLst xmlns:a="http://schemas.openxmlformats.org/drawingml/2006/main">
              <a:ext uri="{FF2B5EF4-FFF2-40B4-BE49-F238E27FC236}">
                <a16:creationId xmlns:a16="http://schemas.microsoft.com/office/drawing/2014/main" id="{D560377C-5EB1-478B-BB2A-A58F439A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14 / 18</a:t>
            </a:r>
          </a:p>
        </p:txBody>
      </p:sp>
      <p:sp>
        <p:nvSpPr>
          <p:cNvPr id="13" name="次：企画書で広げる、遊びの切り口">
            <a:extLst xmlns:a="http://schemas.openxmlformats.org/drawingml/2006/main">
              <a:ext uri="{FF2B5EF4-FFF2-40B4-BE49-F238E27FC236}">
                <a16:creationId xmlns:a16="http://schemas.microsoft.com/office/drawing/2014/main" id="{C2853E5F-E6C3-48BF-B87E-67D7C7CE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次：企画書で広げる、遊びの切り口</a:t>
            </a:r>
          </a:p>
        </p:txBody>
      </p:sp>
    </p:spTree>
    <p:extLst>
      <p:ext uri="{BB962C8B-B14F-4D97-AF65-F5344CB8AC3E}">
        <p14:creationId xmlns:p14="http://schemas.microsoft.com/office/powerpoint/2010/main" val="6525219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企画書で広げる、遊びの切り口">
            <a:extLst xmlns:a="http://schemas.openxmlformats.org/drawingml/2006/main">
              <a:ext uri="{FF2B5EF4-FFF2-40B4-BE49-F238E27FC236}">
                <a16:creationId xmlns:a16="http://schemas.microsoft.com/office/drawing/2014/main" id="{8068881A-8410-48A9-AC59-0134F83A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企画書で広げる、遊びの切り口</a:t>
            </a:r>
          </a:p>
        </p:txBody>
      </p:sp>
      <p:sp>
        <p:nvSpPr>
          <p:cNvPr id="2" name="以下の2件は企画書のみの作品">
            <a:extLst xmlns:a="http://schemas.openxmlformats.org/drawingml/2006/main">
              <a:ext uri="{FF2B5EF4-FFF2-40B4-BE49-F238E27FC236}">
                <a16:creationId xmlns:a16="http://schemas.microsoft.com/office/drawing/2014/main" id="{5F2E58C7-CC42-47DE-BEFA-277EDB7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以下の2件は企画書のみの作品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FF4DF-3E35-4C1C-BC58-4E691FD4E8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bad677cab4e11"/>
          <a:stretch xmlns:a="http://schemas.openxmlformats.org/drawingml/2006/main"/>
        </p:blipFill>
        <p:spPr>
          <a:xfrm xmlns:a="http://schemas.openxmlformats.org/drawingml/2006/main">
            <a:off x="680704" y="1714500"/>
            <a:ext cx="5077493" cy="2857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11330-AB0C-4B35-A2A9-EB2A571A5E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8bf7ff2684ed3"/>
          <a:stretch xmlns:a="http://schemas.openxmlformats.org/drawingml/2006/main"/>
        </p:blipFill>
        <p:spPr>
          <a:xfrm xmlns:a="http://schemas.openxmlformats.org/drawingml/2006/main">
            <a:off x="7962106" y="1714500"/>
            <a:ext cx="2020888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5分ダンジョン">
            <a:extLst xmlns:a="http://schemas.openxmlformats.org/drawingml/2006/main">
              <a:ext uri="{FF2B5EF4-FFF2-40B4-BE49-F238E27FC236}">
                <a16:creationId xmlns:a16="http://schemas.microsoft.com/office/drawing/2014/main" id="{348B18F2-377C-43C6-9A09-853FDEB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5分ダンジョン</a:t>
            </a:r>
          </a:p>
        </p:txBody>
      </p:sp>
      <p:sp>
        <p:nvSpPr>
          <p:cNvPr id="6" name="短時間で3択を判断し、&#10;ビルドを作るローグライク。&#10;焦り">
            <a:extLst xmlns:a="http://schemas.openxmlformats.org/drawingml/2006/main">
              <a:ext uri="{FF2B5EF4-FFF2-40B4-BE49-F238E27FC236}">
                <a16:creationId xmlns:a16="http://schemas.microsoft.com/office/drawing/2014/main" id="{286E64A8-FB96-45BE-96E7-AD325C90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5219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短時間で3択を判断し、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ビルドを作るローグライク。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焦りと選択を遊びの核にしています。</a:t>
            </a:r>
          </a:p>
        </p:txBody>
      </p:sp>
      <p:sp>
        <p:nvSpPr>
          <p:cNvPr id="7" name="せいぶつマスター">
            <a:extLst xmlns:a="http://schemas.openxmlformats.org/drawingml/2006/main">
              <a:ext uri="{FF2B5EF4-FFF2-40B4-BE49-F238E27FC236}">
                <a16:creationId xmlns:a16="http://schemas.microsoft.com/office/drawing/2014/main" id="{D8C7981B-C722-4E9B-A0F1-8C151A7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965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7E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7E80"/>
                </a:solidFill>
                <a:latin typeface="Meiryo"/>
                <a:ea typeface="Meiryo"/>
                <a:cs typeface="Meiryo"/>
              </a:rPr>
              <a:t>せいぶつマスター</a:t>
            </a:r>
          </a:p>
        </p:txBody>
      </p:sp>
      <p:sp>
        <p:nvSpPr>
          <p:cNvPr id="8" name="生物の特徴から答えを推理する&#10;カードゲーム。勝ちたい気持">
            <a:extLst xmlns:a="http://schemas.openxmlformats.org/drawingml/2006/main">
              <a:ext uri="{FF2B5EF4-FFF2-40B4-BE49-F238E27FC236}">
                <a16:creationId xmlns:a16="http://schemas.microsoft.com/office/drawing/2014/main" id="{B81C374A-0EE2-4498-B43F-E6B3F8A9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29225"/>
            <a:ext cx="5219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生物の特徴から答えを推理する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カードゲーム。勝ちたい気持ちを、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知りたい気持ちにつなげます。</a:t>
            </a:r>
          </a:p>
        </p:txBody>
      </p:sp>
      <p:sp>
        <p:nvSpPr>
          <p:cNvPr id="9" name="15 / 18">
            <a:extLst xmlns:a="http://schemas.openxmlformats.org/drawingml/2006/main">
              <a:ext uri="{FF2B5EF4-FFF2-40B4-BE49-F238E27FC236}">
                <a16:creationId xmlns:a16="http://schemas.microsoft.com/office/drawing/2014/main" id="{A9D62B84-DBCB-4BB6-BCDC-4A13D57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15 / 18</a:t>
            </a:r>
          </a:p>
        </p:txBody>
      </p:sp>
      <p:sp>
        <p:nvSpPr>
          <p:cNvPr id="10" name="次：企画を形にするための制作スキル">
            <a:extLst xmlns:a="http://schemas.openxmlformats.org/drawingml/2006/main">
              <a:ext uri="{FF2B5EF4-FFF2-40B4-BE49-F238E27FC236}">
                <a16:creationId xmlns:a16="http://schemas.microsoft.com/office/drawing/2014/main" id="{5550DF2A-B819-4351-86A0-882F4AE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次：企画を形にするための制作スキル</a:t>
            </a:r>
          </a:p>
        </p:txBody>
      </p:sp>
    </p:spTree>
    <p:extLst>
      <p:ext uri="{BB962C8B-B14F-4D97-AF65-F5344CB8AC3E}">
        <p14:creationId xmlns:p14="http://schemas.microsoft.com/office/powerpoint/2010/main" val="5989779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企画を形にするための制作スキル">
            <a:extLst xmlns:a="http://schemas.openxmlformats.org/drawingml/2006/main">
              <a:ext uri="{FF2B5EF4-FFF2-40B4-BE49-F238E27FC236}">
                <a16:creationId xmlns:a16="http://schemas.microsoft.com/office/drawing/2014/main" id="{D581EA3B-83E4-4234-BB6A-515D439B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企画を形にするための制作スキル</a:t>
            </a:r>
          </a:p>
        </p:txBody>
      </p:sp>
      <p:sp>
        <p:nvSpPr>
          <p:cNvPr id="2" name="企画・資料作成・ゲーム制作">
            <a:extLst xmlns:a="http://schemas.openxmlformats.org/drawingml/2006/main">
              <a:ext uri="{FF2B5EF4-FFF2-40B4-BE49-F238E27FC236}">
                <a16:creationId xmlns:a16="http://schemas.microsoft.com/office/drawing/2014/main" id="{960172C7-F5E0-45BB-9BA2-56953BA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企画・資料作成・ゲーム制作</a:t>
            </a:r>
          </a:p>
        </p:txBody>
      </p:sp>
      <p:sp>
        <p:nvSpPr>
          <p:cNvPr id="3" name="企画・設計">
            <a:extLst xmlns:a="http://schemas.openxmlformats.org/drawingml/2006/main">
              <a:ext uri="{FF2B5EF4-FFF2-40B4-BE49-F238E27FC236}">
                <a16:creationId xmlns:a16="http://schemas.microsoft.com/office/drawing/2014/main" id="{119D84BD-5E41-43AE-AD8B-7A7E279E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企画・設計</a:t>
            </a:r>
          </a:p>
        </p:txBody>
      </p:sp>
      <p:sp>
        <p:nvSpPr>
          <p:cNvPr id="4" name="遊びの核を考え、&#10;ルールや仕様に整理します。">
            <a:extLst xmlns:a="http://schemas.openxmlformats.org/drawingml/2006/main">
              <a:ext uri="{FF2B5EF4-FFF2-40B4-BE49-F238E27FC236}">
                <a16:creationId xmlns:a16="http://schemas.microsoft.com/office/drawing/2014/main" id="{56AC148D-D786-4EFA-815B-29644070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562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遊びの核を考え、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ルールや仕様に整理します。</a:t>
            </a:r>
          </a:p>
        </p:txBody>
      </p:sp>
      <p:sp>
        <p:nvSpPr>
          <p:cNvPr id="5" name="チーム制作">
            <a:extLst xmlns:a="http://schemas.openxmlformats.org/drawingml/2006/main">
              <a:ext uri="{FF2B5EF4-FFF2-40B4-BE49-F238E27FC236}">
                <a16:creationId xmlns:a16="http://schemas.microsoft.com/office/drawing/2014/main" id="{B16BD9DC-1B1A-4E92-B0EB-68B3BA25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チーム制作</a:t>
            </a:r>
          </a:p>
        </p:txBody>
      </p:sp>
      <p:sp>
        <p:nvSpPr>
          <p:cNvPr id="6" name="タスクを振り分け、&#10;企画意図と実装内容の&#10;認識をそろえま">
            <a:extLst xmlns:a="http://schemas.openxmlformats.org/drawingml/2006/main">
              <a:ext uri="{FF2B5EF4-FFF2-40B4-BE49-F238E27FC236}">
                <a16:creationId xmlns:a16="http://schemas.microsoft.com/office/drawing/2014/main" id="{E91FC5AD-ABC2-4CB0-A1B3-CAF3B00D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5623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タスクを振り分け、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企画意図と実装内容の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認識をそろえます。</a:t>
            </a:r>
          </a:p>
        </p:txBody>
      </p:sp>
      <p:sp>
        <p:nvSpPr>
          <p:cNvPr id="7" name="素材制作">
            <a:extLst xmlns:a="http://schemas.openxmlformats.org/drawingml/2006/main">
              <a:ext uri="{FF2B5EF4-FFF2-40B4-BE49-F238E27FC236}">
                <a16:creationId xmlns:a16="http://schemas.microsoft.com/office/drawing/2014/main" id="{E516F4B9-E4D7-47E5-86C1-25F27FA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素材制作</a:t>
            </a:r>
          </a:p>
        </p:txBody>
      </p:sp>
      <p:sp>
        <p:nvSpPr>
          <p:cNvPr id="8" name="必要に応じて画像、&#10;3D素材、エフェクト、&#10;アニメーショ">
            <a:extLst xmlns:a="http://schemas.openxmlformats.org/drawingml/2006/main">
              <a:ext uri="{FF2B5EF4-FFF2-40B4-BE49-F238E27FC236}">
                <a16:creationId xmlns:a16="http://schemas.microsoft.com/office/drawing/2014/main" id="{F0BDD16C-C698-4C84-B1E2-942F72B5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3562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必要に応じて画像、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3D素材、エフェクト、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アニメーションにも関わります。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27326-EBAB-450B-B5D5-6A99E9927B67}"/>
              </a:ext>
            </a:extLst>
          </p:cNvPr>
          <p:cNvGraphicFramePr/>
          <p:nvPr/>
        </p:nvGraphicFramePr>
        <p:xfrm>
          <a:off xmlns:a="http://schemas.openxmlformats.org/drawingml/2006/main" x="4524375" y="1752600"/>
          <a:ext xmlns:a="http://schemas.openxmlformats.org/drawingml/2006/main" cx="7058025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2714625"/>
                <a:gridCol w="819150"/>
                <a:gridCol w="306705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55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ツール</a:t>
                      </a:r>
                    </a:p>
                  </a:txBody>
                  <a:tcPr marL="91440" marR="91440" marT="45720" marB="45720" anchor="ctr">
                    <a:solidFill>
                      <a:srgbClr val="155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経験</a:t>
                      </a:r>
                    </a:p>
                  </a:txBody>
                  <a:tcPr marL="91440" marR="91440" marT="45720" marB="45720" anchor="ctr">
                    <a:solidFill>
                      <a:srgbClr val="155B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55BC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Unity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2年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ゲーム制作・レベル設計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Visual Studio Code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2年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コード編集・理解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Git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2年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変更履歴・チーム共有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PowerPoint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2年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企画書・資料構成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Excel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2年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表による情報整理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Googleスプレッドシート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2年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情報共有・改善提案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Blender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1年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3Dオブジェクト制作</a:t>
                      </a:r>
                    </a:p>
                  </a:txBody>
                  <a:tcPr marL="91440" marR="91440" marT="45720" marB="45720" anchor="ctr">
                    <a:solidFill>
                      <a:srgbClr val="F2F6FA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Unreal Engine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3か月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42D"/>
                          </a:solidFill>
                          <a:latin typeface="Meiryo"/>
                          <a:ea typeface="Meiryo"/>
                          <a:cs typeface="Meiryo"/>
                        </a:rPr>
                        <a:t>基礎学習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40512-D0EF-4E4F-8665-05799313E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c167e86234fa6"/>
          <a:stretch xmlns:a="http://schemas.openxmlformats.org/drawingml/2006/main"/>
        </p:blipFill>
        <p:spPr>
          <a:xfrm xmlns:a="http://schemas.openxmlformats.org/drawingml/2006/main">
            <a:off x="4619625" y="231457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E2EE2-C4D6-4BC3-8D07-D708C580BC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b0a8e6cb043bb"/>
          <a:stretch xmlns:a="http://schemas.openxmlformats.org/drawingml/2006/main"/>
        </p:blipFill>
        <p:spPr>
          <a:xfrm xmlns:a="http://schemas.openxmlformats.org/drawingml/2006/main">
            <a:off x="4619625" y="278130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FFEF0-96DE-4801-8856-10662F924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01cf235ee43f2"/>
          <a:stretch xmlns:a="http://schemas.openxmlformats.org/drawingml/2006/main"/>
        </p:blipFill>
        <p:spPr>
          <a:xfrm xmlns:a="http://schemas.openxmlformats.org/drawingml/2006/main">
            <a:off x="4619625" y="32480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22893-0868-49D0-BF1E-0857B4198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17fa8f9c24a0a"/>
          <a:stretch xmlns:a="http://schemas.openxmlformats.org/drawingml/2006/main"/>
        </p:blipFill>
        <p:spPr>
          <a:xfrm xmlns:a="http://schemas.openxmlformats.org/drawingml/2006/main">
            <a:off x="4619625" y="371475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095AA-58DB-405A-8CAB-90444BDC5A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46f991e574820"/>
          <a:stretch xmlns:a="http://schemas.openxmlformats.org/drawingml/2006/main"/>
        </p:blipFill>
        <p:spPr>
          <a:xfrm xmlns:a="http://schemas.openxmlformats.org/drawingml/2006/main">
            <a:off x="4619625" y="418147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4B29E-F7C4-470F-8D92-C817EF5B7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f6e8d608449a7"/>
          <a:stretch xmlns:a="http://schemas.openxmlformats.org/drawingml/2006/main"/>
        </p:blipFill>
        <p:spPr>
          <a:xfrm xmlns:a="http://schemas.openxmlformats.org/drawingml/2006/main">
            <a:off x="4619625" y="4648200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0EB25-BC5F-4D0C-8F37-B93A3E1BC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f9656b2054681"/>
          <a:stretch xmlns:a="http://schemas.openxmlformats.org/drawingml/2006/main"/>
        </p:blipFill>
        <p:spPr>
          <a:xfrm xmlns:a="http://schemas.openxmlformats.org/drawingml/2006/main">
            <a:off x="4619625" y="5114925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0A7CD-56D2-48B0-8D45-96022FD89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adc97ac6f46b3"/>
          <a:stretch xmlns:a="http://schemas.openxmlformats.org/drawingml/2006/main"/>
        </p:blipFill>
        <p:spPr>
          <a:xfrm xmlns:a="http://schemas.openxmlformats.org/drawingml/2006/main">
            <a:off x="4619625" y="55816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8" name="16 / 18">
            <a:extLst xmlns:a="http://schemas.openxmlformats.org/drawingml/2006/main">
              <a:ext uri="{FF2B5EF4-FFF2-40B4-BE49-F238E27FC236}">
                <a16:creationId xmlns:a16="http://schemas.microsoft.com/office/drawing/2014/main" id="{9566057D-ACD2-470C-BDB2-AE017646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16 / 18</a:t>
            </a:r>
          </a:p>
        </p:txBody>
      </p:sp>
      <p:sp>
        <p:nvSpPr>
          <p:cNvPr id="19" name="次：作品をプレイする・資料を読む">
            <a:extLst xmlns:a="http://schemas.openxmlformats.org/drawingml/2006/main">
              <a:ext uri="{FF2B5EF4-FFF2-40B4-BE49-F238E27FC236}">
                <a16:creationId xmlns:a16="http://schemas.microsoft.com/office/drawing/2014/main" id="{9A486191-4B6B-407F-B049-668566F3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次：作品をプレイする・資料を読む</a:t>
            </a:r>
          </a:p>
        </p:txBody>
      </p:sp>
    </p:spTree>
    <p:extLst>
      <p:ext uri="{BB962C8B-B14F-4D97-AF65-F5344CB8AC3E}">
        <p14:creationId xmlns:p14="http://schemas.microsoft.com/office/powerpoint/2010/main" val="15223552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作品をプレイする・資料を読む">
            <a:extLst xmlns:a="http://schemas.openxmlformats.org/drawingml/2006/main">
              <a:ext uri="{FF2B5EF4-FFF2-40B4-BE49-F238E27FC236}">
                <a16:creationId xmlns:a16="http://schemas.microsoft.com/office/drawing/2014/main" id="{B61FF607-BA4C-47D9-8B99-A2029031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作品をプレイする・資料を読む</a:t>
            </a:r>
          </a:p>
        </p:txBody>
      </p:sp>
      <p:sp>
        <p:nvSpPr>
          <p:cNvPr id="2" name="各作品名と資料名から、公開ページへ進めます">
            <a:extLst xmlns:a="http://schemas.openxmlformats.org/drawingml/2006/main">
              <a:ext uri="{FF2B5EF4-FFF2-40B4-BE49-F238E27FC236}">
                <a16:creationId xmlns:a16="http://schemas.microsoft.com/office/drawing/2014/main" id="{B26A5F05-2ADB-4E95-9D16-E4E9351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各作品名と資料名から、公開ページへ進めます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442FD458-4CE4-42A0-9D79-BAA78FD6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4" name="すべる宇宙駐車場をプレイ">
            <a:extLst xmlns:a="http://schemas.openxmlformats.org/drawingml/2006/main">
              <a:ext uri="{FF2B5EF4-FFF2-40B4-BE49-F238E27FC236}">
                <a16:creationId xmlns:a16="http://schemas.microsoft.com/office/drawing/2014/main" id="{33528E31-D22A-4CA0-983F-2CCED23D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240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176798d9d8b242f7"/>
              </a:rPr>
              <a:t>すべる宇宙駐車場をプレイ</a:t>
            </a:r>
          </a:p>
        </p:txBody>
      </p:sp>
      <p:sp>
        <p:nvSpPr>
          <p:cNvPr id="5" name="App Store">
            <a:extLst xmlns:a="http://schemas.openxmlformats.org/drawingml/2006/main">
              <a:ext uri="{FF2B5EF4-FFF2-40B4-BE49-F238E27FC236}">
                <a16:creationId xmlns:a16="http://schemas.microsoft.com/office/drawing/2014/main" id="{B6357D7E-BAFD-4468-B324-6DEB2117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240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e3cc39c5be5b4e15"/>
              </a:rPr>
              <a:t>App Store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0008E431-6B67-4C4E-B09A-D0F253F3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7" name="V-Link Battleをプレイ">
            <a:extLst xmlns:a="http://schemas.openxmlformats.org/drawingml/2006/main">
              <a:ext uri="{FF2B5EF4-FFF2-40B4-BE49-F238E27FC236}">
                <a16:creationId xmlns:a16="http://schemas.microsoft.com/office/drawing/2014/main" id="{976963AA-AAE3-479E-8C24-1D23C415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9054554639641ff"/>
              </a:rPr>
              <a:t>V-Link Battleをプレイ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58D3A844-9037-4A15-B81D-92CB99D0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9" name="双子をプレイ">
            <a:extLst xmlns:a="http://schemas.openxmlformats.org/drawingml/2006/main">
              <a:ext uri="{FF2B5EF4-FFF2-40B4-BE49-F238E27FC236}">
                <a16:creationId xmlns:a16="http://schemas.microsoft.com/office/drawing/2014/main" id="{FB97D179-9509-4C53-B354-63181503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860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a9789eb44c464f5e"/>
              </a:rPr>
              <a:t>双子をプレイ</a:t>
            </a:r>
          </a:p>
        </p:txBody>
      </p:sp>
      <p:sp>
        <p:nvSpPr>
          <p:cNvPr id="10" name="企画書">
            <a:extLst xmlns:a="http://schemas.openxmlformats.org/drawingml/2006/main">
              <a:ext uri="{FF2B5EF4-FFF2-40B4-BE49-F238E27FC236}">
                <a16:creationId xmlns:a16="http://schemas.microsoft.com/office/drawing/2014/main" id="{0860E065-5FAD-417F-B192-72F5E66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860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992a0c4edec94f43"/>
              </a:rPr>
              <a:t>企画書</a:t>
            </a:r>
          </a:p>
        </p:txBody>
      </p:sp>
      <p:sp>
        <p:nvSpPr>
          <p:cNvPr id="11" name="仕様書">
            <a:extLst xmlns:a="http://schemas.openxmlformats.org/drawingml/2006/main">
              <a:ext uri="{FF2B5EF4-FFF2-40B4-BE49-F238E27FC236}">
                <a16:creationId xmlns:a16="http://schemas.microsoft.com/office/drawing/2014/main" id="{E159B1CD-8230-4EDA-9DFB-814D226D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860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a57a15eee3bb4f1e"/>
              </a:rPr>
              <a:t>仕様書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04103025-DD06-40A3-A856-780C86AD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13" name="線のこちら側 / 向こう側をプレイ">
            <a:extLst xmlns:a="http://schemas.openxmlformats.org/drawingml/2006/main">
              <a:ext uri="{FF2B5EF4-FFF2-40B4-BE49-F238E27FC236}">
                <a16:creationId xmlns:a16="http://schemas.microsoft.com/office/drawing/2014/main" id="{3F11846B-CB2C-4EB3-A9ED-51EEC852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56a22c354122480a"/>
              </a:rPr>
              <a:t>線のこちら側 / 向こう側をプレイ</a:t>
            </a:r>
          </a:p>
        </p:txBody>
      </p:sp>
      <p:sp>
        <p:nvSpPr>
          <p:cNvPr id="14" name="企画書">
            <a:extLst xmlns:a="http://schemas.openxmlformats.org/drawingml/2006/main">
              <a:ext uri="{FF2B5EF4-FFF2-40B4-BE49-F238E27FC236}">
                <a16:creationId xmlns:a16="http://schemas.microsoft.com/office/drawing/2014/main" id="{AE81F786-D858-438D-BF77-053C3760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671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8a8db27ca3394ccc"/>
              </a:rPr>
              <a:t>企画書</a:t>
            </a:r>
          </a:p>
        </p:txBody>
      </p:sp>
      <p:sp>
        <p:nvSpPr>
          <p:cNvPr id="15" name="仕様書">
            <a:extLst xmlns:a="http://schemas.openxmlformats.org/drawingml/2006/main">
              <a:ext uri="{FF2B5EF4-FFF2-40B4-BE49-F238E27FC236}">
                <a16:creationId xmlns:a16="http://schemas.microsoft.com/office/drawing/2014/main" id="{97939E45-7428-4944-B75C-BF65B6F2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f2e78b3a1a1e4563"/>
              </a:rPr>
              <a:t>仕様書</a:t>
            </a:r>
          </a:p>
        </p:txBody>
      </p:sp>
      <p:sp>
        <p:nvSpPr>
          <p:cNvPr id="16" name="13">
            <a:extLst xmlns:a="http://schemas.openxmlformats.org/drawingml/2006/main">
              <a:ext uri="{FF2B5EF4-FFF2-40B4-BE49-F238E27FC236}">
                <a16:creationId xmlns:a16="http://schemas.microsoft.com/office/drawing/2014/main" id="{75C5683F-4258-4EEB-ACBD-83ABF134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17" name="てるてるウォーズをプレイ">
            <a:extLst xmlns:a="http://schemas.openxmlformats.org/drawingml/2006/main">
              <a:ext uri="{FF2B5EF4-FFF2-40B4-BE49-F238E27FC236}">
                <a16:creationId xmlns:a16="http://schemas.microsoft.com/office/drawing/2014/main" id="{F949C3FE-6F1D-4B09-B9ED-5B7B6039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481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673694e408b4e9e"/>
              </a:rPr>
              <a:t>てるてるウォーズをプレイ</a:t>
            </a:r>
          </a:p>
        </p:txBody>
      </p:sp>
      <p:sp>
        <p:nvSpPr>
          <p:cNvPr id="18" name="企画書">
            <a:extLst xmlns:a="http://schemas.openxmlformats.org/drawingml/2006/main">
              <a:ext uri="{FF2B5EF4-FFF2-40B4-BE49-F238E27FC236}">
                <a16:creationId xmlns:a16="http://schemas.microsoft.com/office/drawing/2014/main" id="{FBC125B3-5CF7-459D-B0D3-840CF4C3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92c4af0b05ed4fb0"/>
              </a:rPr>
              <a:t>企画書</a:t>
            </a:r>
          </a:p>
        </p:txBody>
      </p:sp>
      <p:sp>
        <p:nvSpPr>
          <p:cNvPr id="19" name="仕様書">
            <a:extLst xmlns:a="http://schemas.openxmlformats.org/drawingml/2006/main">
              <a:ext uri="{FF2B5EF4-FFF2-40B4-BE49-F238E27FC236}">
                <a16:creationId xmlns:a16="http://schemas.microsoft.com/office/drawing/2014/main" id="{9FD888CF-6848-44B4-8BBA-87CFE395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48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14b6455f10ff4d3b"/>
              </a:rPr>
              <a:t>仕様書</a:t>
            </a:r>
          </a:p>
        </p:txBody>
      </p:sp>
      <p:sp>
        <p:nvSpPr>
          <p:cNvPr id="20" name="13">
            <a:extLst xmlns:a="http://schemas.openxmlformats.org/drawingml/2006/main">
              <a:ext uri="{FF2B5EF4-FFF2-40B4-BE49-F238E27FC236}">
                <a16:creationId xmlns:a16="http://schemas.microsoft.com/office/drawing/2014/main" id="{931FD419-8BE6-44C9-B349-F3CAAA5C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21" name="反転暗殺をプレイ">
            <a:extLst xmlns:a="http://schemas.openxmlformats.org/drawingml/2006/main">
              <a:ext uri="{FF2B5EF4-FFF2-40B4-BE49-F238E27FC236}">
                <a16:creationId xmlns:a16="http://schemas.microsoft.com/office/drawing/2014/main" id="{68AA1C6D-0E1B-4BD7-9287-AEF0DA5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765060633aae4633"/>
              </a:rPr>
              <a:t>反転暗殺をプレイ</a:t>
            </a:r>
          </a:p>
        </p:txBody>
      </p:sp>
      <p:sp>
        <p:nvSpPr>
          <p:cNvPr id="22" name="企画書">
            <a:extLst xmlns:a="http://schemas.openxmlformats.org/drawingml/2006/main">
              <a:ext uri="{FF2B5EF4-FFF2-40B4-BE49-F238E27FC236}">
                <a16:creationId xmlns:a16="http://schemas.microsoft.com/office/drawing/2014/main" id="{F02D4505-96DE-4EF6-AB30-8D763B35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29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5d532f248e56432b"/>
              </a:rPr>
              <a:t>企画書</a:t>
            </a:r>
          </a:p>
        </p:txBody>
      </p:sp>
      <p:sp>
        <p:nvSpPr>
          <p:cNvPr id="23" name="仕様書">
            <a:extLst xmlns:a="http://schemas.openxmlformats.org/drawingml/2006/main">
              <a:ext uri="{FF2B5EF4-FFF2-40B4-BE49-F238E27FC236}">
                <a16:creationId xmlns:a16="http://schemas.microsoft.com/office/drawing/2014/main" id="{082BE5D5-FF80-481F-AA5C-65D57FD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29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8bbd7cc5a41645f4"/>
              </a:rPr>
              <a:t>仕様書</a:t>
            </a:r>
          </a:p>
        </p:txBody>
      </p:sp>
      <p:sp>
        <p:nvSpPr>
          <p:cNvPr id="24" name="14">
            <a:extLst xmlns:a="http://schemas.openxmlformats.org/drawingml/2006/main">
              <a:ext uri="{FF2B5EF4-FFF2-40B4-BE49-F238E27FC236}">
                <a16:creationId xmlns:a16="http://schemas.microsoft.com/office/drawing/2014/main" id="{4925956D-6AF3-45DF-AB58-6FA8301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62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25" name="バグハンターをプレイ">
            <a:extLst xmlns:a="http://schemas.openxmlformats.org/drawingml/2006/main">
              <a:ext uri="{FF2B5EF4-FFF2-40B4-BE49-F238E27FC236}">
                <a16:creationId xmlns:a16="http://schemas.microsoft.com/office/drawing/2014/main" id="{F90C7FEF-9543-48FA-A983-3F0A79A4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01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462daf7d4be4a1f"/>
              </a:rPr>
              <a:t>バグハンターをプレイ</a:t>
            </a:r>
          </a:p>
        </p:txBody>
      </p:sp>
      <p:sp>
        <p:nvSpPr>
          <p:cNvPr id="26" name="企画書">
            <a:extLst xmlns:a="http://schemas.openxmlformats.org/drawingml/2006/main">
              <a:ext uri="{FF2B5EF4-FFF2-40B4-BE49-F238E27FC236}">
                <a16:creationId xmlns:a16="http://schemas.microsoft.com/office/drawing/2014/main" id="{D81524B4-EDCD-4B28-B157-230E9CFD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101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560478f1f93b413e"/>
              </a:rPr>
              <a:t>企画書</a:t>
            </a:r>
          </a:p>
        </p:txBody>
      </p:sp>
      <p:sp>
        <p:nvSpPr>
          <p:cNvPr id="27" name="5分ダンジョンの企画書">
            <a:extLst xmlns:a="http://schemas.openxmlformats.org/drawingml/2006/main">
              <a:ext uri="{FF2B5EF4-FFF2-40B4-BE49-F238E27FC236}">
                <a16:creationId xmlns:a16="http://schemas.microsoft.com/office/drawing/2014/main" id="{1B3B72F8-86BC-4818-B7F0-B38347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340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0b199ade664a4563"/>
              </a:rPr>
              <a:t>5分ダンジョンの企画書</a:t>
            </a:r>
          </a:p>
        </p:txBody>
      </p:sp>
      <p:sp>
        <p:nvSpPr>
          <p:cNvPr id="28" name="せいぶつマスターの企画書">
            <a:extLst xmlns:a="http://schemas.openxmlformats.org/drawingml/2006/main">
              <a:ext uri="{FF2B5EF4-FFF2-40B4-BE49-F238E27FC236}">
                <a16:creationId xmlns:a16="http://schemas.microsoft.com/office/drawing/2014/main" id="{90929CB9-93C7-48B6-B215-3CF06402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34075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a51a92eca8ec4520"/>
              </a:rPr>
              <a:t>せいぶつマスターの企画書</a:t>
            </a:r>
          </a:p>
        </p:txBody>
      </p:sp>
      <p:sp>
        <p:nvSpPr>
          <p:cNvPr id="29" name="17 / 18">
            <a:extLst xmlns:a="http://schemas.openxmlformats.org/drawingml/2006/main">
              <a:ext uri="{FF2B5EF4-FFF2-40B4-BE49-F238E27FC236}">
                <a16:creationId xmlns:a16="http://schemas.microsoft.com/office/drawing/2014/main" id="{C91E94AD-06F2-426E-960C-46EE674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17 / 18</a:t>
            </a:r>
          </a:p>
        </p:txBody>
      </p:sp>
      <p:sp>
        <p:nvSpPr>
          <p:cNvPr id="30" name="次：島本 善太">
            <a:extLst xmlns:a="http://schemas.openxmlformats.org/drawingml/2006/main">
              <a:ext uri="{FF2B5EF4-FFF2-40B4-BE49-F238E27FC236}">
                <a16:creationId xmlns:a16="http://schemas.microsoft.com/office/drawing/2014/main" id="{FA36DAA2-9136-4AA5-9D1D-004FA26F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次：島本 善太</a:t>
            </a:r>
          </a:p>
        </p:txBody>
      </p:sp>
    </p:spTree>
    <p:extLst>
      <p:ext uri="{BB962C8B-B14F-4D97-AF65-F5344CB8AC3E}">
        <p14:creationId xmlns:p14="http://schemas.microsoft.com/office/powerpoint/2010/main" val="2047546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島本 善太">
            <a:extLst xmlns:a="http://schemas.openxmlformats.org/drawingml/2006/main">
              <a:ext uri="{FF2B5EF4-FFF2-40B4-BE49-F238E27FC236}">
                <a16:creationId xmlns:a16="http://schemas.microsoft.com/office/drawing/2014/main" id="{F908B168-DF4B-4774-B188-5CFBC2D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8242D"/>
                </a:solidFill>
                <a:latin typeface="Meiryo"/>
                <a:ea typeface="Meiryo"/>
                <a:cs typeface="Meiryo"/>
              </a:rPr>
              <a:t>島本 善太</a:t>
            </a:r>
          </a:p>
        </p:txBody>
      </p:sp>
      <p:sp>
        <p:nvSpPr>
          <p:cNvPr id="2" name="しまもと ぜんた / ゲームプランナー志望">
            <a:extLst xmlns:a="http://schemas.openxmlformats.org/drawingml/2006/main">
              <a:ext uri="{FF2B5EF4-FFF2-40B4-BE49-F238E27FC236}">
                <a16:creationId xmlns:a16="http://schemas.microsoft.com/office/drawing/2014/main" id="{21D9176E-BC1C-471F-B556-A4556B53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55BC1"/>
                </a:solidFill>
                <a:latin typeface="Meiryo"/>
                <a:ea typeface="Meiryo"/>
                <a:cs typeface="Meiryo"/>
              </a:rPr>
              <a:t>しまもと ぜんた / ゲームプランナー志望</a:t>
            </a:r>
          </a:p>
        </p:txBody>
      </p:sp>
      <p:sp>
        <p:nvSpPr>
          <p:cNvPr id="3" name="札幌デザイン＆テクノロジー専門学校&#10;スーパーゲームクリエ">
            <a:extLst xmlns:a="http://schemas.openxmlformats.org/drawingml/2006/main">
              <a:ext uri="{FF2B5EF4-FFF2-40B4-BE49-F238E27FC236}">
                <a16:creationId xmlns:a16="http://schemas.microsoft.com/office/drawing/2014/main" id="{8416AA74-6A4F-432F-A1DB-4C0D529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札幌デザイン＆テクノロジー専門学校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スーパーゲームクリエーター専攻（4年制）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2024年入学・2028年卒業予定</a:t>
            </a:r>
          </a:p>
        </p:txBody>
      </p:sp>
      <p:sp>
        <p:nvSpPr>
          <p:cNvPr id="4" name="考えた遊びを、仲間と形にできるプランナーになりたい。">
            <a:extLst xmlns:a="http://schemas.openxmlformats.org/drawingml/2006/main">
              <a:ext uri="{FF2B5EF4-FFF2-40B4-BE49-F238E27FC236}">
                <a16:creationId xmlns:a16="http://schemas.microsoft.com/office/drawing/2014/main" id="{47E58498-AEB0-46C7-B511-93FFDA1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55BC1"/>
                </a:solidFill>
                <a:latin typeface="Meiryo"/>
                <a:ea typeface="Meiryo"/>
                <a:cs typeface="Meiryo"/>
              </a:rPr>
              <a:t>考えた遊びを、仲間と形にできるプランナーになりたい。</a:t>
            </a:r>
          </a:p>
        </p:txBody>
      </p:sp>
      <p:sp>
        <p:nvSpPr>
          <p:cNvPr id="5" name="独学で企画を学び、企画書や仕様書にまとめることに取り組ん">
            <a:extLst xmlns:a="http://schemas.openxmlformats.org/drawingml/2006/main">
              <a:ext uri="{FF2B5EF4-FFF2-40B4-BE49-F238E27FC236}">
                <a16:creationId xmlns:a16="http://schemas.microsoft.com/office/drawing/2014/main" id="{7DC7FD5E-1D14-4103-A080-03127B2D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独学で企画を学び、企画書や仕様書にまとめることに取り組んできました。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8242D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8242D"/>
                </a:solidFill>
                <a:latin typeface="Meiryo"/>
                <a:ea typeface="Meiryo"/>
                <a:cs typeface="Meiryo"/>
              </a:rPr>
              <a:t>これからは、自分の考えをもっとわかりやすく伝えられるようになりたいです。</a:t>
            </a:r>
          </a:p>
        </p:txBody>
      </p:sp>
      <p:sp>
        <p:nvSpPr>
          <p:cNvPr id="6" name="shimachan.z@icloud.com">
            <a:extLst xmlns:a="http://schemas.openxmlformats.org/drawingml/2006/main">
              <a:ext uri="{FF2B5EF4-FFF2-40B4-BE49-F238E27FC236}">
                <a16:creationId xmlns:a16="http://schemas.microsoft.com/office/drawing/2014/main" id="{5F2C0A13-4863-40D2-A990-A1E69646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1dc2a52f565b4a3b"/>
              </a:rPr>
              <a:t>shimachan.z@icloud.com</a:t>
            </a:r>
          </a:p>
        </p:txBody>
      </p:sp>
      <p:sp>
        <p:nvSpPr>
          <p:cNvPr id="7" name="kuon-haruto.github.io/portfo">
            <a:extLst xmlns:a="http://schemas.openxmlformats.org/drawingml/2006/main">
              <a:ext uri="{FF2B5EF4-FFF2-40B4-BE49-F238E27FC236}">
                <a16:creationId xmlns:a16="http://schemas.microsoft.com/office/drawing/2014/main" id="{CEF41886-8AAA-41CD-9313-D1F2CA28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55BC1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55BC1"/>
                </a:solidFill>
                <a:latin typeface="Meiryo"/>
                <a:ea typeface="Meiryo"/>
                <a:cs typeface="Meiryo"/>
                <a:hlinkClick xmlns:r="http://schemas.openxmlformats.org/officeDocument/2006/relationships" r:id="Rf46bce6cc1a945d5"/>
              </a:rPr>
              <a:t>kuon-haruto.github.io/portfolio/</a:t>
            </a:r>
          </a:p>
        </p:txBody>
      </p:sp>
      <p:sp>
        <p:nvSpPr>
          <p:cNvPr id="8" name="18 / 18">
            <a:extLst xmlns:a="http://schemas.openxmlformats.org/drawingml/2006/main">
              <a:ext uri="{FF2B5EF4-FFF2-40B4-BE49-F238E27FC236}">
                <a16:creationId xmlns:a16="http://schemas.microsoft.com/office/drawing/2014/main" id="{B80D0372-D641-4704-9E59-DEEA8A45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865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5657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56571"/>
                </a:solidFill>
                <a:latin typeface="Meiryo"/>
                <a:ea typeface="Meiryo"/>
                <a:cs typeface="Meiryo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313493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2026-10-09T09:33:49.4740000Z</dcterms:created>
  <dcterms:modified xsi:type="dcterms:W3CDTF">2026-10-09T09:33:49.4740000Z</dcterms:modified>
</coreProperties>
</file>