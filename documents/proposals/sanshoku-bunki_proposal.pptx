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d8f6a7a9a04b37" /><Relationship Type="http://schemas.openxmlformats.org/officeDocument/2006/relationships/extended-properties" Target="/docProps/app.xml" Id="Re9a47bd2ce634be2" /><Relationship Type="http://schemas.openxmlformats.org/officeDocument/2006/relationships/officeDocument" Target="/ppt/presentation.xml" Id="Ra94b3861c0804a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d268c665094b2f"/>
  </p:sldMasterIdLst>
  <p:notesMasterIdLst>
    <p:notesMasterId xmlns:r="http://schemas.openxmlformats.org/officeDocument/2006/relationships" r:id="R4d66ee087bb74ddd"/>
  </p:notesMasterIdLst>
  <p:sldIdLst>
    <p:sldId xmlns:r="http://schemas.openxmlformats.org/officeDocument/2006/relationships" id="256" r:id="Rce66f005afa94ffe"/>
    <p:sldId xmlns:r="http://schemas.openxmlformats.org/officeDocument/2006/relationships" id="257" r:id="R119a1bbbe4e8441b"/>
    <p:sldId xmlns:r="http://schemas.openxmlformats.org/officeDocument/2006/relationships" id="258" r:id="Rc0fa10ef08ab4461"/>
    <p:sldId xmlns:r="http://schemas.openxmlformats.org/officeDocument/2006/relationships" id="259" r:id="R7c220f1b9b914fe8"/>
    <p:sldId xmlns:r="http://schemas.openxmlformats.org/officeDocument/2006/relationships" id="260" r:id="R495573a036954bab"/>
    <p:sldId xmlns:r="http://schemas.openxmlformats.org/officeDocument/2006/relationships" id="261" r:id="R3a0709c6e3de4e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90691f27a24e6f" /><Relationship Type="http://schemas.openxmlformats.org/officeDocument/2006/relationships/slideMaster" Target="/ppt/slideMasters/slideMaster1.xml" Id="R1bd268c665094b2f" /><Relationship Type="http://schemas.openxmlformats.org/officeDocument/2006/relationships/notesMaster" Target="/ppt/notesMasters/notesMaster1.xml" Id="R4d66ee087bb74ddd" /><Relationship Type="http://schemas.openxmlformats.org/officeDocument/2006/relationships/presProps" Target="/ppt/presProps.xml" Id="Rc980c342c05e4851" /><Relationship Type="http://schemas.openxmlformats.org/officeDocument/2006/relationships/tableStyles" Target="/ppt/tableStyles.xml" Id="R21ba157b57c74c69" /><Relationship Type="http://schemas.openxmlformats.org/officeDocument/2006/relationships/slide" Target="/ppt/slides/slide1.xml" Id="Rce66f005afa94ffe" /><Relationship Type="http://schemas.openxmlformats.org/officeDocument/2006/relationships/slide" Target="/ppt/slides/slide2.xml" Id="R119a1bbbe4e8441b" /><Relationship Type="http://schemas.openxmlformats.org/officeDocument/2006/relationships/slide" Target="/ppt/slides/slide3.xml" Id="Rc0fa10ef08ab4461" /><Relationship Type="http://schemas.openxmlformats.org/officeDocument/2006/relationships/slide" Target="/ppt/slides/slide4.xml" Id="R7c220f1b9b914fe8" /><Relationship Type="http://schemas.openxmlformats.org/officeDocument/2006/relationships/slide" Target="/ppt/slides/slide5.xml" Id="R495573a036954bab" /><Relationship Type="http://schemas.openxmlformats.org/officeDocument/2006/relationships/slide" Target="/ppt/slides/slide6.xml" Id="R3a0709c6e3de4e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c60c0579d648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三色の分岐係">
      <a:dk1>
        <a:srgbClr val="111111"/>
      </a:dk1>
      <a:lt1>
        <a:srgbClr val="FFFFFF"/>
      </a:lt1>
      <a:dk2>
        <a:srgbClr val="222222"/>
      </a:dk2>
      <a:lt2>
        <a:srgbClr val="EEEEEE"/>
      </a:lt2>
      <a:accent1>
        <a:srgbClr val="2364AD"/>
      </a:accent1>
      <a:accent2>
        <a:srgbClr val="24B6AC"/>
      </a:accent2>
      <a:accent3>
        <a:srgbClr val="FBD069"/>
      </a:accent3>
      <a:accent4>
        <a:srgbClr val="E85166"/>
      </a:accent4>
      <a:accent5>
        <a:srgbClr val="8F78CD"/>
      </a:accent5>
      <a:accent6>
        <a:srgbClr val="4B985A"/>
      </a:accent6>
      <a:hlink>
        <a:srgbClr val="2364AD"/>
      </a:hlink>
      <a:folHlink>
        <a:srgbClr val="2364AD"/>
      </a:folHlink>
    </a:clrScheme>
    <a:fontScheme name="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三色の分岐係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67f6162ddf4436" /><Relationship Type="http://schemas.openxmlformats.org/officeDocument/2006/relationships/notesMaster" Target="/ppt/notesMasters/notesMaster1.xml" Id="R5c1ac14a33ca40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01925a8e504b02" /><Relationship Type="http://schemas.openxmlformats.org/officeDocument/2006/relationships/notesMaster" Target="/ppt/notesMasters/notesMaster1.xml" Id="Rfb27b8305b0146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2dd9216e3f45c7" /><Relationship Type="http://schemas.openxmlformats.org/officeDocument/2006/relationships/notesMaster" Target="/ppt/notesMasters/notesMaster1.xml" Id="Rfa4cf731ff2740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8610a5db474623" /><Relationship Type="http://schemas.openxmlformats.org/officeDocument/2006/relationships/notesMaster" Target="/ppt/notesMasters/notesMaster1.xml" Id="Re4729fa2906e48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1359806d934f89" /><Relationship Type="http://schemas.openxmlformats.org/officeDocument/2006/relationships/notesMaster" Target="/ppt/notesMasters/notesMaster1.xml" Id="R37fddfe23c084d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748c0d02764800" /><Relationship Type="http://schemas.openxmlformats.org/officeDocument/2006/relationships/notesMaster" Target="/ppt/notesMasters/notesMaster1.xml" Id="Rc00768388df54b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根拠資料</a:t>
            </a:r>
          </a:p>
          <a:p xmlns:a="http://schemas.openxmlformats.org/drawingml/2006/main">
            <a:r>
              <a:t>作品紹介：src/sections/works.html #game-sanshoku-bunki</a:t>
            </a:r>
          </a:p>
          <a:p xmlns:a="http://schemas.openxmlformats.org/drawingml/2006/main">
            <a:r>
              <a:t>実装：D:/三色分岐/Assets/Scripts/Luggage/RouteJudge.cs、UpJudge.cs、Core/Manager/HPManager.cs</a:t>
            </a:r>
          </a:p>
          <a:p xmlns:a="http://schemas.openxmlformats.org/drawingml/2006/main">
            <a:r>
              <a:t>掲載画像：D:/三色分岐/Assets/Images/Background、Item、Tutorial の既存素材</a:t>
            </a:r>
          </a:p>
          <a:p xmlns:a="http://schemas.openxmlformats.org/drawingml/2006/main">
            <a:r>
              <a:t>制作人数5人・担当：利用者確認。公開先：https://unityroom.com/games/sansyokunobunkigakari</a:t>
            </a:r>
          </a:p>
          <a:p xmlns:a="http://schemas.openxmlformats.org/drawingml/2006/main">
            <a:r>
              <a:t>想定プレイヤー・企画の狙いは提案上の位置付け。市場調査の結果ではありません。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根拠資料</a:t>
            </a:r>
          </a:p>
          <a:p xmlns:a="http://schemas.openxmlformats.org/drawingml/2006/main">
            <a:r>
              <a:t>作品紹介：src/sections/works.html #game-sanshoku-bunki</a:t>
            </a:r>
          </a:p>
          <a:p xmlns:a="http://schemas.openxmlformats.org/drawingml/2006/main">
            <a:r>
              <a:t>実装：D:/三色分岐/Assets/Scripts/Luggage/RouteJudge.cs、UpJudge.cs、Core/Manager/HPManager.cs</a:t>
            </a:r>
          </a:p>
          <a:p xmlns:a="http://schemas.openxmlformats.org/drawingml/2006/main">
            <a:r>
              <a:t>掲載画像：D:/三色分岐/Assets/Images/Background、Item、Tutorial の既存素材</a:t>
            </a:r>
          </a:p>
          <a:p xmlns:a="http://schemas.openxmlformats.org/drawingml/2006/main">
            <a:r>
              <a:t>制作人数5人・担当：利用者確認。公開先：https://unityroom.com/games/sansyokunobunkigakari</a:t>
            </a:r>
          </a:p>
          <a:p xmlns:a="http://schemas.openxmlformats.org/drawingml/2006/main">
            <a:r>
              <a:t>想定プレイヤー・企画の狙いは提案上の位置付け。市場調査の結果ではありません。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根拠資料</a:t>
            </a:r>
          </a:p>
          <a:p xmlns:a="http://schemas.openxmlformats.org/drawingml/2006/main">
            <a:r>
              <a:t>作品紹介：src/sections/works.html #game-sanshoku-bunki</a:t>
            </a:r>
          </a:p>
          <a:p xmlns:a="http://schemas.openxmlformats.org/drawingml/2006/main">
            <a:r>
              <a:t>実装：D:/三色分岐/Assets/Scripts/Luggage/RouteJudge.cs、UpJudge.cs、Core/Manager/HPManager.cs</a:t>
            </a:r>
          </a:p>
          <a:p xmlns:a="http://schemas.openxmlformats.org/drawingml/2006/main">
            <a:r>
              <a:t>掲載画像：D:/三色分岐/Assets/Images/Background、Item、Tutorial の既存素材</a:t>
            </a:r>
          </a:p>
          <a:p xmlns:a="http://schemas.openxmlformats.org/drawingml/2006/main">
            <a:r>
              <a:t>制作人数5人・担当：利用者確認。公開先：https://unityroom.com/games/sansyokunobunkigakari</a:t>
            </a:r>
          </a:p>
          <a:p xmlns:a="http://schemas.openxmlformats.org/drawingml/2006/main">
            <a:r>
              <a:t>想定プレイヤー・企画の狙いは提案上の位置付け。市場調査の結果ではありません。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根拠資料</a:t>
            </a:r>
          </a:p>
          <a:p xmlns:a="http://schemas.openxmlformats.org/drawingml/2006/main">
            <a:r>
              <a:t>作品紹介：src/sections/works.html #game-sanshoku-bunki</a:t>
            </a:r>
          </a:p>
          <a:p xmlns:a="http://schemas.openxmlformats.org/drawingml/2006/main">
            <a:r>
              <a:t>実装：D:/三色分岐/Assets/Scripts/Luggage/RouteJudge.cs、UpJudge.cs、Core/Manager/HPManager.cs</a:t>
            </a:r>
          </a:p>
          <a:p xmlns:a="http://schemas.openxmlformats.org/drawingml/2006/main">
            <a:r>
              <a:t>掲載画像：D:/三色分岐/Assets/Images/Background、Item、Tutorial の既存素材</a:t>
            </a:r>
          </a:p>
          <a:p xmlns:a="http://schemas.openxmlformats.org/drawingml/2006/main">
            <a:r>
              <a:t>制作人数5人・担当：利用者確認。公開先：https://unityroom.com/games/sansyokunobunkigakari</a:t>
            </a:r>
          </a:p>
          <a:p xmlns:a="http://schemas.openxmlformats.org/drawingml/2006/main">
            <a:r>
              <a:t>想定プレイヤー・企画の狙いは提案上の位置付け。市場調査の結果ではありません。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根拠資料</a:t>
            </a:r>
          </a:p>
          <a:p xmlns:a="http://schemas.openxmlformats.org/drawingml/2006/main">
            <a:r>
              <a:t>作品紹介：src/sections/works.html #game-sanshoku-bunki</a:t>
            </a:r>
          </a:p>
          <a:p xmlns:a="http://schemas.openxmlformats.org/drawingml/2006/main">
            <a:r>
              <a:t>実装：D:/三色分岐/Assets/Scripts/Luggage/RouteJudge.cs、UpJudge.cs、Core/Manager/HPManager.cs</a:t>
            </a:r>
          </a:p>
          <a:p xmlns:a="http://schemas.openxmlformats.org/drawingml/2006/main">
            <a:r>
              <a:t>掲載画像：D:/三色分岐/Assets/Images/Background、Item、Tutorial の既存素材</a:t>
            </a:r>
          </a:p>
          <a:p xmlns:a="http://schemas.openxmlformats.org/drawingml/2006/main">
            <a:r>
              <a:t>制作人数5人・担当：利用者確認。公開先：https://unityroom.com/games/sansyokunobunkigakari</a:t>
            </a:r>
          </a:p>
          <a:p xmlns:a="http://schemas.openxmlformats.org/drawingml/2006/main">
            <a:r>
              <a:t>想定プレイヤー・企画の狙いは提案上の位置付け。市場調査の結果ではありません。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根拠資料</a:t>
            </a:r>
          </a:p>
          <a:p xmlns:a="http://schemas.openxmlformats.org/drawingml/2006/main">
            <a:r>
              <a:t>作品紹介：src/sections/works.html #game-sanshoku-bunki</a:t>
            </a:r>
          </a:p>
          <a:p xmlns:a="http://schemas.openxmlformats.org/drawingml/2006/main">
            <a:r>
              <a:t>実装：D:/三色分岐/Assets/Scripts/Luggage/RouteJudge.cs、UpJudge.cs、Core/Manager/HPManager.cs</a:t>
            </a:r>
          </a:p>
          <a:p xmlns:a="http://schemas.openxmlformats.org/drawingml/2006/main">
            <a:r>
              <a:t>掲載画像：D:/三色分岐/Assets/Images/Background、Item、Tutorial の既存素材</a:t>
            </a:r>
          </a:p>
          <a:p xmlns:a="http://schemas.openxmlformats.org/drawingml/2006/main">
            <a:r>
              <a:t>制作人数5人・担当：利用者確認。公開先：https://unityroom.com/games/sansyokunobunkigakari</a:t>
            </a:r>
          </a:p>
          <a:p xmlns:a="http://schemas.openxmlformats.org/drawingml/2006/main">
            <a:r>
              <a:t>想定プレイヤー・企画の狙いは提案上の位置付け。市場調査の結果ではありません。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3546176054d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1c13663fe49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a0c247fe1440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657e93ae3841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baaf7cb9148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0ff3a6bdf4e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4CC125-D93D-4671-87A9-8F92029E3D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842D52D-5A96-45C1-972C-BE2E9A908B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910D6C-45BF-49ED-9097-6B4E460F29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D69810-6A71-460F-8D8C-F36D4FF91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BCD2FB-B021-4A82-A4E5-E95B996151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C8416A-71DF-4483-A230-5D50F57936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A3566A-0695-4ED8-B556-029E5C2184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E656AC-C785-470A-A98D-C39D08A215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07D679-5D06-4423-B68D-1FD1D8087F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ED4ECB-01DC-4418-9C44-C5A7155595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44578b243a4a15" /><Relationship Type="http://schemas.openxmlformats.org/officeDocument/2006/relationships/slideLayout" Target="/ppt/slideLayouts/slideLayout1.xml" Id="R5c74449a07f14090" /><Relationship Type="http://schemas.openxmlformats.org/officeDocument/2006/relationships/slideLayout" Target="/ppt/slideLayouts/slideLayout2.xml" Id="R74e9aaccdfa0479d" /><Relationship Type="http://schemas.openxmlformats.org/officeDocument/2006/relationships/slideLayout" Target="/ppt/slideLayouts/slideLayout3.xml" Id="R7466e0938a4a4cea" /><Relationship Type="http://schemas.openxmlformats.org/officeDocument/2006/relationships/slideLayout" Target="/ppt/slideLayouts/slideLayout4.xml" Id="R61cb7b129f844e9f" /><Relationship Type="http://schemas.openxmlformats.org/officeDocument/2006/relationships/slideLayout" Target="/ppt/slideLayouts/slideLayout5.xml" Id="R16be1751c11a49a6" /><Relationship Type="http://schemas.openxmlformats.org/officeDocument/2006/relationships/slideLayout" Target="/ppt/slideLayouts/slideLayout6.xml" Id="R4b9668541bc141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74449a07f14090"/>
    <p:sldLayoutId xmlns:r="http://schemas.openxmlformats.org/officeDocument/2006/relationships" id="2147483650" r:id="R74e9aaccdfa0479d"/>
    <p:sldLayoutId xmlns:r="http://schemas.openxmlformats.org/officeDocument/2006/relationships" id="2147483651" r:id="R7466e0938a4a4cea"/>
    <p:sldLayoutId xmlns:r="http://schemas.openxmlformats.org/officeDocument/2006/relationships" id="2147483652" r:id="R61cb7b129f844e9f"/>
    <p:sldLayoutId xmlns:r="http://schemas.openxmlformats.org/officeDocument/2006/relationships" id="2147483653" r:id="R16be1751c11a49a6"/>
    <p:sldLayoutId xmlns:r="http://schemas.openxmlformats.org/officeDocument/2006/relationships" id="2147483654" r:id="R4b9668541bc141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三色の分岐係">
      <a:dk1>
        <a:srgbClr val="111111"/>
      </a:dk1>
      <a:lt1>
        <a:srgbClr val="FFFFFF"/>
      </a:lt1>
      <a:dk2>
        <a:srgbClr val="222222"/>
      </a:dk2>
      <a:lt2>
        <a:srgbClr val="EEEEEE"/>
      </a:lt2>
      <a:accent1>
        <a:srgbClr val="2364AD"/>
      </a:accent1>
      <a:accent2>
        <a:srgbClr val="24B6AC"/>
      </a:accent2>
      <a:accent3>
        <a:srgbClr val="FBD069"/>
      </a:accent3>
      <a:accent4>
        <a:srgbClr val="E85166"/>
      </a:accent4>
      <a:accent5>
        <a:srgbClr val="8F78CD"/>
      </a:accent5>
      <a:accent6>
        <a:srgbClr val="4B985A"/>
      </a:accent6>
      <a:hlink>
        <a:srgbClr val="2364AD"/>
      </a:hlink>
      <a:folHlink>
        <a:srgbClr val="2364AD"/>
      </a:folHlink>
    </a:clrScheme>
    <a:fontScheme name="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三色の分岐係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0c4d22b48491d" /><Relationship Type="http://schemas.openxmlformats.org/officeDocument/2006/relationships/image" Target="/ppt/media/image.png" Id="R705fa155b99840b1" /><Relationship Type="http://schemas.openxmlformats.org/officeDocument/2006/relationships/notesSlide" Target="/ppt/notesSlides/notesSlide1.xml" Id="Ra33dfc9cd1cc49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527fa91eb14dc9" /><Relationship Type="http://schemas.openxmlformats.org/officeDocument/2006/relationships/image" Target="/ppt/media/image2.png" Id="R1ac669609d9c4201" /><Relationship Type="http://schemas.openxmlformats.org/officeDocument/2006/relationships/notesSlide" Target="/ppt/notesSlides/notesSlide2.xml" Id="Ra65ab421cbc347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3a2f318cdb49b1" /><Relationship Type="http://schemas.openxmlformats.org/officeDocument/2006/relationships/image" Target="/ppt/media/image3.png" Id="R386c7190430f4bbf" /><Relationship Type="http://schemas.openxmlformats.org/officeDocument/2006/relationships/image" Target="/ppt/media/image4.png" Id="R6ccf278096574e98" /><Relationship Type="http://schemas.openxmlformats.org/officeDocument/2006/relationships/notesSlide" Target="/ppt/notesSlides/notesSlide3.xml" Id="Rd1b7b726e20249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b1efc16990406a" /><Relationship Type="http://schemas.openxmlformats.org/officeDocument/2006/relationships/image" Target="/ppt/media/image5.png" Id="R9be30d474c3c4d24" /><Relationship Type="http://schemas.openxmlformats.org/officeDocument/2006/relationships/image" Target="/ppt/media/image6.png" Id="R221e4239f6114e74" /><Relationship Type="http://schemas.openxmlformats.org/officeDocument/2006/relationships/notesSlide" Target="/ppt/notesSlides/notesSlide4.xml" Id="R2d206d51ea714f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90f073abb43b9" /><Relationship Type="http://schemas.openxmlformats.org/officeDocument/2006/relationships/image" Target="/ppt/media/image7.png" Id="R4c724bc3e9db480e" /><Relationship Type="http://schemas.openxmlformats.org/officeDocument/2006/relationships/notesSlide" Target="/ppt/notesSlides/notesSlide5.xml" Id="Rb0cca1f22ae748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571b5d67ae45a2" /><Relationship Type="http://schemas.openxmlformats.org/officeDocument/2006/relationships/image" Target="/ppt/media/image8.png" Id="R03faa02bc3764b53" /><Relationship Type="http://schemas.openxmlformats.org/officeDocument/2006/relationships/hyperlink" Target="https://unityroom.com/games/sansyokunobunkigakari" TargetMode="External" Id="Raa6ac3b42b014ac0" /><Relationship Type="http://schemas.openxmlformats.org/officeDocument/2006/relationships/notesSlide" Target="/ppt/notesSlides/notesSlide6.xml" Id="R34021abf5dfd4a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三色の分岐係">
            <a:extLst xmlns:a="http://schemas.openxmlformats.org/drawingml/2006/main">
              <a:ext uri="{FF2B5EF4-FFF2-40B4-BE49-F238E27FC236}">
                <a16:creationId xmlns:a16="http://schemas.microsoft.com/office/drawing/2014/main" id="{A02A6EE5-7513-4466-8447-D9ACA33E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202D36"/>
                </a:solidFill>
                <a:latin typeface="Meiryo"/>
                <a:ea typeface="Meiryo"/>
                <a:cs typeface="Meiryo"/>
              </a:rPr>
              <a:t>三色の分岐係</a:t>
            </a:r>
          </a:p>
        </p:txBody>
      </p:sp>
      <p:sp>
        <p:nvSpPr>
          <p:cNvPr id="2" name="品物を見分け、分岐を切り替える仕分けアクション">
            <a:extLst xmlns:a="http://schemas.openxmlformats.org/drawingml/2006/main">
              <a:ext uri="{FF2B5EF4-FFF2-40B4-BE49-F238E27FC236}">
                <a16:creationId xmlns:a16="http://schemas.microsoft.com/office/drawing/2014/main" id="{D6679D04-12E8-4D18-96BC-B9BE3405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364AD"/>
                </a:solidFill>
                <a:latin typeface="Meiryo"/>
                <a:ea typeface="Meiryo"/>
                <a:cs typeface="Meiryo"/>
              </a:rPr>
              <a:t>品物を見分け、分岐を切り替える仕分けアクション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7D6CD-A310-4BC3-815C-567983F977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fa155b99840b1"/>
          <a:stretch xmlns:a="http://schemas.openxmlformats.org/drawingml/2006/main"/>
        </p:blipFill>
        <p:spPr>
          <a:xfrm xmlns:a="http://schemas.openxmlformats.org/drawingml/2006/main">
            <a:off x="614363" y="1771650"/>
            <a:ext cx="6315075" cy="4210050"/>
          </a:xfrm>
          <a:prstGeom xmlns:a="http://schemas.openxmlformats.org/drawingml/2006/main" prst="rect">
            <a:avLst/>
          </a:prstGeom>
        </p:spPr>
      </p:pic>
      <p:sp>
        <p:nvSpPr>
          <p:cNvPr id="4" name="種類だけでは&#10;決められない。">
            <a:extLst xmlns:a="http://schemas.openxmlformats.org/drawingml/2006/main">
              <a:ext uri="{FF2B5EF4-FFF2-40B4-BE49-F238E27FC236}">
                <a16:creationId xmlns:a16="http://schemas.microsoft.com/office/drawing/2014/main" id="{42D0C52B-3430-4DF7-A0A5-487F3432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57400"/>
            <a:ext cx="4038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322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322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322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322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322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322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322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322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322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22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3225" b="1">
                <a:solidFill>
                  <a:srgbClr val="202D36"/>
                </a:solidFill>
                <a:latin typeface="Meiryo"/>
                <a:ea typeface="Meiryo"/>
                <a:cs typeface="Meiryo"/>
              </a:rPr>
              <a:t>種類だけでは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322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3225" b="1">
                <a:solidFill>
                  <a:srgbClr val="202D36"/>
                </a:solidFill>
                <a:latin typeface="Meiryo"/>
                <a:ea typeface="Meiryo"/>
                <a:cs typeface="Meiryo"/>
              </a:rPr>
              <a:t>決められない。</a:t>
            </a:r>
          </a:p>
        </p:txBody>
      </p:sp>
      <p:sp>
        <p:nvSpPr>
          <p:cNvPr id="5" name="流れてきた品物を見て、&#10;正しいレーンへ。&#10;壊れていたら、&#10;仕分けずに送り">
            <a:extLst xmlns:a="http://schemas.openxmlformats.org/drawingml/2006/main">
              <a:ext uri="{FF2B5EF4-FFF2-40B4-BE49-F238E27FC236}">
                <a16:creationId xmlns:a16="http://schemas.microsoft.com/office/drawing/2014/main" id="{F4A98CCB-B6FA-43BC-BA71-58D01422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67125"/>
            <a:ext cx="4038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2175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2175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2175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2175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2175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2175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2175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2175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2175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75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流れてきた品物を見て、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2175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正しいレーンへ。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2175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壊れていたら、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2175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仕分けずに送り返す。</a:t>
            </a:r>
          </a:p>
        </p:txBody>
      </p:sp>
      <p:sp>
        <p:nvSpPr>
          <p:cNvPr id="6" name="制作人数：5人 / Unity 6&#10;企画書作成：島本善太">
            <a:extLst xmlns:a="http://schemas.openxmlformats.org/drawingml/2006/main">
              <a:ext uri="{FF2B5EF4-FFF2-40B4-BE49-F238E27FC236}">
                <a16:creationId xmlns:a16="http://schemas.microsoft.com/office/drawing/2014/main" id="{0E383FCA-2C19-43BC-8F3F-FD2B2025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19750"/>
            <a:ext cx="4038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16D"/>
                </a:solidFill>
                <a:latin typeface="Meiryo"/>
                <a:ea typeface="Meiryo"/>
                <a:cs typeface="Meiryo"/>
              </a:defRPr>
            </a:defPPr>
            <a:lvl1pPr>
              <a:defRPr sz="1650" b="0">
                <a:solidFill>
                  <a:srgbClr val="53616D"/>
                </a:solidFill>
                <a:latin typeface="Meiryo"/>
                <a:ea typeface="Meiryo"/>
                <a:cs typeface="Meiryo"/>
              </a:defRPr>
            </a:lvl1pPr>
            <a:lvl2pPr>
              <a:defRPr sz="1650" b="0">
                <a:solidFill>
                  <a:srgbClr val="53616D"/>
                </a:solidFill>
                <a:latin typeface="Meiryo"/>
                <a:ea typeface="Meiryo"/>
                <a:cs typeface="Meiryo"/>
              </a:defRPr>
            </a:lvl2pPr>
            <a:lvl3pPr>
              <a:defRPr sz="1650" b="0">
                <a:solidFill>
                  <a:srgbClr val="53616D"/>
                </a:solidFill>
                <a:latin typeface="Meiryo"/>
                <a:ea typeface="Meiryo"/>
                <a:cs typeface="Meiryo"/>
              </a:defRPr>
            </a:lvl3pPr>
            <a:lvl4pPr>
              <a:defRPr sz="1650" b="0">
                <a:solidFill>
                  <a:srgbClr val="53616D"/>
                </a:solidFill>
                <a:latin typeface="Meiryo"/>
                <a:ea typeface="Meiryo"/>
                <a:cs typeface="Meiryo"/>
              </a:defRPr>
            </a:lvl4pPr>
            <a:lvl5pPr>
              <a:defRPr sz="1650" b="0">
                <a:solidFill>
                  <a:srgbClr val="53616D"/>
                </a:solidFill>
                <a:latin typeface="Meiryo"/>
                <a:ea typeface="Meiryo"/>
                <a:cs typeface="Meiryo"/>
              </a:defRPr>
            </a:lvl5pPr>
            <a:lvl6pPr>
              <a:defRPr sz="1650" b="0">
                <a:solidFill>
                  <a:srgbClr val="53616D"/>
                </a:solidFill>
                <a:latin typeface="Meiryo"/>
                <a:ea typeface="Meiryo"/>
                <a:cs typeface="Meiryo"/>
              </a:defRPr>
            </a:lvl6pPr>
            <a:lvl7pPr>
              <a:defRPr sz="1650" b="0">
                <a:solidFill>
                  <a:srgbClr val="53616D"/>
                </a:solidFill>
                <a:latin typeface="Meiryo"/>
                <a:ea typeface="Meiryo"/>
                <a:cs typeface="Meiryo"/>
              </a:defRPr>
            </a:lvl7pPr>
            <a:lvl8pPr>
              <a:defRPr sz="1650" b="0">
                <a:solidFill>
                  <a:srgbClr val="53616D"/>
                </a:solidFill>
                <a:latin typeface="Meiryo"/>
                <a:ea typeface="Meiryo"/>
                <a:cs typeface="Meiryo"/>
              </a:defRPr>
            </a:lvl8pPr>
            <a:lvl9pPr>
              <a:defRPr sz="1650" b="0">
                <a:solidFill>
                  <a:srgbClr val="53616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650" b="0">
                <a:solidFill>
                  <a:srgbClr val="53616D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53616D"/>
                </a:solidFill>
                <a:latin typeface="Meiryo"/>
                <a:ea typeface="Meiryo"/>
                <a:cs typeface="Meiryo"/>
              </a:rPr>
              <a:t>制作人数：5人 / Unity 6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650" b="0">
                <a:solidFill>
                  <a:srgbClr val="53616D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53616D"/>
                </a:solidFill>
                <a:latin typeface="Meiryo"/>
                <a:ea typeface="Meiryo"/>
                <a:cs typeface="Meiryo"/>
              </a:rPr>
              <a:t>企画書作成：島本善太</a:t>
            </a:r>
          </a:p>
        </p:txBody>
      </p:sp>
    </p:spTree>
    <p:extLst>
      <p:ext uri="{BB962C8B-B14F-4D97-AF65-F5344CB8AC3E}">
        <p14:creationId xmlns:p14="http://schemas.microsoft.com/office/powerpoint/2010/main" val="7266504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流れる品物を、その場で判断する">
            <a:extLst xmlns:a="http://schemas.openxmlformats.org/drawingml/2006/main">
              <a:ext uri="{FF2B5EF4-FFF2-40B4-BE49-F238E27FC236}">
                <a16:creationId xmlns:a16="http://schemas.microsoft.com/office/drawing/2014/main" id="{E659F237-AD88-4CFF-A9C1-13A92D15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202D36"/>
                </a:solidFill>
                <a:latin typeface="Meiryo"/>
                <a:ea typeface="Meiryo"/>
                <a:cs typeface="Meiryo"/>
              </a:rPr>
              <a:t>流れる品物を、その場で判断する</a:t>
            </a:r>
          </a:p>
        </p:txBody>
      </p:sp>
      <p:sp>
        <p:nvSpPr>
          <p:cNvPr id="2" name="「何の品物か」と「正常か」を見分ける遊び">
            <a:extLst xmlns:a="http://schemas.openxmlformats.org/drawingml/2006/main">
              <a:ext uri="{FF2B5EF4-FFF2-40B4-BE49-F238E27FC236}">
                <a16:creationId xmlns:a16="http://schemas.microsoft.com/office/drawing/2014/main" id="{57C1A2EA-4E7D-4B44-8E04-282D818D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364AD"/>
                </a:solidFill>
                <a:latin typeface="Meiryo"/>
                <a:ea typeface="Meiryo"/>
                <a:cs typeface="Meiryo"/>
              </a:rPr>
              <a:t>「何の品物か」と「正常か」を見分ける遊び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CB063-B5B5-444D-AD49-28CA7B348A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669609d9c4201"/>
          <a:stretch xmlns:a="http://schemas.openxmlformats.org/drawingml/2006/main"/>
        </p:blipFill>
        <p:spPr>
          <a:xfrm xmlns:a="http://schemas.openxmlformats.org/drawingml/2006/main">
            <a:off x="610869" y="1743075"/>
            <a:ext cx="7236461" cy="4029075"/>
          </a:xfrm>
          <a:prstGeom xmlns:a="http://schemas.openxmlformats.org/drawingml/2006/main" prst="rect">
            <a:avLst/>
          </a:prstGeom>
        </p:spPr>
      </p:pic>
      <p:sp>
        <p:nvSpPr>
          <p:cNvPr id="4" name="基本の流れ">
            <a:extLst xmlns:a="http://schemas.openxmlformats.org/drawingml/2006/main">
              <a:ext uri="{FF2B5EF4-FFF2-40B4-BE49-F238E27FC236}">
                <a16:creationId xmlns:a16="http://schemas.microsoft.com/office/drawing/2014/main" id="{FBB72884-4C96-4CD1-A52A-001D783E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478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364AD"/>
                </a:solidFill>
                <a:latin typeface="Meiryo"/>
                <a:ea typeface="Meiryo"/>
                <a:cs typeface="Meiryo"/>
              </a:rPr>
              <a:t>基本の流れ</a:t>
            </a:r>
          </a:p>
        </p:txBody>
      </p:sp>
      <p:sp>
        <p:nvSpPr>
          <p:cNvPr id="5" name="品物を見る。&#10;送る方向を選ぶ。&#10;結果を確認して、次へ。">
            <a:extLst xmlns:a="http://schemas.openxmlformats.org/drawingml/2006/main">
              <a:ext uri="{FF2B5EF4-FFF2-40B4-BE49-F238E27FC236}">
                <a16:creationId xmlns:a16="http://schemas.microsoft.com/office/drawing/2014/main" id="{8A7B51C2-EECB-4BEE-9AD9-AAAE681A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24100"/>
            <a:ext cx="3333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品物を見る。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送る方向を選ぶ。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結果を確認して、次へ。</a:t>
            </a:r>
          </a:p>
        </p:txBody>
      </p:sp>
      <p:sp>
        <p:nvSpPr>
          <p:cNvPr id="6" name="想定するプレイヤー">
            <a:extLst xmlns:a="http://schemas.openxmlformats.org/drawingml/2006/main">
              <a:ext uri="{FF2B5EF4-FFF2-40B4-BE49-F238E27FC236}">
                <a16:creationId xmlns:a16="http://schemas.microsoft.com/office/drawing/2014/main" id="{608E1186-EF46-4447-8DA4-8F27BB40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814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364AD"/>
                </a:solidFill>
                <a:latin typeface="Meiryo"/>
                <a:ea typeface="Meiryo"/>
                <a:cs typeface="Meiryo"/>
              </a:rPr>
              <a:t>想定するプレイヤー</a:t>
            </a:r>
          </a:p>
        </p:txBody>
      </p:sp>
      <p:sp>
        <p:nvSpPr>
          <p:cNvPr id="7" name="観察と素早い判断で、&#10;スコア更新を楽しみたい人。&#10;少ないキーで挑戦できま">
            <a:extLst xmlns:a="http://schemas.openxmlformats.org/drawingml/2006/main">
              <a:ext uri="{FF2B5EF4-FFF2-40B4-BE49-F238E27FC236}">
                <a16:creationId xmlns:a16="http://schemas.microsoft.com/office/drawing/2014/main" id="{4E086317-78F4-47BA-B6AD-88AA778C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57675"/>
            <a:ext cx="3333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観察と素早い判断で、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スコア更新を楽しみたい人。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少ないキーで挑戦できます。</a:t>
            </a:r>
          </a:p>
        </p:txBody>
      </p:sp>
      <p:sp>
        <p:nvSpPr>
          <p:cNvPr id="8" name="分岐点までの短い時間に、判断を間に合わせる緊張感を狙います。">
            <a:extLst xmlns:a="http://schemas.openxmlformats.org/drawingml/2006/main">
              <a:ext uri="{FF2B5EF4-FFF2-40B4-BE49-F238E27FC236}">
                <a16:creationId xmlns:a16="http://schemas.microsoft.com/office/drawing/2014/main" id="{97F91A95-C78D-4C0E-8D12-4DD18A8D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20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20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20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20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20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20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20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20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20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0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364AD"/>
                </a:solidFill>
                <a:latin typeface="Meiryo"/>
                <a:ea typeface="Meiryo"/>
                <a:cs typeface="Meiryo"/>
              </a:rPr>
              <a:t>分岐点までの短い時間に、判断を間に合わせる緊張感を狙います。</a:t>
            </a:r>
          </a:p>
        </p:txBody>
      </p:sp>
    </p:spTree>
    <p:extLst>
      <p:ext uri="{BB962C8B-B14F-4D97-AF65-F5344CB8AC3E}">
        <p14:creationId xmlns:p14="http://schemas.microsoft.com/office/powerpoint/2010/main" val="4412575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同じ種類でも、送り先が変わる">
            <a:extLst xmlns:a="http://schemas.openxmlformats.org/drawingml/2006/main">
              <a:ext uri="{FF2B5EF4-FFF2-40B4-BE49-F238E27FC236}">
                <a16:creationId xmlns:a16="http://schemas.microsoft.com/office/drawing/2014/main" id="{4D6DDE98-123A-4AA4-A18C-18F2BA5F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202D36"/>
                </a:solidFill>
                <a:latin typeface="Meiryo"/>
                <a:ea typeface="Meiryo"/>
                <a:cs typeface="Meiryo"/>
              </a:rPr>
              <a:t>同じ種類でも、送り先が変わる</a:t>
            </a:r>
          </a:p>
        </p:txBody>
      </p:sp>
      <p:sp>
        <p:nvSpPr>
          <p:cNvPr id="2" name="正常品は仕分け、不良品は返却">
            <a:extLst xmlns:a="http://schemas.openxmlformats.org/drawingml/2006/main">
              <a:ext uri="{FF2B5EF4-FFF2-40B4-BE49-F238E27FC236}">
                <a16:creationId xmlns:a16="http://schemas.microsoft.com/office/drawing/2014/main" id="{4E567A8B-FD3F-444A-A623-641EC8A7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364AD"/>
                </a:solidFill>
                <a:latin typeface="Meiryo"/>
                <a:ea typeface="Meiryo"/>
                <a:cs typeface="Meiryo"/>
              </a:rPr>
              <a:t>正常品は仕分け、不良品は返却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B9A43-CAC8-4210-B923-95B1014B6D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c7190430f4bbf"/>
          <a:stretch xmlns:a="http://schemas.openxmlformats.org/drawingml/2006/main"/>
        </p:blipFill>
        <p:spPr>
          <a:xfrm xmlns:a="http://schemas.openxmlformats.org/drawingml/2006/main">
            <a:off x="1209675" y="1828800"/>
            <a:ext cx="2495550" cy="24955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DFF59-CC77-4FE1-9E5C-C7350A89DF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f278096574e98"/>
          <a:stretch xmlns:a="http://schemas.openxmlformats.org/drawingml/2006/main"/>
        </p:blipFill>
        <p:spPr>
          <a:xfrm xmlns:a="http://schemas.openxmlformats.org/drawingml/2006/main">
            <a:off x="4371975" y="1828800"/>
            <a:ext cx="2495550" cy="2495550"/>
          </a:xfrm>
          <a:prstGeom xmlns:a="http://schemas.openxmlformats.org/drawingml/2006/main" prst="rect">
            <a:avLst/>
          </a:prstGeom>
        </p:spPr>
      </p:pic>
      <p:sp>
        <p:nvSpPr>
          <p:cNvPr id="5" name="正常品">
            <a:extLst xmlns:a="http://schemas.openxmlformats.org/drawingml/2006/main">
              <a:ext uri="{FF2B5EF4-FFF2-40B4-BE49-F238E27FC236}">
                <a16:creationId xmlns:a16="http://schemas.microsoft.com/office/drawing/2014/main" id="{7A8D7D55-272F-4EDD-BDFC-B2476642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5148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23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23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23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23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23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23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23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23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23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32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364AD"/>
                </a:solidFill>
                <a:latin typeface="Meiryo"/>
                <a:ea typeface="Meiryo"/>
                <a:cs typeface="Meiryo"/>
              </a:rPr>
              <a:t>正常品</a:t>
            </a:r>
          </a:p>
        </p:txBody>
      </p:sp>
      <p:sp>
        <p:nvSpPr>
          <p:cNvPr id="6" name="不良品">
            <a:extLst xmlns:a="http://schemas.openxmlformats.org/drawingml/2006/main">
              <a:ext uri="{FF2B5EF4-FFF2-40B4-BE49-F238E27FC236}">
                <a16:creationId xmlns:a16="http://schemas.microsoft.com/office/drawing/2014/main" id="{F5DC1028-9428-4524-A4CD-A85ED228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5148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82B36"/>
                </a:solidFill>
                <a:latin typeface="Meiryo"/>
                <a:ea typeface="Meiryo"/>
                <a:cs typeface="Meiryo"/>
              </a:defRPr>
            </a:defPPr>
            <a:lvl1pPr>
              <a:defRPr sz="2325" b="1">
                <a:solidFill>
                  <a:srgbClr val="B82B36"/>
                </a:solidFill>
                <a:latin typeface="Meiryo"/>
                <a:ea typeface="Meiryo"/>
                <a:cs typeface="Meiryo"/>
              </a:defRPr>
            </a:lvl1pPr>
            <a:lvl2pPr>
              <a:defRPr sz="2325" b="1">
                <a:solidFill>
                  <a:srgbClr val="B82B36"/>
                </a:solidFill>
                <a:latin typeface="Meiryo"/>
                <a:ea typeface="Meiryo"/>
                <a:cs typeface="Meiryo"/>
              </a:defRPr>
            </a:lvl2pPr>
            <a:lvl3pPr>
              <a:defRPr sz="2325" b="1">
                <a:solidFill>
                  <a:srgbClr val="B82B36"/>
                </a:solidFill>
                <a:latin typeface="Meiryo"/>
                <a:ea typeface="Meiryo"/>
                <a:cs typeface="Meiryo"/>
              </a:defRPr>
            </a:lvl3pPr>
            <a:lvl4pPr>
              <a:defRPr sz="2325" b="1">
                <a:solidFill>
                  <a:srgbClr val="B82B36"/>
                </a:solidFill>
                <a:latin typeface="Meiryo"/>
                <a:ea typeface="Meiryo"/>
                <a:cs typeface="Meiryo"/>
              </a:defRPr>
            </a:lvl4pPr>
            <a:lvl5pPr>
              <a:defRPr sz="2325" b="1">
                <a:solidFill>
                  <a:srgbClr val="B82B36"/>
                </a:solidFill>
                <a:latin typeface="Meiryo"/>
                <a:ea typeface="Meiryo"/>
                <a:cs typeface="Meiryo"/>
              </a:defRPr>
            </a:lvl5pPr>
            <a:lvl6pPr>
              <a:defRPr sz="2325" b="1">
                <a:solidFill>
                  <a:srgbClr val="B82B36"/>
                </a:solidFill>
                <a:latin typeface="Meiryo"/>
                <a:ea typeface="Meiryo"/>
                <a:cs typeface="Meiryo"/>
              </a:defRPr>
            </a:lvl6pPr>
            <a:lvl7pPr>
              <a:defRPr sz="2325" b="1">
                <a:solidFill>
                  <a:srgbClr val="B82B36"/>
                </a:solidFill>
                <a:latin typeface="Meiryo"/>
                <a:ea typeface="Meiryo"/>
                <a:cs typeface="Meiryo"/>
              </a:defRPr>
            </a:lvl7pPr>
            <a:lvl8pPr>
              <a:defRPr sz="2325" b="1">
                <a:solidFill>
                  <a:srgbClr val="B82B36"/>
                </a:solidFill>
                <a:latin typeface="Meiryo"/>
                <a:ea typeface="Meiryo"/>
                <a:cs typeface="Meiryo"/>
              </a:defRPr>
            </a:lvl8pPr>
            <a:lvl9pPr>
              <a:defRPr sz="2325" b="1">
                <a:solidFill>
                  <a:srgbClr val="B82B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325" b="1">
                <a:solidFill>
                  <a:srgbClr val="B82B36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B82B36"/>
                </a:solidFill>
                <a:latin typeface="Meiryo"/>
                <a:ea typeface="Meiryo"/>
                <a:cs typeface="Meiryo"/>
              </a:rPr>
              <a:t>不良品</a:t>
            </a:r>
          </a:p>
        </p:txBody>
      </p:sp>
      <p:sp>
        <p:nvSpPr>
          <p:cNvPr id="7" name="形の違いを見落とさない">
            <a:extLst xmlns:a="http://schemas.openxmlformats.org/drawingml/2006/main">
              <a:ext uri="{FF2B5EF4-FFF2-40B4-BE49-F238E27FC236}">
                <a16:creationId xmlns:a16="http://schemas.microsoft.com/office/drawing/2014/main" id="{5EE5452C-D948-46E2-987A-AE09F831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405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364AD"/>
                </a:solidFill>
                <a:latin typeface="Meiryo"/>
                <a:ea typeface="Meiryo"/>
                <a:cs typeface="Meiryo"/>
              </a:rPr>
              <a:t>形の違いを見落とさない</a:t>
            </a:r>
          </a:p>
        </p:txBody>
      </p:sp>
      <p:sp>
        <p:nvSpPr>
          <p:cNvPr id="8" name="「ロボットだから同じ方向」&#10;と決めつけるとミスになる。&#10;種類を判断したあ">
            <a:extLst xmlns:a="http://schemas.openxmlformats.org/drawingml/2006/main">
              <a:ext uri="{FF2B5EF4-FFF2-40B4-BE49-F238E27FC236}">
                <a16:creationId xmlns:a16="http://schemas.microsoft.com/office/drawing/2014/main" id="{402DFFB9-F27F-4A6B-AB77-C64F77EE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40576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「ロボットだから同じ方向」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と決めつけるとミスになる。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種類を判断したあとに、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壊れていないか確かめる。</a:t>
            </a:r>
          </a:p>
        </p:txBody>
      </p:sp>
      <p:sp>
        <p:nvSpPr>
          <p:cNvPr id="9" name="反射的な仕分けに「もう一度見る」判断を加え、単純作業にしない。">
            <a:extLst xmlns:a="http://schemas.openxmlformats.org/drawingml/2006/main">
              <a:ext uri="{FF2B5EF4-FFF2-40B4-BE49-F238E27FC236}">
                <a16:creationId xmlns:a16="http://schemas.microsoft.com/office/drawing/2014/main" id="{62EF36BD-2EF8-49B3-893E-E9E31E26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217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217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217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217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217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217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217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217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217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75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02D36"/>
                </a:solidFill>
                <a:latin typeface="Meiryo"/>
                <a:ea typeface="Meiryo"/>
                <a:cs typeface="Meiryo"/>
              </a:rPr>
              <a:t>反射的な仕分けに「もう一度見る」判断を加え、単純作業にしない。</a:t>
            </a:r>
          </a:p>
        </p:txBody>
      </p:sp>
    </p:spTree>
    <p:extLst>
      <p:ext uri="{BB962C8B-B14F-4D97-AF65-F5344CB8AC3E}">
        <p14:creationId xmlns:p14="http://schemas.microsoft.com/office/powerpoint/2010/main" val="15137676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三方向への仕分けと、上への返却">
            <a:extLst xmlns:a="http://schemas.openxmlformats.org/drawingml/2006/main">
              <a:ext uri="{FF2B5EF4-FFF2-40B4-BE49-F238E27FC236}">
                <a16:creationId xmlns:a16="http://schemas.microsoft.com/office/drawing/2014/main" id="{AB43AAA2-1F74-4683-A70A-995A0D1F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202D36"/>
                </a:solidFill>
                <a:latin typeface="Meiryo"/>
                <a:ea typeface="Meiryo"/>
                <a:cs typeface="Meiryo"/>
              </a:rPr>
              <a:t>三方向への仕分けと、上への返却</a:t>
            </a:r>
          </a:p>
        </p:txBody>
      </p:sp>
      <p:sp>
        <p:nvSpPr>
          <p:cNvPr id="2" name="キーの位置と、画面上の方向を対応させる">
            <a:extLst xmlns:a="http://schemas.openxmlformats.org/drawingml/2006/main">
              <a:ext uri="{FF2B5EF4-FFF2-40B4-BE49-F238E27FC236}">
                <a16:creationId xmlns:a16="http://schemas.microsoft.com/office/drawing/2014/main" id="{2488BEE1-9090-457E-8345-BA722784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364AD"/>
                </a:solidFill>
                <a:latin typeface="Meiryo"/>
                <a:ea typeface="Meiryo"/>
                <a:cs typeface="Meiryo"/>
              </a:rPr>
              <a:t>キーの位置と、画面上の方向を対応させる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25C0B-B02D-4BA2-A381-E0776AAA47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30d474c3c4d24"/>
          <a:stretch xmlns:a="http://schemas.openxmlformats.org/drawingml/2006/main"/>
        </p:blipFill>
        <p:spPr>
          <a:xfrm xmlns:a="http://schemas.openxmlformats.org/drawingml/2006/main">
            <a:off x="734058" y="1819275"/>
            <a:ext cx="4704084" cy="32575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BD119-ECB0-4F57-870C-8943533AFF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e4239f6114e74"/>
          <a:stretch xmlns:a="http://schemas.openxmlformats.org/drawingml/2006/main"/>
        </p:blipFill>
        <p:spPr>
          <a:xfrm xmlns:a="http://schemas.openxmlformats.org/drawingml/2006/main">
            <a:off x="6863498" y="1819275"/>
            <a:ext cx="2579805" cy="3257550"/>
          </a:xfrm>
          <a:prstGeom xmlns:a="http://schemas.openxmlformats.org/drawingml/2006/main" prst="rect">
            <a:avLst/>
          </a:prstGeom>
        </p:spPr>
      </p:pic>
      <p:sp>
        <p:nvSpPr>
          <p:cNvPr id="5" name="正常品を三方向へ">
            <a:extLst xmlns:a="http://schemas.openxmlformats.org/drawingml/2006/main">
              <a:ext uri="{FF2B5EF4-FFF2-40B4-BE49-F238E27FC236}">
                <a16:creationId xmlns:a16="http://schemas.microsoft.com/office/drawing/2014/main" id="{3553E7E3-F965-45B5-9DCA-C8CB3EAD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364AD"/>
                </a:solidFill>
                <a:latin typeface="Meiryo"/>
                <a:ea typeface="Meiryo"/>
                <a:cs typeface="Meiryo"/>
              </a:rPr>
              <a:t>正常品を三方向へ</a:t>
            </a:r>
          </a:p>
        </p:txBody>
      </p:sp>
      <p:sp>
        <p:nvSpPr>
          <p:cNvPr id="6" name="A・S・Dで左・下・右を選択。&#10;レーンの点灯で選んだ方向を確認できます。">
            <a:extLst xmlns:a="http://schemas.openxmlformats.org/drawingml/2006/main">
              <a:ext uri="{FF2B5EF4-FFF2-40B4-BE49-F238E27FC236}">
                <a16:creationId xmlns:a16="http://schemas.microsoft.com/office/drawing/2014/main" id="{8B00FBBB-15CB-47C9-A049-A75CA298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A・S・Dで左・下・右を選択。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レーンの点灯で選んだ方向を確認できます。</a:t>
            </a:r>
          </a:p>
        </p:txBody>
      </p:sp>
      <p:sp>
        <p:nvSpPr>
          <p:cNvPr id="7" name="不良品は上へ">
            <a:extLst xmlns:a="http://schemas.openxmlformats.org/drawingml/2006/main">
              <a:ext uri="{FF2B5EF4-FFF2-40B4-BE49-F238E27FC236}">
                <a16:creationId xmlns:a16="http://schemas.microsoft.com/office/drawing/2014/main" id="{3B3BF9CF-0ECE-4155-8CB3-B3BE27E4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48275"/>
            <a:ext cx="525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364AD"/>
                </a:solidFill>
                <a:latin typeface="Meiryo"/>
                <a:ea typeface="Meiryo"/>
                <a:cs typeface="Meiryo"/>
              </a:rPr>
              <a:t>不良品は上へ</a:t>
            </a:r>
          </a:p>
        </p:txBody>
      </p:sp>
      <p:sp>
        <p:nvSpPr>
          <p:cNvPr id="8" name="Wで返却。種類が合っていても、&#10;不良品を通常レーンへ送るとミスになります">
            <a:extLst xmlns:a="http://schemas.openxmlformats.org/drawingml/2006/main">
              <a:ext uri="{FF2B5EF4-FFF2-40B4-BE49-F238E27FC236}">
                <a16:creationId xmlns:a16="http://schemas.microsoft.com/office/drawing/2014/main" id="{7ED7419A-9471-4942-BC85-BD82A688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24525"/>
            <a:ext cx="5257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Wで返却。種類が合っていても、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不良品を通常レーンへ送るとミスになります。</a:t>
            </a:r>
          </a:p>
        </p:txBody>
      </p:sp>
    </p:spTree>
    <p:extLst>
      <p:ext uri="{BB962C8B-B14F-4D97-AF65-F5344CB8AC3E}">
        <p14:creationId xmlns:p14="http://schemas.microsoft.com/office/powerpoint/2010/main" val="12846013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結果がすぐ伝わる、スコアへの挑戦">
            <a:extLst xmlns:a="http://schemas.openxmlformats.org/drawingml/2006/main">
              <a:ext uri="{FF2B5EF4-FFF2-40B4-BE49-F238E27FC236}">
                <a16:creationId xmlns:a16="http://schemas.microsoft.com/office/drawing/2014/main" id="{FC965C4A-F609-40A2-9790-8DB1C6D2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202D36"/>
                </a:solidFill>
                <a:latin typeface="Meiryo"/>
                <a:ea typeface="Meiryo"/>
                <a:cs typeface="Meiryo"/>
              </a:rPr>
              <a:t>結果がすぐ伝わる、スコアへの挑戦</a:t>
            </a:r>
          </a:p>
        </p:txBody>
      </p:sp>
      <p:sp>
        <p:nvSpPr>
          <p:cNvPr id="2" name="正解・不正解の演出で、次の判断につなげる">
            <a:extLst xmlns:a="http://schemas.openxmlformats.org/drawingml/2006/main">
              <a:ext uri="{FF2B5EF4-FFF2-40B4-BE49-F238E27FC236}">
                <a16:creationId xmlns:a16="http://schemas.microsoft.com/office/drawing/2014/main" id="{91E73008-23D9-4CA2-9BBF-48EF108F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364AD"/>
                </a:solidFill>
                <a:latin typeface="Meiryo"/>
                <a:ea typeface="Meiryo"/>
                <a:cs typeface="Meiryo"/>
              </a:rPr>
              <a:t>正解・不正解の演出で、次の判断につなげる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C7E73-8704-4029-BA6A-34384C83EC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24bc3e9db480e"/>
          <a:stretch xmlns:a="http://schemas.openxmlformats.org/drawingml/2006/main"/>
        </p:blipFill>
        <p:spPr>
          <a:xfrm xmlns:a="http://schemas.openxmlformats.org/drawingml/2006/main">
            <a:off x="609600" y="2089662"/>
            <a:ext cx="5334000" cy="1745226"/>
          </a:xfrm>
          <a:prstGeom xmlns:a="http://schemas.openxmlformats.org/drawingml/2006/main" prst="rect">
            <a:avLst/>
          </a:prstGeom>
        </p:spPr>
      </p:pic>
      <p:sp>
        <p:nvSpPr>
          <p:cNvPr id="4" name="あと何回間違えられるか">
            <a:extLst xmlns:a="http://schemas.openxmlformats.org/drawingml/2006/main">
              <a:ext uri="{FF2B5EF4-FFF2-40B4-BE49-F238E27FC236}">
                <a16:creationId xmlns:a16="http://schemas.microsoft.com/office/drawing/2014/main" id="{73B4D65B-5110-47FE-BF91-96E48FA3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364AD"/>
                </a:solidFill>
                <a:latin typeface="Meiryo"/>
                <a:ea typeface="Meiryo"/>
                <a:cs typeface="Meiryo"/>
              </a:rPr>
              <a:t>あと何回間違えられるか</a:t>
            </a:r>
          </a:p>
        </p:txBody>
      </p:sp>
      <p:sp>
        <p:nvSpPr>
          <p:cNvPr id="5" name="ミスはランプで可視化。&#10;5回ミスするまでに、&#10;どこまでスコアを伸ばせるか">
            <a:extLst xmlns:a="http://schemas.openxmlformats.org/drawingml/2006/main">
              <a:ext uri="{FF2B5EF4-FFF2-40B4-BE49-F238E27FC236}">
                <a16:creationId xmlns:a16="http://schemas.microsoft.com/office/drawing/2014/main" id="{B6CD7E67-CC26-4423-8D66-26EA99A7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ミスはランプで可視化。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5回ミスするまでに、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どこまでスコアを伸ばせるか挑戦します。</a:t>
            </a:r>
          </a:p>
        </p:txBody>
      </p:sp>
      <p:sp>
        <p:nvSpPr>
          <p:cNvPr id="6" name="成功と失敗の手応え">
            <a:extLst xmlns:a="http://schemas.openxmlformats.org/drawingml/2006/main">
              <a:ext uri="{FF2B5EF4-FFF2-40B4-BE49-F238E27FC236}">
                <a16:creationId xmlns:a16="http://schemas.microsoft.com/office/drawing/2014/main" id="{33654048-F882-463E-AE78-0057BF99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364AD"/>
                </a:solidFill>
                <a:latin typeface="Meiryo"/>
                <a:ea typeface="Meiryo"/>
                <a:cs typeface="Meiryo"/>
              </a:rPr>
              <a:t>成功と失敗の手応え</a:t>
            </a:r>
          </a:p>
        </p:txBody>
      </p:sp>
      <p:sp>
        <p:nvSpPr>
          <p:cNvPr id="7" name="音と表示で結果をその場で確認。&#10;間違えた品物の見方を修正し、&#10;次の仕分け">
            <a:extLst xmlns:a="http://schemas.openxmlformats.org/drawingml/2006/main">
              <a:ext uri="{FF2B5EF4-FFF2-40B4-BE49-F238E27FC236}">
                <a16:creationId xmlns:a16="http://schemas.microsoft.com/office/drawing/2014/main" id="{180506C2-02AF-4281-8D4F-3E2B16FC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4876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音と表示で結果をその場で確認。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間違えた品物の見方を修正し、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次の仕分けへ気持ちを切り替える。</a:t>
            </a:r>
          </a:p>
        </p:txBody>
      </p:sp>
      <p:sp>
        <p:nvSpPr>
          <p:cNvPr id="8" name="工場らしい見た目">
            <a:extLst xmlns:a="http://schemas.openxmlformats.org/drawingml/2006/main">
              <a:ext uri="{FF2B5EF4-FFF2-40B4-BE49-F238E27FC236}">
                <a16:creationId xmlns:a16="http://schemas.microsoft.com/office/drawing/2014/main" id="{75832789-1E52-4EFD-BA27-5B9A761D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364AD"/>
                </a:solidFill>
                <a:latin typeface="Meiryo"/>
                <a:ea typeface="Meiryo"/>
                <a:cs typeface="Meiryo"/>
              </a:rPr>
              <a:t>工場らしい見た目</a:t>
            </a:r>
          </a:p>
        </p:txBody>
      </p:sp>
      <p:sp>
        <p:nvSpPr>
          <p:cNvPr id="9" name="ベルトコンベア、操作卓、作業員を配置。&#10;分岐の点灯と作業員の動きで、&#10;自">
            <a:extLst xmlns:a="http://schemas.openxmlformats.org/drawingml/2006/main">
              <a:ext uri="{FF2B5EF4-FFF2-40B4-BE49-F238E27FC236}">
                <a16:creationId xmlns:a16="http://schemas.microsoft.com/office/drawing/2014/main" id="{71823CC0-1B31-42FF-AA1A-E466F66B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876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ベルトコンベア、操作卓、作業員を配置。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分岐の点灯と作業員の動きで、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自分が仕分けを操作する感覚を支えます。</a:t>
            </a:r>
          </a:p>
        </p:txBody>
      </p:sp>
    </p:spTree>
    <p:extLst>
      <p:ext uri="{BB962C8B-B14F-4D97-AF65-F5344CB8AC3E}">
        <p14:creationId xmlns:p14="http://schemas.microsoft.com/office/powerpoint/2010/main" val="17986570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制作体制と公開先">
            <a:extLst xmlns:a="http://schemas.openxmlformats.org/drawingml/2006/main">
              <a:ext uri="{FF2B5EF4-FFF2-40B4-BE49-F238E27FC236}">
                <a16:creationId xmlns:a16="http://schemas.microsoft.com/office/drawing/2014/main" id="{167A79A8-F186-49C9-A404-3E6E3DF1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300" b="1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202D36"/>
                </a:solidFill>
                <a:latin typeface="Meiryo"/>
                <a:ea typeface="Meiryo"/>
                <a:cs typeface="Meiryo"/>
              </a:rPr>
              <a:t>制作体制と公開先</a:t>
            </a:r>
          </a:p>
        </p:txBody>
      </p:sp>
      <p:sp>
        <p:nvSpPr>
          <p:cNvPr id="2" name="制作人数：5人 / 開発環境：Unity 6 / PCブラウザー">
            <a:extLst xmlns:a="http://schemas.openxmlformats.org/drawingml/2006/main">
              <a:ext uri="{FF2B5EF4-FFF2-40B4-BE49-F238E27FC236}">
                <a16:creationId xmlns:a16="http://schemas.microsoft.com/office/drawing/2014/main" id="{335A335D-C29B-4EAA-948A-7D48E21D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364AD"/>
                </a:solidFill>
                <a:latin typeface="Meiryo"/>
                <a:ea typeface="Meiryo"/>
                <a:cs typeface="Meiryo"/>
              </a:rPr>
              <a:t>制作人数：5人 / 開発環境：Unity 6 / PCブラウザー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96984-2002-4A0F-87BD-5AF59186EE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aa02bc3764b53"/>
          <a:stretch xmlns:a="http://schemas.openxmlformats.org/drawingml/2006/main"/>
        </p:blipFill>
        <p:spPr>
          <a:xfrm xmlns:a="http://schemas.openxmlformats.org/drawingml/2006/main">
            <a:off x="609600" y="2109192"/>
            <a:ext cx="3048000" cy="2030016"/>
          </a:xfrm>
          <a:prstGeom xmlns:a="http://schemas.openxmlformats.org/drawingml/2006/main" prst="rect">
            <a:avLst/>
          </a:prstGeom>
        </p:spPr>
      </p:pic>
      <p:sp>
        <p:nvSpPr>
          <p:cNvPr id="4" name="私の担当">
            <a:extLst xmlns:a="http://schemas.openxmlformats.org/drawingml/2006/main">
              <a:ext uri="{FF2B5EF4-FFF2-40B4-BE49-F238E27FC236}">
                <a16:creationId xmlns:a16="http://schemas.microsoft.com/office/drawing/2014/main" id="{7D80A76C-683F-45CF-AD8F-C51A2219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14525"/>
            <a:ext cx="735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364AD"/>
                </a:solidFill>
                <a:latin typeface="Meiryo"/>
                <a:ea typeface="Meiryo"/>
                <a:cs typeface="Meiryo"/>
              </a:rPr>
              <a:t>私の担当</a:t>
            </a:r>
          </a:p>
        </p:txBody>
      </p:sp>
      <p:sp>
        <p:nvSpPr>
          <p:cNvPr id="5" name="プランナー・企画立案・システム／ルール設計。&#10;タスクの振り分け、画像・S">
            <a:extLst xmlns:a="http://schemas.openxmlformats.org/drawingml/2006/main">
              <a:ext uri="{FF2B5EF4-FFF2-40B4-BE49-F238E27FC236}">
                <a16:creationId xmlns:a16="http://schemas.microsoft.com/office/drawing/2014/main" id="{1807354B-FDAA-4987-B8E1-A79E2E3E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90775"/>
            <a:ext cx="7353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プランナー・企画立案・システム／ルール設計。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タスクの振り分け、画像・SEの用意を担当。</a:t>
            </a:r>
          </a:p>
        </p:txBody>
      </p:sp>
      <p:sp>
        <p:nvSpPr>
          <p:cNvPr id="6" name="企画でまとめたこと">
            <a:extLst xmlns:a="http://schemas.openxmlformats.org/drawingml/2006/main">
              <a:ext uri="{FF2B5EF4-FFF2-40B4-BE49-F238E27FC236}">
                <a16:creationId xmlns:a16="http://schemas.microsoft.com/office/drawing/2014/main" id="{83B9C27E-60A3-472B-881E-D9F1342E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09975"/>
            <a:ext cx="735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364AD"/>
                </a:solidFill>
                <a:latin typeface="Meiryo"/>
                <a:ea typeface="Meiryo"/>
                <a:cs typeface="Meiryo"/>
              </a:rPr>
              <a:t>企画でまとめたこと</a:t>
            </a:r>
          </a:p>
        </p:txBody>
      </p:sp>
      <p:sp>
        <p:nvSpPr>
          <p:cNvPr id="7" name="三方向へ送る仕分けと、不良品を返す判断を整理。&#10;プレイヤーが何を見て、ど">
            <a:extLst xmlns:a="http://schemas.openxmlformats.org/drawingml/2006/main">
              <a:ext uri="{FF2B5EF4-FFF2-40B4-BE49-F238E27FC236}">
                <a16:creationId xmlns:a16="http://schemas.microsoft.com/office/drawing/2014/main" id="{67A77FCC-4739-4183-BE60-B21C1D79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86225"/>
            <a:ext cx="7353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三方向へ送る仕分けと、不良品を返す判断を整理。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プレイヤーが何を見て、どこへ送るかを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202D36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202D36"/>
                </a:solidFill>
                <a:latin typeface="Meiryo"/>
                <a:ea typeface="Meiryo"/>
                <a:cs typeface="Meiryo"/>
              </a:rPr>
              <a:t>チームで共有できるルールにまとめました。</a:t>
            </a:r>
          </a:p>
        </p:txBody>
      </p:sp>
      <p:sp>
        <p:nvSpPr>
          <p:cNvPr id="8" name="unityroomで「三色の分岐係」をプレイ">
            <a:extLst xmlns:a="http://schemas.openxmlformats.org/drawingml/2006/main">
              <a:ext uri="{FF2B5EF4-FFF2-40B4-BE49-F238E27FC236}">
                <a16:creationId xmlns:a16="http://schemas.microsoft.com/office/drawing/2014/main" id="{89A7C892-0E36-493C-A226-9C10015C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defPPr>
            <a:lvl1pPr>
              <a:defRPr sz="187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1pPr>
            <a:lvl2pPr>
              <a:defRPr sz="187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2pPr>
            <a:lvl3pPr>
              <a:defRPr sz="187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3pPr>
            <a:lvl4pPr>
              <a:defRPr sz="187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4pPr>
            <a:lvl5pPr>
              <a:defRPr sz="187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5pPr>
            <a:lvl6pPr>
              <a:defRPr sz="187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6pPr>
            <a:lvl7pPr>
              <a:defRPr sz="187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7pPr>
            <a:lvl8pPr>
              <a:defRPr sz="187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8pPr>
            <a:lvl9pPr>
              <a:defRPr sz="187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75" b="1">
                <a:solidFill>
                  <a:srgbClr val="2364AD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2364AD"/>
                </a:solidFill>
                <a:latin typeface="Meiryo"/>
                <a:ea typeface="Meiryo"/>
                <a:cs typeface="Meiryo"/>
                <a:hlinkClick xmlns:r="http://schemas.openxmlformats.org/officeDocument/2006/relationships" r:id="Raa6ac3b42b014ac0"/>
              </a:rPr>
              <a:t>unityroomで「三色の分岐係」をプレイ</a:t>
            </a:r>
          </a:p>
        </p:txBody>
      </p:sp>
    </p:spTree>
    <p:extLst>
      <p:ext uri="{BB962C8B-B14F-4D97-AF65-F5344CB8AC3E}">
        <p14:creationId xmlns:p14="http://schemas.microsoft.com/office/powerpoint/2010/main" val="388644960"/>
      </p:ext>
    </p:extLst>
  </p:cSld>
</p:sld>
</file>

<file path=ppt/theme/theme1.xml><?xml version="1.0" encoding="utf-8"?>
<a:theme xmlns:a="http://schemas.openxmlformats.org/drawingml/2006/main" name="ChatGPT">
  <a:themeElements>
    <a:clrScheme name="三色の分岐係">
      <a:dk1>
        <a:srgbClr val="111111"/>
      </a:dk1>
      <a:lt1>
        <a:srgbClr val="FFFFFF"/>
      </a:lt1>
      <a:dk2>
        <a:srgbClr val="222222"/>
      </a:dk2>
      <a:lt2>
        <a:srgbClr val="EEEEEE"/>
      </a:lt2>
      <a:accent1>
        <a:srgbClr val="2364AD"/>
      </a:accent1>
      <a:accent2>
        <a:srgbClr val="24B6AC"/>
      </a:accent2>
      <a:accent3>
        <a:srgbClr val="FBD069"/>
      </a:accent3>
      <a:accent4>
        <a:srgbClr val="E85166"/>
      </a:accent4>
      <a:accent5>
        <a:srgbClr val="8F78CD"/>
      </a:accent5>
      <a:accent6>
        <a:srgbClr val="4B985A"/>
      </a:accent6>
      <a:hlink>
        <a:srgbClr val="2364AD"/>
      </a:hlink>
      <a:folHlink>
        <a:srgbClr val="2364AD"/>
      </a:folHlink>
    </a:clrScheme>
    <a:fontScheme name="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三色の分岐係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2026-10-30T08:03:56.4350000Z</dcterms:created>
  <dcterms:modified xsi:type="dcterms:W3CDTF">2026-10-30T08:03:56.4350000Z</dcterms:modified>
</coreProperties>
</file>