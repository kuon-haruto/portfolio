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109fe293474cb2" /><Relationship Type="http://schemas.openxmlformats.org/officeDocument/2006/relationships/extended-properties" Target="/docProps/app.xml" Id="Rf0a9a563be4a403b" /><Relationship Type="http://schemas.openxmlformats.org/officeDocument/2006/relationships/officeDocument" Target="/ppt/presentation.xml" Id="R7ecb8f42109a4e4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372982e9634da2"/>
  </p:sldMasterIdLst>
  <p:notesMasterIdLst>
    <p:notesMasterId xmlns:r="http://schemas.openxmlformats.org/officeDocument/2006/relationships" r:id="R752e0d6a4a9e4114"/>
  </p:notesMasterIdLst>
  <p:sldIdLst>
    <p:sldId xmlns:r="http://schemas.openxmlformats.org/officeDocument/2006/relationships" id="256" r:id="Re3427c4e7bf94e61"/>
    <p:sldId xmlns:r="http://schemas.openxmlformats.org/officeDocument/2006/relationships" id="257" r:id="R7af84bf6fe004ec5"/>
    <p:sldId xmlns:r="http://schemas.openxmlformats.org/officeDocument/2006/relationships" id="258" r:id="Racd628f621ec4919"/>
    <p:sldId xmlns:r="http://schemas.openxmlformats.org/officeDocument/2006/relationships" id="259" r:id="R261857b7a07a4fea"/>
    <p:sldId xmlns:r="http://schemas.openxmlformats.org/officeDocument/2006/relationships" id="260" r:id="Rb5f353bf892d4bbb"/>
    <p:sldId xmlns:r="http://schemas.openxmlformats.org/officeDocument/2006/relationships" id="261" r:id="R13c1503ba82748a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8287e3db0043fe" /><Relationship Type="http://schemas.openxmlformats.org/officeDocument/2006/relationships/slideMaster" Target="/ppt/slideMasters/slideMaster1.xml" Id="R76372982e9634da2" /><Relationship Type="http://schemas.openxmlformats.org/officeDocument/2006/relationships/notesMaster" Target="/ppt/notesMasters/notesMaster1.xml" Id="R752e0d6a4a9e4114" /><Relationship Type="http://schemas.openxmlformats.org/officeDocument/2006/relationships/presProps" Target="/ppt/presProps.xml" Id="Rb182d74f75de4e16" /><Relationship Type="http://schemas.openxmlformats.org/officeDocument/2006/relationships/tableStyles" Target="/ppt/tableStyles.xml" Id="R1e8f9933baac4e36" /><Relationship Type="http://schemas.openxmlformats.org/officeDocument/2006/relationships/slide" Target="/ppt/slides/slide1.xml" Id="Re3427c4e7bf94e61" /><Relationship Type="http://schemas.openxmlformats.org/officeDocument/2006/relationships/slide" Target="/ppt/slides/slide2.xml" Id="R7af84bf6fe004ec5" /><Relationship Type="http://schemas.openxmlformats.org/officeDocument/2006/relationships/slide" Target="/ppt/slides/slide3.xml" Id="Racd628f621ec4919" /><Relationship Type="http://schemas.openxmlformats.org/officeDocument/2006/relationships/slide" Target="/ppt/slides/slide4.xml" Id="R261857b7a07a4fea" /><Relationship Type="http://schemas.openxmlformats.org/officeDocument/2006/relationships/slide" Target="/ppt/slides/slide5.xml" Id="Rb5f353bf892d4bbb" /><Relationship Type="http://schemas.openxmlformats.org/officeDocument/2006/relationships/slide" Target="/ppt/slides/slide6.xml" Id="R13c1503ba82748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3d2f859e18b41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すべる宇宙駐車場">
      <a:dk1>
        <a:srgbClr val="111111"/>
      </a:dk1>
      <a:lt1>
        <a:srgbClr val="FFFFFF"/>
      </a:lt1>
      <a:dk2>
        <a:srgbClr val="222222"/>
      </a:dk2>
      <a:lt2>
        <a:srgbClr val="EEEEEE"/>
      </a:lt2>
      <a:accent1>
        <a:srgbClr val="FBD069"/>
      </a:accent1>
      <a:accent2>
        <a:srgbClr val="24B6AC"/>
      </a:accent2>
      <a:accent3>
        <a:srgbClr val="FBD069"/>
      </a:accent3>
      <a:accent4>
        <a:srgbClr val="E85166"/>
      </a:accent4>
      <a:accent5>
        <a:srgbClr val="8F78CD"/>
      </a:accent5>
      <a:accent6>
        <a:srgbClr val="4B985A"/>
      </a:accent6>
      <a:hlink>
        <a:srgbClr val="FBD069"/>
      </a:hlink>
      <a:folHlink>
        <a:srgbClr val="FBD069"/>
      </a:folHlink>
    </a:clrScheme>
    <a:fontScheme name="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すべる宇宙駐車場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11c373462f44c85" /><Relationship Type="http://schemas.openxmlformats.org/officeDocument/2006/relationships/notesMaster" Target="/ppt/notesMasters/notesMaster1.xml" Id="R45b8764c260d43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e7e4886db114f9b" /><Relationship Type="http://schemas.openxmlformats.org/officeDocument/2006/relationships/notesMaster" Target="/ppt/notesMasters/notesMaster1.xml" Id="Rd003a630a24c4f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3c1077980bb493c" /><Relationship Type="http://schemas.openxmlformats.org/officeDocument/2006/relationships/notesMaster" Target="/ppt/notesMasters/notesMaster1.xml" Id="Rf9caaf90c3024d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ff4420fe8dc4070" /><Relationship Type="http://schemas.openxmlformats.org/officeDocument/2006/relationships/notesMaster" Target="/ppt/notesMasters/notesMaster1.xml" Id="R070df309919e40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4bdd86c3c3410f" /><Relationship Type="http://schemas.openxmlformats.org/officeDocument/2006/relationships/notesMaster" Target="/ppt/notesMasters/notesMaster1.xml" Id="Rf34dabf7070e41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80d62c39eb48aa" /><Relationship Type="http://schemas.openxmlformats.org/officeDocument/2006/relationships/notesMaster" Target="/ppt/notesMasters/notesMaster1.xml" Id="R686fcc7c0ddc42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既存企画・担当確認：src/sections/featured-works.html、制作人数4人（利用者確認）</a:t>
            </a:r>
          </a:p>
          <a:p xmlns:a="http://schemas.openxmlformats.org/drawingml/2006/main">
            <a:r>
              <a:t>ゲームルール：D:/すべる宇宙船/Assets/SlidingSpaceParking/Docs/Spec.md</a:t>
            </a:r>
          </a:p>
          <a:p xmlns:a="http://schemas.openxmlformats.org/drawingml/2006/main">
            <a:r>
              <a:t>iOS版：同プロジェクト Docs/iOS.md、files/images/sliding-space-parking-store-*.jpg</a:t>
            </a:r>
          </a:p>
          <a:p xmlns:a="http://schemas.openxmlformats.org/drawingml/2006/main">
            <a:r>
              <a:t>公開先：https://apps.apple.com/jp/app/id6816609277、https://unityroom.com/games/sliding-space-parking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既存企画・担当確認：src/sections/featured-works.html、制作人数4人（利用者確認）</a:t>
            </a:r>
          </a:p>
          <a:p xmlns:a="http://schemas.openxmlformats.org/drawingml/2006/main">
            <a:r>
              <a:t>ゲームルール：D:/すべる宇宙船/Assets/SlidingSpaceParking/Docs/Spec.md</a:t>
            </a:r>
          </a:p>
          <a:p xmlns:a="http://schemas.openxmlformats.org/drawingml/2006/main">
            <a:r>
              <a:t>iOS版：同プロジェクト Docs/iOS.md、files/images/sliding-space-parking-store-*.jpg</a:t>
            </a:r>
          </a:p>
          <a:p xmlns:a="http://schemas.openxmlformats.org/drawingml/2006/main">
            <a:r>
              <a:t>公開先：https://apps.apple.com/jp/app/id6816609277、https://unityroom.com/games/sliding-space-parking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既存企画・担当確認：src/sections/featured-works.html、制作人数4人（利用者確認）</a:t>
            </a:r>
          </a:p>
          <a:p xmlns:a="http://schemas.openxmlformats.org/drawingml/2006/main">
            <a:r>
              <a:t>ゲームルール：D:/すべる宇宙船/Assets/SlidingSpaceParking/Docs/Spec.md</a:t>
            </a:r>
          </a:p>
          <a:p xmlns:a="http://schemas.openxmlformats.org/drawingml/2006/main">
            <a:r>
              <a:t>iOS版：同プロジェクト Docs/iOS.md、files/images/sliding-space-parking-store-*.jpg</a:t>
            </a:r>
          </a:p>
          <a:p xmlns:a="http://schemas.openxmlformats.org/drawingml/2006/main">
            <a:r>
              <a:t>公開先：https://apps.apple.com/jp/app/id6816609277、https://unityroom.com/games/sliding-space-parking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既存企画・担当確認：src/sections/featured-works.html、制作人数4人（利用者確認）</a:t>
            </a:r>
          </a:p>
          <a:p xmlns:a="http://schemas.openxmlformats.org/drawingml/2006/main">
            <a:r>
              <a:t>ゲームルール：D:/すべる宇宙船/Assets/SlidingSpaceParking/Docs/Spec.md</a:t>
            </a:r>
          </a:p>
          <a:p xmlns:a="http://schemas.openxmlformats.org/drawingml/2006/main">
            <a:r>
              <a:t>iOS版：同プロジェクト Docs/iOS.md、files/images/sliding-space-parking-store-*.jpg</a:t>
            </a:r>
          </a:p>
          <a:p xmlns:a="http://schemas.openxmlformats.org/drawingml/2006/main">
            <a:r>
              <a:t>公開先：https://apps.apple.com/jp/app/id6816609277、https://unityroom.com/games/sliding-space-parking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既存企画・担当確認：src/sections/featured-works.html、制作人数4人（利用者確認）</a:t>
            </a:r>
          </a:p>
          <a:p xmlns:a="http://schemas.openxmlformats.org/drawingml/2006/main">
            <a:r>
              <a:t>ゲームルール：D:/すべる宇宙船/Assets/SlidingSpaceParking/Docs/Spec.md</a:t>
            </a:r>
          </a:p>
          <a:p xmlns:a="http://schemas.openxmlformats.org/drawingml/2006/main">
            <a:r>
              <a:t>iOS版：同プロジェクト Docs/iOS.md、files/images/sliding-space-parking-store-*.jpg</a:t>
            </a:r>
          </a:p>
          <a:p xmlns:a="http://schemas.openxmlformats.org/drawingml/2006/main">
            <a:r>
              <a:t>公開先：https://apps.apple.com/jp/app/id6816609277、https://unityroom.com/games/sliding-space-parking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根拠資料</a:t>
            </a:r>
          </a:p>
          <a:p xmlns:a="http://schemas.openxmlformats.org/drawingml/2006/main">
            <a:r>
              <a:t>既存企画・担当確認：src/sections/featured-works.html、制作人数4人（利用者確認）</a:t>
            </a:r>
          </a:p>
          <a:p xmlns:a="http://schemas.openxmlformats.org/drawingml/2006/main">
            <a:r>
              <a:t>ゲームルール：D:/すべる宇宙船/Assets/SlidingSpaceParking/Docs/Spec.md</a:t>
            </a:r>
          </a:p>
          <a:p xmlns:a="http://schemas.openxmlformats.org/drawingml/2006/main">
            <a:r>
              <a:t>iOS版：同プロジェクト Docs/iOS.md、files/images/sliding-space-parking-store-*.jpg</a:t>
            </a:r>
          </a:p>
          <a:p xmlns:a="http://schemas.openxmlformats.org/drawingml/2006/main">
            <a:r>
              <a:t>公開先：https://apps.apple.com/jp/app/id6816609277、https://unityroom.com/games/sliding-space-parking</a:t>
            </a:r>
          </a:p>
          <a:p xmlns:a="http://schemas.openxmlformats.org/drawingml/2006/main">
            <a:r>
              <a:t>想定プレイヤー・企画の狙いは提案上の位置付け。市場調査の結果ではありません。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5ab363560440a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fb60435bce4ee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74b7fac6b24c7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e7a2ca1cfc4ce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07b8f13d94e8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a5630bbbcf4cc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0C4E39D-75E3-4C2D-B7E6-9FF14E4F9D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C87A242-EF7A-471F-9969-70794751B27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5EBAFB4-930D-4D0D-9BAF-22797A937F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1EC87C-287A-45F7-B0FC-43D999DEB4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AE942B3-2F18-48E9-8CBF-E3522E8148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F10108C-4490-401A-B094-DC863E4924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34FB94A-6C9F-4B1B-A711-F3B76386AE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E563DAA-FAD8-4456-A444-D5F121699CB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472FDF-31A8-4B87-A28A-6592E983EE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11ED361-0D4F-4AA8-B578-1F35CD720F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7fedf4c6214837" /><Relationship Type="http://schemas.openxmlformats.org/officeDocument/2006/relationships/slideLayout" Target="/ppt/slideLayouts/slideLayout1.xml" Id="Rea5f97b00daf476b" /><Relationship Type="http://schemas.openxmlformats.org/officeDocument/2006/relationships/slideLayout" Target="/ppt/slideLayouts/slideLayout2.xml" Id="R9586419ec1d843bd" /><Relationship Type="http://schemas.openxmlformats.org/officeDocument/2006/relationships/slideLayout" Target="/ppt/slideLayouts/slideLayout3.xml" Id="Re4b7b60f68424c2a" /><Relationship Type="http://schemas.openxmlformats.org/officeDocument/2006/relationships/slideLayout" Target="/ppt/slideLayouts/slideLayout4.xml" Id="R999e949672634273" /><Relationship Type="http://schemas.openxmlformats.org/officeDocument/2006/relationships/slideLayout" Target="/ppt/slideLayouts/slideLayout5.xml" Id="R00c4fbe50c9f4012" /><Relationship Type="http://schemas.openxmlformats.org/officeDocument/2006/relationships/slideLayout" Target="/ppt/slideLayouts/slideLayout6.xml" Id="Rca144ea795e146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a5f97b00daf476b"/>
    <p:sldLayoutId xmlns:r="http://schemas.openxmlformats.org/officeDocument/2006/relationships" id="2147483650" r:id="R9586419ec1d843bd"/>
    <p:sldLayoutId xmlns:r="http://schemas.openxmlformats.org/officeDocument/2006/relationships" id="2147483651" r:id="Re4b7b60f68424c2a"/>
    <p:sldLayoutId xmlns:r="http://schemas.openxmlformats.org/officeDocument/2006/relationships" id="2147483652" r:id="R999e949672634273"/>
    <p:sldLayoutId xmlns:r="http://schemas.openxmlformats.org/officeDocument/2006/relationships" id="2147483653" r:id="R00c4fbe50c9f4012"/>
    <p:sldLayoutId xmlns:r="http://schemas.openxmlformats.org/officeDocument/2006/relationships" id="2147483654" r:id="Rca144ea795e146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すべる宇宙駐車場">
      <a:dk1>
        <a:srgbClr val="111111"/>
      </a:dk1>
      <a:lt1>
        <a:srgbClr val="FFFFFF"/>
      </a:lt1>
      <a:dk2>
        <a:srgbClr val="222222"/>
      </a:dk2>
      <a:lt2>
        <a:srgbClr val="EEEEEE"/>
      </a:lt2>
      <a:accent1>
        <a:srgbClr val="FBD069"/>
      </a:accent1>
      <a:accent2>
        <a:srgbClr val="24B6AC"/>
      </a:accent2>
      <a:accent3>
        <a:srgbClr val="FBD069"/>
      </a:accent3>
      <a:accent4>
        <a:srgbClr val="E85166"/>
      </a:accent4>
      <a:accent5>
        <a:srgbClr val="8F78CD"/>
      </a:accent5>
      <a:accent6>
        <a:srgbClr val="4B985A"/>
      </a:accent6>
      <a:hlink>
        <a:srgbClr val="FBD069"/>
      </a:hlink>
      <a:folHlink>
        <a:srgbClr val="FBD069"/>
      </a:folHlink>
    </a:clrScheme>
    <a:fontScheme name="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すべる宇宙駐車場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464f98addb4eaa" /><Relationship Type="http://schemas.openxmlformats.org/officeDocument/2006/relationships/image" Target="/ppt/media/image.jpeg" Id="Rb02bc44edac9463e" /><Relationship Type="http://schemas.openxmlformats.org/officeDocument/2006/relationships/notesSlide" Target="/ppt/notesSlides/notesSlide1.xml" Id="Rc522f3361a7640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d340a7c6e24056" /><Relationship Type="http://schemas.openxmlformats.org/officeDocument/2006/relationships/image" Target="/ppt/media/image2.jpeg" Id="R8803e26a8fb543f9" /><Relationship Type="http://schemas.openxmlformats.org/officeDocument/2006/relationships/notesSlide" Target="/ppt/notesSlides/notesSlide2.xml" Id="R2aafbb0b3258438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4504a208014650" /><Relationship Type="http://schemas.openxmlformats.org/officeDocument/2006/relationships/image" Target="/ppt/media/image.png" Id="Rc6bbbafc76c44d4b" /><Relationship Type="http://schemas.openxmlformats.org/officeDocument/2006/relationships/notesSlide" Target="/ppt/notesSlides/notesSlide3.xml" Id="R81245d51cf3645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0194240e6e4593" /><Relationship Type="http://schemas.openxmlformats.org/officeDocument/2006/relationships/image" Target="/ppt/media/image3.jpeg" Id="R0fb47aa17e344098" /><Relationship Type="http://schemas.openxmlformats.org/officeDocument/2006/relationships/notesSlide" Target="/ppt/notesSlides/notesSlide4.xml" Id="Rb06e5d6a70e7475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dd39a7420e474c" /><Relationship Type="http://schemas.openxmlformats.org/officeDocument/2006/relationships/image" Target="/ppt/media/image4.jpeg" Id="R7403c783d2944d17" /><Relationship Type="http://schemas.openxmlformats.org/officeDocument/2006/relationships/notesSlide" Target="/ppt/notesSlides/notesSlide5.xml" Id="R785412edd3f341f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a626f48cd140d0" /><Relationship Type="http://schemas.openxmlformats.org/officeDocument/2006/relationships/image" Target="/ppt/media/image2.png" Id="R7a01a4380bbf444b" /><Relationship Type="http://schemas.openxmlformats.org/officeDocument/2006/relationships/hyperlink" Target="https://apps.apple.com/jp/app/id6816609277" TargetMode="External" Id="R480969fbc12643df" /><Relationship Type="http://schemas.openxmlformats.org/officeDocument/2006/relationships/hyperlink" Target="https://unityroom.com/games/sliding-space-parking" TargetMode="External" Id="R429f02ebcbc04d77" /><Relationship Type="http://schemas.openxmlformats.org/officeDocument/2006/relationships/notesSlide" Target="/ppt/notesSlides/notesSlide6.xml" Id="R0e7ee7a6878d47b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1D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すべる宇宙駐車場">
            <a:extLst xmlns:a="http://schemas.openxmlformats.org/drawingml/2006/main">
              <a:ext uri="{FF2B5EF4-FFF2-40B4-BE49-F238E27FC236}">
                <a16:creationId xmlns:a16="http://schemas.microsoft.com/office/drawing/2014/main" id="{569545ED-A612-4159-BD17-AA41F1540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CFA"/>
                </a:solidFill>
                <a:latin typeface="Meiryo"/>
                <a:ea typeface="Meiryo"/>
                <a:cs typeface="Meiryo"/>
              </a:rPr>
              <a:t>すべる宇宙駐車場</a:t>
            </a:r>
          </a:p>
        </p:txBody>
      </p:sp>
      <p:sp>
        <p:nvSpPr>
          <p:cNvPr id="2" name="慣性で滑る船を、逆噴射でぴたりと駐車。">
            <a:extLst xmlns:a="http://schemas.openxmlformats.org/drawingml/2006/main">
              <a:ext uri="{FF2B5EF4-FFF2-40B4-BE49-F238E27FC236}">
                <a16:creationId xmlns:a16="http://schemas.microsoft.com/office/drawing/2014/main" id="{C330ECA9-0DE6-4135-96DA-EB6BDD3D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BD069"/>
                </a:solidFill>
                <a:latin typeface="Meiryo"/>
                <a:ea typeface="Meiryo"/>
                <a:cs typeface="Meiryo"/>
              </a:rPr>
              <a:t>慣性で滑る船を、逆噴射でぴたりと駐車。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D84B68-539F-4C4F-989D-B165F3F7F0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2bc44edac9463e"/>
          <a:stretch xmlns:a="http://schemas.openxmlformats.org/drawingml/2006/main"/>
        </p:blipFill>
        <p:spPr>
          <a:xfrm xmlns:a="http://schemas.openxmlformats.org/drawingml/2006/main">
            <a:off x="1565189" y="1752600"/>
            <a:ext cx="9061622" cy="4191000"/>
          </a:xfrm>
          <a:prstGeom xmlns:a="http://schemas.openxmlformats.org/drawingml/2006/main" prst="rect">
            <a:avLst/>
          </a:prstGeom>
        </p:spPr>
      </p:pic>
      <p:sp>
        <p:nvSpPr>
          <p:cNvPr id="4" name="App Store・unityroom公開 / 制作人数：4人 / Un">
            <a:extLst xmlns:a="http://schemas.openxmlformats.org/drawingml/2006/main">
              <a:ext uri="{FF2B5EF4-FFF2-40B4-BE49-F238E27FC236}">
                <a16:creationId xmlns:a16="http://schemas.microsoft.com/office/drawing/2014/main" id="{4B823F31-351F-4DAA-B265-91D7E79C0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2932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165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165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165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165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165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165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165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165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165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65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1650" b="0">
                <a:solidFill>
                  <a:srgbClr val="FBD069"/>
                </a:solidFill>
                <a:latin typeface="Meiryo"/>
                <a:ea typeface="Meiryo"/>
                <a:cs typeface="Meiryo"/>
              </a:rPr>
              <a:t>App Store・unityroom公開 / 制作人数：4人 / Unity / 企画書作成：島本善太</a:t>
            </a:r>
          </a:p>
        </p:txBody>
      </p:sp>
    </p:spTree>
    <p:extLst>
      <p:ext uri="{BB962C8B-B14F-4D97-AF65-F5344CB8AC3E}">
        <p14:creationId xmlns:p14="http://schemas.microsoft.com/office/powerpoint/2010/main" val="123656329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11D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身近な「駐車」を、慣性で難しくする">
            <a:extLst xmlns:a="http://schemas.openxmlformats.org/drawingml/2006/main">
              <a:ext uri="{FF2B5EF4-FFF2-40B4-BE49-F238E27FC236}">
                <a16:creationId xmlns:a16="http://schemas.microsoft.com/office/drawing/2014/main" id="{0B338D0E-D7E1-44DB-A6B5-A3EDC0A1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CFA"/>
                </a:solidFill>
                <a:latin typeface="Meiryo"/>
                <a:ea typeface="Meiryo"/>
                <a:cs typeface="Meiryo"/>
              </a:rPr>
              <a:t>身近な「駐車」を、慣性で難しくする</a:t>
            </a:r>
          </a:p>
        </p:txBody>
      </p:sp>
      <p:sp>
        <p:nvSpPr>
          <p:cNvPr id="2" name="目的は、宇宙船を駐車枠の中で止めること">
            <a:extLst xmlns:a="http://schemas.openxmlformats.org/drawingml/2006/main">
              <a:ext uri="{FF2B5EF4-FFF2-40B4-BE49-F238E27FC236}">
                <a16:creationId xmlns:a16="http://schemas.microsoft.com/office/drawing/2014/main" id="{1518E730-DF2E-493D-9FA4-4901B20A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BD069"/>
                </a:solidFill>
                <a:latin typeface="Meiryo"/>
                <a:ea typeface="Meiryo"/>
                <a:cs typeface="Meiryo"/>
              </a:rPr>
              <a:t>目的は、宇宙船を駐車枠の中で止めること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7513A4-AFDF-488E-8869-8DA76CC26B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03e26a8fb543f9"/>
          <a:stretch xmlns:a="http://schemas.openxmlformats.org/drawingml/2006/main"/>
        </p:blipFill>
        <p:spPr>
          <a:xfrm xmlns:a="http://schemas.openxmlformats.org/drawingml/2006/main">
            <a:off x="2471351" y="1828800"/>
            <a:ext cx="7249297" cy="3352800"/>
          </a:xfrm>
          <a:prstGeom xmlns:a="http://schemas.openxmlformats.org/drawingml/2006/main" prst="rect">
            <a:avLst/>
          </a:prstGeom>
        </p:spPr>
      </p:pic>
      <p:sp>
        <p:nvSpPr>
          <p:cNvPr id="4" name="操作と狙い">
            <a:extLst xmlns:a="http://schemas.openxmlformats.org/drawingml/2006/main">
              <a:ext uri="{FF2B5EF4-FFF2-40B4-BE49-F238E27FC236}">
                <a16:creationId xmlns:a16="http://schemas.microsoft.com/office/drawing/2014/main" id="{C7449AA9-3917-4412-9E0B-7783A8E67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BD069"/>
                </a:solidFill>
                <a:latin typeface="Meiryo"/>
                <a:ea typeface="Meiryo"/>
                <a:cs typeface="Meiryo"/>
              </a:rPr>
              <a:t>操作と狙い</a:t>
            </a:r>
          </a:p>
        </p:txBody>
      </p:sp>
      <p:sp>
        <p:nvSpPr>
          <p:cNvPr id="5" name="噴射で進み、反対向きの噴射で減速。&#10;入力を離しても進むため、止め時を考え">
            <a:extLst xmlns:a="http://schemas.openxmlformats.org/drawingml/2006/main">
              <a:ext uri="{FF2B5EF4-FFF2-40B4-BE49-F238E27FC236}">
                <a16:creationId xmlns:a16="http://schemas.microsoft.com/office/drawing/2014/main" id="{E5B90FBE-381D-4B2E-929C-3118889B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5334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噴射で進み、反対向きの噴射で減速。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入力を離しても進むため、止め時を考えます。</a:t>
            </a:r>
          </a:p>
        </p:txBody>
      </p:sp>
      <p:sp>
        <p:nvSpPr>
          <p:cNvPr id="6" name="想定するプレイヤー">
            <a:extLst xmlns:a="http://schemas.openxmlformats.org/drawingml/2006/main">
              <a:ext uri="{FF2B5EF4-FFF2-40B4-BE49-F238E27FC236}">
                <a16:creationId xmlns:a16="http://schemas.microsoft.com/office/drawing/2014/main" id="{733730F1-D7BF-485E-BF37-A347CE6A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67325"/>
            <a:ext cx="525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BD069"/>
                </a:solidFill>
                <a:latin typeface="Meiryo"/>
                <a:ea typeface="Meiryo"/>
                <a:cs typeface="Meiryo"/>
              </a:rPr>
              <a:t>想定するプレイヤー</a:t>
            </a:r>
          </a:p>
        </p:txBody>
      </p:sp>
      <p:sp>
        <p:nvSpPr>
          <p:cNvPr id="7" name="少ない操作で試行錯誤を楽しみたい人。&#10;微調整して成功する達成感を狙います">
            <a:extLst xmlns:a="http://schemas.openxmlformats.org/drawingml/2006/main">
              <a:ext uri="{FF2B5EF4-FFF2-40B4-BE49-F238E27FC236}">
                <a16:creationId xmlns:a16="http://schemas.microsoft.com/office/drawing/2014/main" id="{56B2C238-0B04-49F1-8756-E428DE96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743575"/>
            <a:ext cx="5257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少ない操作で試行錯誤を楽しみたい人。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微調整して成功する達成感を狙います。</a:t>
            </a:r>
          </a:p>
        </p:txBody>
      </p:sp>
    </p:spTree>
    <p:extLst>
      <p:ext uri="{BB962C8B-B14F-4D97-AF65-F5344CB8AC3E}">
        <p14:creationId xmlns:p14="http://schemas.microsoft.com/office/powerpoint/2010/main" val="13851118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D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面白さは「いつ減速を始めるか」">
            <a:extLst xmlns:a="http://schemas.openxmlformats.org/drawingml/2006/main">
              <a:ext uri="{FF2B5EF4-FFF2-40B4-BE49-F238E27FC236}">
                <a16:creationId xmlns:a16="http://schemas.microsoft.com/office/drawing/2014/main" id="{14BC431A-1334-4062-BB50-AAD9C391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CFA"/>
                </a:solidFill>
                <a:latin typeface="Meiryo"/>
                <a:ea typeface="Meiryo"/>
                <a:cs typeface="Meiryo"/>
              </a:rPr>
              <a:t>面白さは「いつ減速を始めるか」</a:t>
            </a:r>
          </a:p>
        </p:txBody>
      </p:sp>
      <p:sp>
        <p:nvSpPr>
          <p:cNvPr id="2" name="進む方向だけでなく、止まるまでの距離を読む">
            <a:extLst xmlns:a="http://schemas.openxmlformats.org/drawingml/2006/main">
              <a:ext uri="{FF2B5EF4-FFF2-40B4-BE49-F238E27FC236}">
                <a16:creationId xmlns:a16="http://schemas.microsoft.com/office/drawing/2014/main" id="{E0637432-7B38-477B-AAA6-827D2CAFC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BD069"/>
                </a:solidFill>
                <a:latin typeface="Meiryo"/>
                <a:ea typeface="Meiryo"/>
                <a:cs typeface="Meiryo"/>
              </a:rPr>
              <a:t>進む方向だけでなく、止まるまでの距離を読む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0E6AF-7097-4D83-B986-126BD885D7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bbbafc76c44d4b"/>
          <a:stretch xmlns:a="http://schemas.openxmlformats.org/drawingml/2006/main"/>
        </p:blipFill>
        <p:spPr>
          <a:xfrm xmlns:a="http://schemas.openxmlformats.org/drawingml/2006/main">
            <a:off x="1037167" y="2000250"/>
            <a:ext cx="2592917" cy="2857500"/>
          </a:xfrm>
          <a:prstGeom xmlns:a="http://schemas.openxmlformats.org/drawingml/2006/main" prst="rect">
            <a:avLst/>
          </a:prstGeom>
        </p:spPr>
      </p:pic>
      <p:sp>
        <p:nvSpPr>
          <p:cNvPr id="4" name="枠が近づいてからでは、行き過ぎる">
            <a:extLst xmlns:a="http://schemas.openxmlformats.org/drawingml/2006/main">
              <a:ext uri="{FF2B5EF4-FFF2-40B4-BE49-F238E27FC236}">
                <a16:creationId xmlns:a16="http://schemas.microsoft.com/office/drawing/2014/main" id="{A2ECCEA2-A79C-480C-A7C4-1DC5DB8D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47850"/>
            <a:ext cx="720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BD069"/>
                </a:solidFill>
                <a:latin typeface="Meiryo"/>
                <a:ea typeface="Meiryo"/>
                <a:cs typeface="Meiryo"/>
              </a:rPr>
              <a:t>枠が近づいてからでは、行き過ぎる</a:t>
            </a:r>
          </a:p>
        </p:txBody>
      </p:sp>
      <p:sp>
        <p:nvSpPr>
          <p:cNvPr id="5" name="勢いをつけすぎると、逆噴射してもすぐには止まらない。&#10;少し手前で減速し、">
            <a:extLst xmlns:a="http://schemas.openxmlformats.org/drawingml/2006/main">
              <a:ext uri="{FF2B5EF4-FFF2-40B4-BE49-F238E27FC236}">
                <a16:creationId xmlns:a16="http://schemas.microsoft.com/office/drawing/2014/main" id="{7D8D881E-BB0A-4498-8499-D386BE57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24100"/>
            <a:ext cx="72009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勢いをつけすぎると、逆噴射してもすぐには止まらない。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少し手前で減速し、最後は小さく調整する。</a:t>
            </a:r>
          </a:p>
        </p:txBody>
      </p:sp>
      <p:sp>
        <p:nvSpPr>
          <p:cNvPr id="6" name="失敗から次の操作を考えられる">
            <a:extLst xmlns:a="http://schemas.openxmlformats.org/drawingml/2006/main">
              <a:ext uri="{FF2B5EF4-FFF2-40B4-BE49-F238E27FC236}">
                <a16:creationId xmlns:a16="http://schemas.microsoft.com/office/drawing/2014/main" id="{3BFDD4A6-5E0F-4F27-83C4-7387EE14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7200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BD069"/>
                </a:solidFill>
                <a:latin typeface="Meiryo"/>
                <a:ea typeface="Meiryo"/>
                <a:cs typeface="Meiryo"/>
              </a:rPr>
              <a:t>失敗から次の操作を考えられる</a:t>
            </a:r>
          </a:p>
        </p:txBody>
      </p:sp>
      <p:sp>
        <p:nvSpPr>
          <p:cNvPr id="7" name="行き過ぎたら、次は早めに逆噴射。&#10;止まりすぎたら、少しだけ噴射を足す。&#10;">
            <a:extLst xmlns:a="http://schemas.openxmlformats.org/drawingml/2006/main">
              <a:ext uri="{FF2B5EF4-FFF2-40B4-BE49-F238E27FC236}">
                <a16:creationId xmlns:a16="http://schemas.microsoft.com/office/drawing/2014/main" id="{996E866B-E8E3-4A59-9466-49D8B472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14800"/>
            <a:ext cx="72009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行き過ぎたら、次は早めに逆噴射。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止まりすぎたら、少しだけ噴射を足す。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距離感をつかむ過程を遊びにします。</a:t>
            </a:r>
          </a:p>
        </p:txBody>
      </p:sp>
      <p:sp>
        <p:nvSpPr>
          <p:cNvPr id="8" name="狙った枠に収まった瞬間、「自分で止めた」と感じられる設計。">
            <a:extLst xmlns:a="http://schemas.openxmlformats.org/drawingml/2006/main">
              <a:ext uri="{FF2B5EF4-FFF2-40B4-BE49-F238E27FC236}">
                <a16:creationId xmlns:a16="http://schemas.microsoft.com/office/drawing/2014/main" id="{19E56FA0-B066-4CD2-A401-3649D87D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1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1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1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1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1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1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1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1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1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175" b="1">
                <a:solidFill>
                  <a:srgbClr val="FBD069"/>
                </a:solidFill>
                <a:latin typeface="Meiryo"/>
                <a:ea typeface="Meiryo"/>
                <a:cs typeface="Meiryo"/>
              </a:rPr>
              <a:t>狙った枠に収まった瞬間、「自分で止めた」と感じられる設計。</a:t>
            </a:r>
          </a:p>
        </p:txBody>
      </p:sp>
    </p:spTree>
    <p:extLst>
      <p:ext uri="{BB962C8B-B14F-4D97-AF65-F5344CB8AC3E}">
        <p14:creationId xmlns:p14="http://schemas.microsoft.com/office/powerpoint/2010/main" val="18788426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D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宇宙の駐車場で、進路とタイミングを読む">
            <a:extLst xmlns:a="http://schemas.openxmlformats.org/drawingml/2006/main">
              <a:ext uri="{FF2B5EF4-FFF2-40B4-BE49-F238E27FC236}">
                <a16:creationId xmlns:a16="http://schemas.microsoft.com/office/drawing/2014/main" id="{BBE66BCC-5549-49BE-B825-3BAA4C25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CFA"/>
                </a:solidFill>
                <a:latin typeface="Meiryo"/>
                <a:ea typeface="Meiryo"/>
                <a:cs typeface="Meiryo"/>
              </a:rPr>
              <a:t>宇宙の駐車場で、進路とタイミングを読む</a:t>
            </a:r>
          </a:p>
        </p:txBody>
      </p:sp>
      <p:sp>
        <p:nvSpPr>
          <p:cNvPr id="2" name="ドット絵の船と立体的な空間で、宇宙らしい浮遊感を表現">
            <a:extLst xmlns:a="http://schemas.openxmlformats.org/drawingml/2006/main">
              <a:ext uri="{FF2B5EF4-FFF2-40B4-BE49-F238E27FC236}">
                <a16:creationId xmlns:a16="http://schemas.microsoft.com/office/drawing/2014/main" id="{35BAAC2C-F6D4-4868-95E8-A664F51F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BD069"/>
                </a:solidFill>
                <a:latin typeface="Meiryo"/>
                <a:ea typeface="Meiryo"/>
                <a:cs typeface="Meiryo"/>
              </a:rPr>
              <a:t>ドット絵の船と立体的な空間で、宇宙らしい浮遊感を表現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E62863-F93F-4EE1-8F95-3E8289D266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b47aa17e344098"/>
          <a:stretch xmlns:a="http://schemas.openxmlformats.org/drawingml/2006/main"/>
        </p:blipFill>
        <p:spPr>
          <a:xfrm xmlns:a="http://schemas.openxmlformats.org/drawingml/2006/main">
            <a:off x="2471351" y="1828800"/>
            <a:ext cx="7249297" cy="3352800"/>
          </a:xfrm>
          <a:prstGeom xmlns:a="http://schemas.openxmlformats.org/drawingml/2006/main" prst="rect">
            <a:avLst/>
          </a:prstGeom>
        </p:spPr>
      </p:pic>
      <p:sp>
        <p:nvSpPr>
          <p:cNvPr id="4" name="障害物のあるコース">
            <a:extLst xmlns:a="http://schemas.openxmlformats.org/drawingml/2006/main">
              <a:ext uri="{FF2B5EF4-FFF2-40B4-BE49-F238E27FC236}">
                <a16:creationId xmlns:a16="http://schemas.microsoft.com/office/drawing/2014/main" id="{4C6C5EDF-13C3-48D5-A98D-89C4796B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BD069"/>
                </a:solidFill>
                <a:latin typeface="Meiryo"/>
                <a:ea typeface="Meiryo"/>
                <a:cs typeface="Meiryo"/>
              </a:rPr>
              <a:t>障害物のあるコース</a:t>
            </a:r>
          </a:p>
        </p:txBody>
      </p:sp>
      <p:sp>
        <p:nvSpPr>
          <p:cNvPr id="5" name="曲がる前に減速し、次の進路を整える。&#10;通路の形で噴射の使い方が変わります">
            <a:extLst xmlns:a="http://schemas.openxmlformats.org/drawingml/2006/main">
              <a:ext uri="{FF2B5EF4-FFF2-40B4-BE49-F238E27FC236}">
                <a16:creationId xmlns:a16="http://schemas.microsoft.com/office/drawing/2014/main" id="{28C5C1DC-2FF5-42F9-85E6-86E7FA79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53340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曲がる前に減速し、次の進路を整える。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通路の形で噴射の使い方が変わります。</a:t>
            </a:r>
          </a:p>
        </p:txBody>
      </p:sp>
      <p:sp>
        <p:nvSpPr>
          <p:cNvPr id="6" name="隕石の予告">
            <a:extLst xmlns:a="http://schemas.openxmlformats.org/drawingml/2006/main">
              <a:ext uri="{FF2B5EF4-FFF2-40B4-BE49-F238E27FC236}">
                <a16:creationId xmlns:a16="http://schemas.microsoft.com/office/drawing/2014/main" id="{BE4E483B-1810-4D0E-9E93-9A8663F8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67325"/>
            <a:ext cx="525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BD069"/>
                </a:solidFill>
                <a:latin typeface="Meiryo"/>
                <a:ea typeface="Meiryo"/>
                <a:cs typeface="Meiryo"/>
              </a:rPr>
              <a:t>隕石の予告</a:t>
            </a:r>
          </a:p>
        </p:txBody>
      </p:sp>
      <p:sp>
        <p:nvSpPr>
          <p:cNvPr id="7" name="進む先の危険を見て、待つか進むか判断。&#10;慣性の操作にタイミングの緊張感を">
            <a:extLst xmlns:a="http://schemas.openxmlformats.org/drawingml/2006/main">
              <a:ext uri="{FF2B5EF4-FFF2-40B4-BE49-F238E27FC236}">
                <a16:creationId xmlns:a16="http://schemas.microsoft.com/office/drawing/2014/main" id="{1E11047B-ECE7-408F-934F-DBC6BA8A7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743575"/>
            <a:ext cx="525780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進む先の危険を見て、待つか進むか判断。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慣性の操作にタイミングの緊張感を加えます。</a:t>
            </a:r>
          </a:p>
        </p:txBody>
      </p:sp>
    </p:spTree>
    <p:extLst>
      <p:ext uri="{BB962C8B-B14F-4D97-AF65-F5344CB8AC3E}">
        <p14:creationId xmlns:p14="http://schemas.microsoft.com/office/powerpoint/2010/main" val="3993157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D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クリアの次は、もっと少ない噴射で">
            <a:extLst xmlns:a="http://schemas.openxmlformats.org/drawingml/2006/main">
              <a:ext uri="{FF2B5EF4-FFF2-40B4-BE49-F238E27FC236}">
                <a16:creationId xmlns:a16="http://schemas.microsoft.com/office/drawing/2014/main" id="{BE156E49-7452-4B91-A305-FEEF639B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CFA"/>
                </a:solidFill>
                <a:latin typeface="Meiryo"/>
                <a:ea typeface="Meiryo"/>
                <a:cs typeface="Meiryo"/>
              </a:rPr>
              <a:t>クリアの次は、もっと少ない噴射で</a:t>
            </a:r>
          </a:p>
        </p:txBody>
      </p:sp>
      <p:sp>
        <p:nvSpPr>
          <p:cNvPr id="2" name="記録を見比べ、操作の上達を実感する">
            <a:extLst xmlns:a="http://schemas.openxmlformats.org/drawingml/2006/main">
              <a:ext uri="{FF2B5EF4-FFF2-40B4-BE49-F238E27FC236}">
                <a16:creationId xmlns:a16="http://schemas.microsoft.com/office/drawing/2014/main" id="{AE7D5C97-B144-4D34-B28E-19BCB860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BD069"/>
                </a:solidFill>
                <a:latin typeface="Meiryo"/>
                <a:ea typeface="Meiryo"/>
                <a:cs typeface="Meiryo"/>
              </a:rPr>
              <a:t>記録を見比べ、操作の上達を実感する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604EAA-3A3F-4461-B373-CAD760CF46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03c783d2944d17"/>
          <a:stretch xmlns:a="http://schemas.openxmlformats.org/drawingml/2006/main"/>
        </p:blipFill>
        <p:spPr>
          <a:xfrm xmlns:a="http://schemas.openxmlformats.org/drawingml/2006/main">
            <a:off x="609600" y="2010608"/>
            <a:ext cx="7410450" cy="3427333"/>
          </a:xfrm>
          <a:prstGeom xmlns:a="http://schemas.openxmlformats.org/drawingml/2006/main" prst="rect">
            <a:avLst/>
          </a:prstGeom>
        </p:spPr>
      </p:pic>
      <p:sp>
        <p:nvSpPr>
          <p:cNvPr id="4" name="やり直す目標が見える">
            <a:extLst xmlns:a="http://schemas.openxmlformats.org/drawingml/2006/main">
              <a:ext uri="{FF2B5EF4-FFF2-40B4-BE49-F238E27FC236}">
                <a16:creationId xmlns:a16="http://schemas.microsoft.com/office/drawing/2014/main" id="{83E72158-4020-4F7C-99A2-257869CB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819275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BD069"/>
                </a:solidFill>
                <a:latin typeface="Meiryo"/>
                <a:ea typeface="Meiryo"/>
                <a:cs typeface="Meiryo"/>
              </a:rPr>
              <a:t>やり直す目標が見える</a:t>
            </a:r>
          </a:p>
        </p:txBody>
      </p:sp>
      <p:sp>
        <p:nvSpPr>
          <p:cNvPr id="5" name="走行時間・操作回数・&#10;衝突回数で振り返る。&#10;次に減らしたいミスを&#10;決めて">
            <a:extLst xmlns:a="http://schemas.openxmlformats.org/drawingml/2006/main">
              <a:ext uri="{FF2B5EF4-FFF2-40B4-BE49-F238E27FC236}">
                <a16:creationId xmlns:a16="http://schemas.microsoft.com/office/drawing/2014/main" id="{D0A07F3B-8128-4FB2-BC71-0781B23C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295525"/>
            <a:ext cx="3171825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走行時間・操作回数・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衝突回数で振り返る。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次に減らしたいミスを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決めて再挑戦する。</a:t>
            </a:r>
          </a:p>
        </p:txBody>
      </p:sp>
      <p:sp>
        <p:nvSpPr>
          <p:cNvPr id="6" name="iOS公開版">
            <a:extLst xmlns:a="http://schemas.openxmlformats.org/drawingml/2006/main">
              <a:ext uri="{FF2B5EF4-FFF2-40B4-BE49-F238E27FC236}">
                <a16:creationId xmlns:a16="http://schemas.microsoft.com/office/drawing/2014/main" id="{1E64885E-850C-4E95-85FD-20DB3450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010025"/>
            <a:ext cx="31718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BD069"/>
                </a:solidFill>
                <a:latin typeface="Meiryo"/>
                <a:ea typeface="Meiryo"/>
                <a:cs typeface="Meiryo"/>
              </a:rPr>
              <a:t>iOS公開版</a:t>
            </a:r>
          </a:p>
        </p:txBody>
      </p:sp>
      <p:sp>
        <p:nvSpPr>
          <p:cNvPr id="7" name="全6コース、S〜C評価。&#10;Game Centerの&#10;ランキングにも対応。">
            <a:extLst xmlns:a="http://schemas.openxmlformats.org/drawingml/2006/main">
              <a:ext uri="{FF2B5EF4-FFF2-40B4-BE49-F238E27FC236}">
                <a16:creationId xmlns:a16="http://schemas.microsoft.com/office/drawing/2014/main" id="{762B16AA-8F90-48D6-AFFD-07487950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4486275"/>
            <a:ext cx="317182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全6コース、S〜C評価。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Game Centerの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ランキングにも対応。</a:t>
            </a:r>
          </a:p>
        </p:txBody>
      </p:sp>
      <p:sp>
        <p:nvSpPr>
          <p:cNvPr id="8" name="初回は駐車成功を、慣れてきたら自分の記録更新を目指す構成。">
            <a:extLst xmlns:a="http://schemas.openxmlformats.org/drawingml/2006/main">
              <a:ext uri="{FF2B5EF4-FFF2-40B4-BE49-F238E27FC236}">
                <a16:creationId xmlns:a16="http://schemas.microsoft.com/office/drawing/2014/main" id="{29ACF9C7-2E8F-48E2-A3EF-A7D783EE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769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025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025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025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025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025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025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025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025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025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025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025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025" b="0">
                <a:solidFill>
                  <a:srgbClr val="FBD069"/>
                </a:solidFill>
                <a:latin typeface="Meiryo"/>
                <a:ea typeface="Meiryo"/>
                <a:cs typeface="Meiryo"/>
              </a:rPr>
              <a:t>初回は駐車成功を、慣れてきたら自分の記録更新を目指す構成。</a:t>
            </a:r>
          </a:p>
        </p:txBody>
      </p:sp>
    </p:spTree>
    <p:extLst>
      <p:ext uri="{BB962C8B-B14F-4D97-AF65-F5344CB8AC3E}">
        <p14:creationId xmlns:p14="http://schemas.microsoft.com/office/powerpoint/2010/main" val="7590821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11D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制作体制と公開先">
            <a:extLst xmlns:a="http://schemas.openxmlformats.org/drawingml/2006/main">
              <a:ext uri="{FF2B5EF4-FFF2-40B4-BE49-F238E27FC236}">
                <a16:creationId xmlns:a16="http://schemas.microsoft.com/office/drawing/2014/main" id="{1D94A3FB-9C74-49DE-9CC0-CED34A9B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3300" b="1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3300" b="1">
                <a:solidFill>
                  <a:srgbClr val="FAFCFA"/>
                </a:solidFill>
                <a:latin typeface="Meiryo"/>
                <a:ea typeface="Meiryo"/>
                <a:cs typeface="Meiryo"/>
              </a:rPr>
              <a:t>制作体制と公開先</a:t>
            </a:r>
          </a:p>
        </p:txBody>
      </p:sp>
      <p:sp>
        <p:nvSpPr>
          <p:cNvPr id="2" name="制作人数：4人 / 開発環境：Unity 6">
            <a:extLst xmlns:a="http://schemas.openxmlformats.org/drawingml/2006/main">
              <a:ext uri="{FF2B5EF4-FFF2-40B4-BE49-F238E27FC236}">
                <a16:creationId xmlns:a16="http://schemas.microsoft.com/office/drawing/2014/main" id="{FA5DE6FC-D3C5-4578-AD43-7E7B84C8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430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00" b="0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1800" b="0">
                <a:solidFill>
                  <a:srgbClr val="FBD069"/>
                </a:solidFill>
                <a:latin typeface="Meiryo"/>
                <a:ea typeface="Meiryo"/>
                <a:cs typeface="Meiryo"/>
              </a:rPr>
              <a:t>制作人数：4人 / 開発環境：Unity 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8CA993-E4BE-4C52-8722-3FB4BCE9FF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1a4380bbf444b"/>
          <a:stretch xmlns:a="http://schemas.openxmlformats.org/drawingml/2006/main"/>
        </p:blipFill>
        <p:spPr>
          <a:xfrm xmlns:a="http://schemas.openxmlformats.org/drawingml/2006/main">
            <a:off x="609600" y="1847850"/>
            <a:ext cx="2857500" cy="2857500"/>
          </a:xfrm>
          <a:prstGeom xmlns:a="http://schemas.openxmlformats.org/drawingml/2006/main" prst="rect">
            <a:avLst/>
          </a:prstGeom>
        </p:spPr>
      </p:pic>
      <p:sp>
        <p:nvSpPr>
          <p:cNvPr id="4" name="私の担当">
            <a:extLst xmlns:a="http://schemas.openxmlformats.org/drawingml/2006/main">
              <a:ext uri="{FF2B5EF4-FFF2-40B4-BE49-F238E27FC236}">
                <a16:creationId xmlns:a16="http://schemas.microsoft.com/office/drawing/2014/main" id="{CACD69DC-80EC-4EDF-A3B9-B749CA9A9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47850"/>
            <a:ext cx="7486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BD069"/>
                </a:solidFill>
                <a:latin typeface="Meiryo"/>
                <a:ea typeface="Meiryo"/>
                <a:cs typeface="Meiryo"/>
              </a:rPr>
              <a:t>私の担当</a:t>
            </a:r>
          </a:p>
        </p:txBody>
      </p:sp>
      <p:sp>
        <p:nvSpPr>
          <p:cNvPr id="5" name="企画立案・整理・画像作成・SE。&#10;慣性と駐車を組み合わせた遊びをまとめ、">
            <a:extLst xmlns:a="http://schemas.openxmlformats.org/drawingml/2006/main">
              <a:ext uri="{FF2B5EF4-FFF2-40B4-BE49-F238E27FC236}">
                <a16:creationId xmlns:a16="http://schemas.microsoft.com/office/drawing/2014/main" id="{527CD58C-E510-49C0-8D4C-33AD4825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24100"/>
            <a:ext cx="74866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企画立案・整理・画像作成・SE。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慣性と駐車を組み合わせた遊びをまとめ、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画面や音の素材づくりにも取り組みました。</a:t>
            </a:r>
          </a:p>
        </p:txBody>
      </p:sp>
      <p:sp>
        <p:nvSpPr>
          <p:cNvPr id="6" name="公開形態">
            <a:extLst xmlns:a="http://schemas.openxmlformats.org/drawingml/2006/main">
              <a:ext uri="{FF2B5EF4-FFF2-40B4-BE49-F238E27FC236}">
                <a16:creationId xmlns:a16="http://schemas.microsoft.com/office/drawing/2014/main" id="{52D6FAB0-81E7-480A-972B-F1ED9C86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714750"/>
            <a:ext cx="7486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2100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2100" b="1">
                <a:solidFill>
                  <a:srgbClr val="FBD069"/>
                </a:solidFill>
                <a:latin typeface="Meiryo"/>
                <a:ea typeface="Meiryo"/>
                <a:cs typeface="Meiryo"/>
              </a:rPr>
              <a:t>公開形態</a:t>
            </a:r>
          </a:p>
        </p:txBody>
      </p:sp>
      <p:sp>
        <p:nvSpPr>
          <p:cNvPr id="7" name="iPhone・iPad向けにApp Storeで公開。&#10;PCではunit">
            <a:extLst xmlns:a="http://schemas.openxmlformats.org/drawingml/2006/main">
              <a:ext uri="{FF2B5EF4-FFF2-40B4-BE49-F238E27FC236}">
                <a16:creationId xmlns:a16="http://schemas.microsoft.com/office/drawing/2014/main" id="{FD0410C9-6519-449E-9AFC-755752A22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91000"/>
            <a:ext cx="74866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defPPr>
            <a:lvl1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1pPr>
            <a:lvl2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2pPr>
            <a:lvl3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3pPr>
            <a:lvl4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4pPr>
            <a:lvl5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5pPr>
            <a:lvl6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6pPr>
            <a:lvl7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7pPr>
            <a:lvl8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8pPr>
            <a:lvl9pPr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iPhone・iPad向けにApp Storeで公開。</a:t>
            </a:r>
          </a:p>
          <a:p xmlns:a="http://schemas.openxmlformats.org/drawingml/2006/main">
            <a:pPr>
              <a:lnSpc>
                <a:spcPct val="118000"/>
              </a:lnSpc>
              <a:buNone/>
              <a:defRPr sz="1950" b="0">
                <a:solidFill>
                  <a:srgbClr val="FAFCFA"/>
                </a:solidFill>
                <a:latin typeface="Meiryo"/>
                <a:ea typeface="Meiryo"/>
                <a:cs typeface="Meiryo"/>
              </a:defRPr>
            </a:pPr>
            <a:r>
              <a:rPr sz="1950" b="0">
                <a:solidFill>
                  <a:srgbClr val="FAFCFA"/>
                </a:solidFill>
                <a:latin typeface="Meiryo"/>
                <a:ea typeface="Meiryo"/>
                <a:cs typeface="Meiryo"/>
              </a:rPr>
              <a:t>PCではunityroomからブラウザーでプレイできます。</a:t>
            </a:r>
          </a:p>
        </p:txBody>
      </p:sp>
      <p:sp>
        <p:nvSpPr>
          <p:cNvPr id="8" name="App Storeで見る">
            <a:extLst xmlns:a="http://schemas.openxmlformats.org/drawingml/2006/main">
              <a:ext uri="{FF2B5EF4-FFF2-40B4-BE49-F238E27FC236}">
                <a16:creationId xmlns:a16="http://schemas.microsoft.com/office/drawing/2014/main" id="{5C22AEC3-C960-4A8A-99DD-6098F1537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1875" b="1">
                <a:solidFill>
                  <a:srgbClr val="FBD069"/>
                </a:solidFill>
                <a:latin typeface="Meiryo"/>
                <a:ea typeface="Meiryo"/>
                <a:cs typeface="Meiryo"/>
                <a:hlinkClick xmlns:r="http://schemas.openxmlformats.org/officeDocument/2006/relationships" r:id="R480969fbc12643df"/>
              </a:rPr>
              <a:t>App Storeで見る</a:t>
            </a:r>
          </a:p>
        </p:txBody>
      </p:sp>
      <p:sp>
        <p:nvSpPr>
          <p:cNvPr id="9" name="unityroomでプレイ">
            <a:extLst xmlns:a="http://schemas.openxmlformats.org/drawingml/2006/main">
              <a:ext uri="{FF2B5EF4-FFF2-40B4-BE49-F238E27FC236}">
                <a16:creationId xmlns:a16="http://schemas.microsoft.com/office/drawing/2014/main" id="{1E0C26D1-71D8-4924-84EB-335624B63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defPPr>
            <a:lvl1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1pPr>
            <a:lvl2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2pPr>
            <a:lvl3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3pPr>
            <a:lvl4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4pPr>
            <a:lvl5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5pPr>
            <a:lvl6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6pPr>
            <a:lvl7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7pPr>
            <a:lvl8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8pPr>
            <a:lvl9pPr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lvl9pPr>
          </a:lstStyle>
          <a:p xmlns:a="http://schemas.openxmlformats.org/drawingml/2006/main">
            <a:pPr>
              <a:lnSpc>
                <a:spcPct val="118000"/>
              </a:lnSpc>
              <a:buNone/>
              <a:defRPr sz="1875" b="1">
                <a:solidFill>
                  <a:srgbClr val="FBD069"/>
                </a:solidFill>
                <a:latin typeface="Meiryo"/>
                <a:ea typeface="Meiryo"/>
                <a:cs typeface="Meiryo"/>
              </a:defRPr>
            </a:pPr>
            <a:r>
              <a:rPr sz="1875" b="1">
                <a:solidFill>
                  <a:srgbClr val="FBD069"/>
                </a:solidFill>
                <a:latin typeface="Meiryo"/>
                <a:ea typeface="Meiryo"/>
                <a:cs typeface="Meiryo"/>
                <a:hlinkClick xmlns:r="http://schemas.openxmlformats.org/officeDocument/2006/relationships" r:id="R429f02ebcbc04d77"/>
              </a:rPr>
              <a:t>unityroomでプレイ</a:t>
            </a:r>
          </a:p>
        </p:txBody>
      </p:sp>
    </p:spTree>
    <p:extLst>
      <p:ext uri="{BB962C8B-B14F-4D97-AF65-F5344CB8AC3E}">
        <p14:creationId xmlns:p14="http://schemas.microsoft.com/office/powerpoint/2010/main" val="665221946"/>
      </p:ext>
    </p:extLst>
  </p:cSld>
</p:sld>
</file>

<file path=ppt/theme/theme1.xml><?xml version="1.0" encoding="utf-8"?>
<a:theme xmlns:a="http://schemas.openxmlformats.org/drawingml/2006/main" name="ChatGPT">
  <a:themeElements>
    <a:clrScheme name="すべる宇宙駐車場">
      <a:dk1>
        <a:srgbClr val="111111"/>
      </a:dk1>
      <a:lt1>
        <a:srgbClr val="FFFFFF"/>
      </a:lt1>
      <a:dk2>
        <a:srgbClr val="222222"/>
      </a:dk2>
      <a:lt2>
        <a:srgbClr val="EEEEEE"/>
      </a:lt2>
      <a:accent1>
        <a:srgbClr val="FBD069"/>
      </a:accent1>
      <a:accent2>
        <a:srgbClr val="24B6AC"/>
      </a:accent2>
      <a:accent3>
        <a:srgbClr val="FBD069"/>
      </a:accent3>
      <a:accent4>
        <a:srgbClr val="E85166"/>
      </a:accent4>
      <a:accent5>
        <a:srgbClr val="8F78CD"/>
      </a:accent5>
      <a:accent6>
        <a:srgbClr val="4B985A"/>
      </a:accent6>
      <a:hlink>
        <a:srgbClr val="FBD069"/>
      </a:hlink>
      <a:folHlink>
        <a:srgbClr val="FBD069"/>
      </a:folHlink>
    </a:clrScheme>
    <a:fontScheme name="">
      <a:majorFont>
        <a:latin typeface="Meiryo"/>
        <a:ea typeface=""/>
        <a:cs typeface=""/>
      </a:majorFont>
      <a:minorFont>
        <a:latin typeface="Meiryo"/>
        <a:ea typeface=""/>
        <a:cs typeface=""/>
      </a:minorFont>
    </a:fontScheme>
    <a:fmtScheme name="すべる宇宙駐車場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2026-10-30T08:03:49.6990000Z</dcterms:created>
  <dcterms:modified xsi:type="dcterms:W3CDTF">2026-10-30T08:03:49.6990000Z</dcterms:modified>
</coreProperties>
</file>