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1830008f8954b40" /><Relationship Type="http://schemas.openxmlformats.org/officeDocument/2006/relationships/extended-properties" Target="/docProps/app.xml" Id="Rf9f1215f634d4f87" /><Relationship Type="http://schemas.openxmlformats.org/officeDocument/2006/relationships/officeDocument" Target="/ppt/presentation.xml" Id="R8e378fa24a964d5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22a885c6a6742ed"/>
  </p:sldMasterIdLst>
  <p:notesMasterIdLst>
    <p:notesMasterId xmlns:r="http://schemas.openxmlformats.org/officeDocument/2006/relationships" r:id="Rd69e806ad6e84bee"/>
  </p:notesMasterIdLst>
  <p:sldIdLst>
    <p:sldId xmlns:r="http://schemas.openxmlformats.org/officeDocument/2006/relationships" id="256" r:id="R23a84e428eb3431d"/>
    <p:sldId xmlns:r="http://schemas.openxmlformats.org/officeDocument/2006/relationships" id="257" r:id="Rfd535751bc8c463f"/>
    <p:sldId xmlns:r="http://schemas.openxmlformats.org/officeDocument/2006/relationships" id="258" r:id="Rba0076496e664abb"/>
    <p:sldId xmlns:r="http://schemas.openxmlformats.org/officeDocument/2006/relationships" id="259" r:id="R63f8f65c89a9497c"/>
    <p:sldId xmlns:r="http://schemas.openxmlformats.org/officeDocument/2006/relationships" id="260" r:id="R8b889f6ba43149d8"/>
    <p:sldId xmlns:r="http://schemas.openxmlformats.org/officeDocument/2006/relationships" id="261" r:id="R9a34cb8048dc4fc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f6392867d3d4af6" /><Relationship Type="http://schemas.openxmlformats.org/officeDocument/2006/relationships/slideMaster" Target="/ppt/slideMasters/slideMaster1.xml" Id="R122a885c6a6742ed" /><Relationship Type="http://schemas.openxmlformats.org/officeDocument/2006/relationships/notesMaster" Target="/ppt/notesMasters/notesMaster1.xml" Id="Rd69e806ad6e84bee" /><Relationship Type="http://schemas.openxmlformats.org/officeDocument/2006/relationships/presProps" Target="/ppt/presProps.xml" Id="R889bd60bbfea494e" /><Relationship Type="http://schemas.openxmlformats.org/officeDocument/2006/relationships/tableStyles" Target="/ppt/tableStyles.xml" Id="Rc5fafc7b749e45f5" /><Relationship Type="http://schemas.openxmlformats.org/officeDocument/2006/relationships/slide" Target="/ppt/slides/slide1.xml" Id="R23a84e428eb3431d" /><Relationship Type="http://schemas.openxmlformats.org/officeDocument/2006/relationships/slide" Target="/ppt/slides/slide2.xml" Id="Rfd535751bc8c463f" /><Relationship Type="http://schemas.openxmlformats.org/officeDocument/2006/relationships/slide" Target="/ppt/slides/slide3.xml" Id="Rba0076496e664abb" /><Relationship Type="http://schemas.openxmlformats.org/officeDocument/2006/relationships/slide" Target="/ppt/slides/slide4.xml" Id="R63f8f65c89a9497c" /><Relationship Type="http://schemas.openxmlformats.org/officeDocument/2006/relationships/slide" Target="/ppt/slides/slide5.xml" Id="R8b889f6ba43149d8" /><Relationship Type="http://schemas.openxmlformats.org/officeDocument/2006/relationships/slide" Target="/ppt/slides/slide6.xml" Id="R9a34cb8048dc4fc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69af393ba4f412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V-Link Battle">
      <a:dk1>
        <a:srgbClr val="111111"/>
      </a:dk1>
      <a:lt1>
        <a:srgbClr val="FFFFFF"/>
      </a:lt1>
      <a:dk2>
        <a:srgbClr val="222222"/>
      </a:dk2>
      <a:lt2>
        <a:srgbClr val="EEEEEE"/>
      </a:lt2>
      <a:accent1>
        <a:srgbClr val="FF72B5"/>
      </a:accent1>
      <a:accent2>
        <a:srgbClr val="24B6AC"/>
      </a:accent2>
      <a:accent3>
        <a:srgbClr val="FBD069"/>
      </a:accent3>
      <a:accent4>
        <a:srgbClr val="E85166"/>
      </a:accent4>
      <a:accent5>
        <a:srgbClr val="8F78CD"/>
      </a:accent5>
      <a:accent6>
        <a:srgbClr val="4B985A"/>
      </a:accent6>
      <a:hlink>
        <a:srgbClr val="FF72B5"/>
      </a:hlink>
      <a:folHlink>
        <a:srgbClr val="FF72B5"/>
      </a:folHlink>
    </a:clrScheme>
    <a:fontScheme name="">
      <a:majorFont>
        <a:latin typeface="Meiryo"/>
        <a:ea typeface=""/>
        <a:cs typeface=""/>
      </a:majorFont>
      <a:minorFont>
        <a:latin typeface="Meiryo"/>
        <a:ea typeface=""/>
        <a:cs typeface=""/>
      </a:minorFont>
    </a:fontScheme>
    <a:fmtScheme name="V-Link Battl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abe50d7d0fd4e72" /><Relationship Type="http://schemas.openxmlformats.org/officeDocument/2006/relationships/notesMaster" Target="/ppt/notesMasters/notesMaster1.xml" Id="Rdc990b5ff6004cd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31fb607d7b64db0" /><Relationship Type="http://schemas.openxmlformats.org/officeDocument/2006/relationships/notesMaster" Target="/ppt/notesMasters/notesMaster1.xml" Id="R265e7baf16664a6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15beba9a54e4996" /><Relationship Type="http://schemas.openxmlformats.org/officeDocument/2006/relationships/notesMaster" Target="/ppt/notesMasters/notesMaster1.xml" Id="R20d5cdeebb7d4aa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3cdbfb3e6d64e93" /><Relationship Type="http://schemas.openxmlformats.org/officeDocument/2006/relationships/notesMaster" Target="/ppt/notesMasters/notesMaster1.xml" Id="Rb0ae4b1825c347c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47c36e2250c4761" /><Relationship Type="http://schemas.openxmlformats.org/officeDocument/2006/relationships/notesMaster" Target="/ppt/notesMasters/notesMaster1.xml" Id="R3642bde585c447d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fb7e9b2706e4a05" /><Relationship Type="http://schemas.openxmlformats.org/officeDocument/2006/relationships/notesMaster" Target="/ppt/notesMasters/notesMaster1.xml" Id="Rd7aae10c5f9e4a9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根拠資料</a:t>
            </a:r>
          </a:p>
          <a:p xmlns:a="http://schemas.openxmlformats.org/drawingml/2006/main">
            <a:r>
              <a:t>既存企画資料：D:/企画書、ポートフォリオ、仕様書/企画書/V-LinkBattle (1).pdf</a:t>
            </a:r>
          </a:p>
          <a:p xmlns:a="http://schemas.openxmlformats.org/drawingml/2006/main">
            <a:r>
              <a:t>担当・制作人数：src/sections/featured-works.html、利用者確認（8人）</a:t>
            </a:r>
          </a:p>
          <a:p xmlns:a="http://schemas.openxmlformats.org/drawingml/2006/main">
            <a:r>
              <a:t>実演映像：D:/自作ゲーム動画/アピール.mov、コメント機能.mov、タブ.mov</a:t>
            </a:r>
          </a:p>
          <a:p xmlns:a="http://schemas.openxmlformats.org/drawingml/2006/main">
            <a:r>
              <a:t>公開版の差異：tools/vlink-web/README.md、documents/specifications/specifications.json</a:t>
            </a:r>
          </a:p>
          <a:p xmlns:a="http://schemas.openxmlformats.org/drawingml/2006/main">
            <a:r>
              <a:t>想定プレイヤー・企画の狙いは提案上の位置付け。市場調査の結果ではありません。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根拠資料</a:t>
            </a:r>
          </a:p>
          <a:p xmlns:a="http://schemas.openxmlformats.org/drawingml/2006/main">
            <a:r>
              <a:t>既存企画資料：D:/企画書、ポートフォリオ、仕様書/企画書/V-LinkBattle (1).pdf</a:t>
            </a:r>
          </a:p>
          <a:p xmlns:a="http://schemas.openxmlformats.org/drawingml/2006/main">
            <a:r>
              <a:t>担当・制作人数：src/sections/featured-works.html、利用者確認（8人）</a:t>
            </a:r>
          </a:p>
          <a:p xmlns:a="http://schemas.openxmlformats.org/drawingml/2006/main">
            <a:r>
              <a:t>実演映像：D:/自作ゲーム動画/アピール.mov、コメント機能.mov、タブ.mov</a:t>
            </a:r>
          </a:p>
          <a:p xmlns:a="http://schemas.openxmlformats.org/drawingml/2006/main">
            <a:r>
              <a:t>公開版の差異：tools/vlink-web/README.md、documents/specifications/specifications.json</a:t>
            </a:r>
          </a:p>
          <a:p xmlns:a="http://schemas.openxmlformats.org/drawingml/2006/main">
            <a:r>
              <a:t>想定プレイヤー・企画の狙いは提案上の位置付け。市場調査の結果ではありません。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根拠資料</a:t>
            </a:r>
          </a:p>
          <a:p xmlns:a="http://schemas.openxmlformats.org/drawingml/2006/main">
            <a:r>
              <a:t>既存企画資料：D:/企画書、ポートフォリオ、仕様書/企画書/V-LinkBattle (1).pdf</a:t>
            </a:r>
          </a:p>
          <a:p xmlns:a="http://schemas.openxmlformats.org/drawingml/2006/main">
            <a:r>
              <a:t>担当・制作人数：src/sections/featured-works.html、利用者確認（8人）</a:t>
            </a:r>
          </a:p>
          <a:p xmlns:a="http://schemas.openxmlformats.org/drawingml/2006/main">
            <a:r>
              <a:t>実演映像：D:/自作ゲーム動画/アピール.mov、コメント機能.mov、タブ.mov</a:t>
            </a:r>
          </a:p>
          <a:p xmlns:a="http://schemas.openxmlformats.org/drawingml/2006/main">
            <a:r>
              <a:t>公開版の差異：tools/vlink-web/README.md、documents/specifications/specifications.json</a:t>
            </a:r>
          </a:p>
          <a:p xmlns:a="http://schemas.openxmlformats.org/drawingml/2006/main">
            <a:r>
              <a:t>想定プレイヤー・企画の狙いは提案上の位置付け。市場調査の結果ではありません。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根拠資料</a:t>
            </a:r>
          </a:p>
          <a:p xmlns:a="http://schemas.openxmlformats.org/drawingml/2006/main">
            <a:r>
              <a:t>既存企画資料：D:/企画書、ポートフォリオ、仕様書/企画書/V-LinkBattle (1).pdf</a:t>
            </a:r>
          </a:p>
          <a:p xmlns:a="http://schemas.openxmlformats.org/drawingml/2006/main">
            <a:r>
              <a:t>担当・制作人数：src/sections/featured-works.html、利用者確認（8人）</a:t>
            </a:r>
          </a:p>
          <a:p xmlns:a="http://schemas.openxmlformats.org/drawingml/2006/main">
            <a:r>
              <a:t>実演映像：D:/自作ゲーム動画/アピール.mov、コメント機能.mov、タブ.mov</a:t>
            </a:r>
          </a:p>
          <a:p xmlns:a="http://schemas.openxmlformats.org/drawingml/2006/main">
            <a:r>
              <a:t>公開版の差異：tools/vlink-web/README.md、documents/specifications/specifications.json</a:t>
            </a:r>
          </a:p>
          <a:p xmlns:a="http://schemas.openxmlformats.org/drawingml/2006/main">
            <a:r>
              <a:t>想定プレイヤー・企画の狙いは提案上の位置付け。市場調査の結果ではありません。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根拠資料</a:t>
            </a:r>
          </a:p>
          <a:p xmlns:a="http://schemas.openxmlformats.org/drawingml/2006/main">
            <a:r>
              <a:t>既存企画資料：D:/企画書、ポートフォリオ、仕様書/企画書/V-LinkBattle (1).pdf</a:t>
            </a:r>
          </a:p>
          <a:p xmlns:a="http://schemas.openxmlformats.org/drawingml/2006/main">
            <a:r>
              <a:t>担当・制作人数：src/sections/featured-works.html、利用者確認（8人）</a:t>
            </a:r>
          </a:p>
          <a:p xmlns:a="http://schemas.openxmlformats.org/drawingml/2006/main">
            <a:r>
              <a:t>実演映像：D:/自作ゲーム動画/アピール.mov、コメント機能.mov、タブ.mov</a:t>
            </a:r>
          </a:p>
          <a:p xmlns:a="http://schemas.openxmlformats.org/drawingml/2006/main">
            <a:r>
              <a:t>公開版の差異：tools/vlink-web/README.md、documents/specifications/specifications.json</a:t>
            </a:r>
          </a:p>
          <a:p xmlns:a="http://schemas.openxmlformats.org/drawingml/2006/main">
            <a:r>
              <a:t>想定プレイヤー・企画の狙いは提案上の位置付け。市場調査の結果ではありません。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根拠資料</a:t>
            </a:r>
          </a:p>
          <a:p xmlns:a="http://schemas.openxmlformats.org/drawingml/2006/main">
            <a:r>
              <a:t>既存企画資料：D:/企画書、ポートフォリオ、仕様書/企画書/V-LinkBattle (1).pdf</a:t>
            </a:r>
          </a:p>
          <a:p xmlns:a="http://schemas.openxmlformats.org/drawingml/2006/main">
            <a:r>
              <a:t>担当・制作人数：src/sections/featured-works.html、利用者確認（8人）</a:t>
            </a:r>
          </a:p>
          <a:p xmlns:a="http://schemas.openxmlformats.org/drawingml/2006/main">
            <a:r>
              <a:t>実演映像：D:/自作ゲーム動画/アピール.mov、コメント機能.mov、タブ.mov</a:t>
            </a:r>
          </a:p>
          <a:p xmlns:a="http://schemas.openxmlformats.org/drawingml/2006/main">
            <a:r>
              <a:t>公開版の差異：tools/vlink-web/README.md、documents/specifications/specifications.json</a:t>
            </a:r>
          </a:p>
          <a:p xmlns:a="http://schemas.openxmlformats.org/drawingml/2006/main">
            <a:r>
              <a:t>想定プレイヤー・企画の狙いは提案上の位置付け。市場調査の結果ではありません。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cbee9663d04e1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d2e9d6202644d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c1c1dab3ec49f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90d42d6e4049e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b7ad52ed7747c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f31927824f42c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0FF2205-F6DA-4F3A-944E-F751095B8C7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EF999DD-B262-4D95-B556-62C9BA3099F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7224D98-74E1-4DF2-85F5-3AC369CB74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4E130A0-6F3A-4FE5-AD1C-F6C186B2363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6E7DB23-DFF9-4E9F-8E26-CBC865360CB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8202B5F-752C-4F6E-B2AE-6D0885A618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262677C-9E9A-44C2-ACBF-AC0BAFD0E6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6DA538D-9992-402C-AB59-0275AB143F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210AA44-7160-4E45-8754-9CEA8F634D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8DB108C-E18A-456C-9804-421328A5CE4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10d3a3805c748d9" /><Relationship Type="http://schemas.openxmlformats.org/officeDocument/2006/relationships/slideLayout" Target="/ppt/slideLayouts/slideLayout1.xml" Id="R8ebdee510b3a431b" /><Relationship Type="http://schemas.openxmlformats.org/officeDocument/2006/relationships/slideLayout" Target="/ppt/slideLayouts/slideLayout2.xml" Id="R577a31eca04a494d" /><Relationship Type="http://schemas.openxmlformats.org/officeDocument/2006/relationships/slideLayout" Target="/ppt/slideLayouts/slideLayout3.xml" Id="Rfaa67c5f7f7b4b8e" /><Relationship Type="http://schemas.openxmlformats.org/officeDocument/2006/relationships/slideLayout" Target="/ppt/slideLayouts/slideLayout4.xml" Id="R047f0cc5d1dc4c7e" /><Relationship Type="http://schemas.openxmlformats.org/officeDocument/2006/relationships/slideLayout" Target="/ppt/slideLayouts/slideLayout5.xml" Id="R28bde3323c8b473b" /><Relationship Type="http://schemas.openxmlformats.org/officeDocument/2006/relationships/slideLayout" Target="/ppt/slideLayouts/slideLayout6.xml" Id="Rf8a2f5395740484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ebdee510b3a431b"/>
    <p:sldLayoutId xmlns:r="http://schemas.openxmlformats.org/officeDocument/2006/relationships" id="2147483650" r:id="R577a31eca04a494d"/>
    <p:sldLayoutId xmlns:r="http://schemas.openxmlformats.org/officeDocument/2006/relationships" id="2147483651" r:id="Rfaa67c5f7f7b4b8e"/>
    <p:sldLayoutId xmlns:r="http://schemas.openxmlformats.org/officeDocument/2006/relationships" id="2147483652" r:id="R047f0cc5d1dc4c7e"/>
    <p:sldLayoutId xmlns:r="http://schemas.openxmlformats.org/officeDocument/2006/relationships" id="2147483653" r:id="R28bde3323c8b473b"/>
    <p:sldLayoutId xmlns:r="http://schemas.openxmlformats.org/officeDocument/2006/relationships" id="2147483654" r:id="Rf8a2f5395740484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V-Link Battle">
      <a:dk1>
        <a:srgbClr val="111111"/>
      </a:dk1>
      <a:lt1>
        <a:srgbClr val="FFFFFF"/>
      </a:lt1>
      <a:dk2>
        <a:srgbClr val="222222"/>
      </a:dk2>
      <a:lt2>
        <a:srgbClr val="EEEEEE"/>
      </a:lt2>
      <a:accent1>
        <a:srgbClr val="FF72B5"/>
      </a:accent1>
      <a:accent2>
        <a:srgbClr val="24B6AC"/>
      </a:accent2>
      <a:accent3>
        <a:srgbClr val="FBD069"/>
      </a:accent3>
      <a:accent4>
        <a:srgbClr val="E85166"/>
      </a:accent4>
      <a:accent5>
        <a:srgbClr val="8F78CD"/>
      </a:accent5>
      <a:accent6>
        <a:srgbClr val="4B985A"/>
      </a:accent6>
      <a:hlink>
        <a:srgbClr val="FF72B5"/>
      </a:hlink>
      <a:folHlink>
        <a:srgbClr val="FF72B5"/>
      </a:folHlink>
    </a:clrScheme>
    <a:fontScheme name="">
      <a:majorFont>
        <a:latin typeface="Meiryo"/>
        <a:ea typeface=""/>
        <a:cs typeface=""/>
      </a:majorFont>
      <a:minorFont>
        <a:latin typeface="Meiryo"/>
        <a:ea typeface=""/>
        <a:cs typeface=""/>
      </a:minorFont>
    </a:fontScheme>
    <a:fmtScheme name="V-Link Battl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40b90d62374ebf" /><Relationship Type="http://schemas.openxmlformats.org/officeDocument/2006/relationships/image" Target="/ppt/media/image.jpeg" Id="R7262e51f0c1a42dd" /><Relationship Type="http://schemas.openxmlformats.org/officeDocument/2006/relationships/notesSlide" Target="/ppt/notesSlides/notesSlide1.xml" Id="Rd144ff331c77482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7290c887e3483c" /><Relationship Type="http://schemas.openxmlformats.org/officeDocument/2006/relationships/image" Target="/ppt/media/image.png" Id="R0c43b14a606a4eb1" /><Relationship Type="http://schemas.openxmlformats.org/officeDocument/2006/relationships/notesSlide" Target="/ppt/notesSlides/notesSlide2.xml" Id="R8e652d05c5e7425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e62d5d08444707" /><Relationship Type="http://schemas.openxmlformats.org/officeDocument/2006/relationships/image" Target="/ppt/media/image2.jpeg" Id="Rcb96e7a98879491a" /><Relationship Type="http://schemas.openxmlformats.org/officeDocument/2006/relationships/notesSlide" Target="/ppt/notesSlides/notesSlide3.xml" Id="R6e259a3b33a74f2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525d96441245ea" /><Relationship Type="http://schemas.openxmlformats.org/officeDocument/2006/relationships/image" Target="/ppt/media/image3.jpeg" Id="Rcb35fd0556354d3b" /><Relationship Type="http://schemas.openxmlformats.org/officeDocument/2006/relationships/image" Target="/ppt/media/image4.jpeg" Id="Re5c52868c7fc4dda" /><Relationship Type="http://schemas.openxmlformats.org/officeDocument/2006/relationships/notesSlide" Target="/ppt/notesSlides/notesSlide4.xml" Id="R44e45cea908848e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e531d7add74d96" /><Relationship Type="http://schemas.openxmlformats.org/officeDocument/2006/relationships/notesSlide" Target="/ppt/notesSlides/notesSlide5.xml" Id="R3799313fb53e400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ca5f824aa14f0a" /><Relationship Type="http://schemas.openxmlformats.org/officeDocument/2006/relationships/hyperlink" Target="https://kuon-haruto.github.io/portfolio/play/v-link-battle/" TargetMode="External" Id="R10ad3dcdbd5f40f7" /><Relationship Type="http://schemas.openxmlformats.org/officeDocument/2006/relationships/hyperlink" Target="https://kuon-haruto.github.io/portfolio/#featured-works" TargetMode="External" Id="Rbb1841ed5a274097" /><Relationship Type="http://schemas.openxmlformats.org/officeDocument/2006/relationships/notesSlide" Target="/ppt/notesSlides/notesSlide6.xml" Id="R398a44fe26824d1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11E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V-Link Battle">
            <a:extLst xmlns:a="http://schemas.openxmlformats.org/drawingml/2006/main">
              <a:ext uri="{FF2B5EF4-FFF2-40B4-BE49-F238E27FC236}">
                <a16:creationId xmlns:a16="http://schemas.microsoft.com/office/drawing/2014/main" id="{335E4FF5-FEF0-4FBA-AB5B-421BA1050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defPPr>
            <a:lvl1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1pPr>
            <a:lvl2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2pPr>
            <a:lvl3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3pPr>
            <a:lvl4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4pPr>
            <a:lvl5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5pPr>
            <a:lvl6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6pPr>
            <a:lvl7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7pPr>
            <a:lvl8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8pPr>
            <a:lvl9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3300" b="1">
                <a:solidFill>
                  <a:srgbClr val="FAF8FF"/>
                </a:solidFill>
                <a:latin typeface="Meiryo"/>
                <a:ea typeface="Meiryo"/>
                <a:cs typeface="Meiryo"/>
              </a:rPr>
              <a:t>V-Link Battle</a:t>
            </a:r>
          </a:p>
        </p:txBody>
      </p:sp>
      <p:sp>
        <p:nvSpPr>
          <p:cNvPr id="2" name="VTuberの配信文化を題材にした3D対戦アクション">
            <a:extLst xmlns:a="http://schemas.openxmlformats.org/drawingml/2006/main">
              <a:ext uri="{FF2B5EF4-FFF2-40B4-BE49-F238E27FC236}">
                <a16:creationId xmlns:a16="http://schemas.microsoft.com/office/drawing/2014/main" id="{6405B95D-AF62-4FE4-AB3C-2DFB3201C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defPPr>
            <a:lvl1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1pPr>
            <a:lvl2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2pPr>
            <a:lvl3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3pPr>
            <a:lvl4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4pPr>
            <a:lvl5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5pPr>
            <a:lvl6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6pPr>
            <a:lvl7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7pPr>
            <a:lvl8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8pPr>
            <a:lvl9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pPr>
            <a:r>
              <a:rPr sz="1800" b="0">
                <a:solidFill>
                  <a:srgbClr val="FF72B5"/>
                </a:solidFill>
                <a:latin typeface="Meiryo"/>
                <a:ea typeface="Meiryo"/>
                <a:cs typeface="Meiryo"/>
              </a:rPr>
              <a:t>VTuberの配信文化を題材にした3D対戦アクション</a:t>
            </a:r>
          </a:p>
        </p:txBody>
      </p:sp>
      <p:sp>
        <p:nvSpPr>
          <p:cNvPr id="3" name="V-Link Battle / 企画書">
            <a:extLst xmlns:a="http://schemas.openxmlformats.org/drawingml/2006/main">
              <a:ext uri="{FF2B5EF4-FFF2-40B4-BE49-F238E27FC236}">
                <a16:creationId xmlns:a16="http://schemas.microsoft.com/office/drawing/2014/main" id="{BD599D8A-C307-457B-8A2D-771BA50CA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defPPr>
            <a:lvl1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1pPr>
            <a:lvl2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2pPr>
            <a:lvl3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3pPr>
            <a:lvl4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4pPr>
            <a:lvl5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5pPr>
            <a:lvl6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6pPr>
            <a:lvl7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7pPr>
            <a:lvl8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8pPr>
            <a:lvl9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pPr>
            <a:r>
              <a:rPr sz="1200" b="0">
                <a:solidFill>
                  <a:srgbClr val="C5BDCE"/>
                </a:solidFill>
                <a:latin typeface="Meiryo"/>
                <a:ea typeface="Meiryo"/>
                <a:cs typeface="Meiryo"/>
              </a:rPr>
              <a:t>V-Link Battle / 企画書</a:t>
            </a:r>
          </a:p>
        </p:txBody>
      </p:sp>
      <p:sp>
        <p:nvSpPr>
          <p:cNvPr id="4" name="01 / 06">
            <a:extLst xmlns:a="http://schemas.openxmlformats.org/drawingml/2006/main">
              <a:ext uri="{FF2B5EF4-FFF2-40B4-BE49-F238E27FC236}">
                <a16:creationId xmlns:a16="http://schemas.microsoft.com/office/drawing/2014/main" id="{01A8E254-2E83-4C96-A69A-207A33DE1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4842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defPPr>
            <a:lvl1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1pPr>
            <a:lvl2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2pPr>
            <a:lvl3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3pPr>
            <a:lvl4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4pPr>
            <a:lvl5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5pPr>
            <a:lvl6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6pPr>
            <a:lvl7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7pPr>
            <a:lvl8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8pPr>
            <a:lvl9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pPr>
            <a:r>
              <a:rPr sz="1200" b="0">
                <a:solidFill>
                  <a:srgbClr val="C5BDCE"/>
                </a:solidFill>
                <a:latin typeface="Meiryo"/>
                <a:ea typeface="Meiryo"/>
                <a:cs typeface="Meiryo"/>
              </a:rPr>
              <a:t>01 / 06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E4B0D7-A3F7-4EF2-97DF-A05550F1E67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62e51f0c1a42dd"/>
          <a:stretch xmlns:a="http://schemas.openxmlformats.org/drawingml/2006/main"/>
        </p:blipFill>
        <p:spPr>
          <a:xfrm xmlns:a="http://schemas.openxmlformats.org/drawingml/2006/main">
            <a:off x="4000500" y="1810941"/>
            <a:ext cx="7581900" cy="4264819"/>
          </a:xfrm>
          <a:prstGeom xmlns:a="http://schemas.openxmlformats.org/drawingml/2006/main" prst="rect">
            <a:avLst/>
          </a:prstGeom>
        </p:spPr>
      </p:pic>
      <p:sp>
        <p:nvSpPr>
          <p:cNvPr id="6" name="魅せる行動を、&#10;勝つための&#10;戦略に。">
            <a:extLst xmlns:a="http://schemas.openxmlformats.org/drawingml/2006/main">
              <a:ext uri="{FF2B5EF4-FFF2-40B4-BE49-F238E27FC236}">
                <a16:creationId xmlns:a16="http://schemas.microsoft.com/office/drawing/2014/main" id="{8FE7310B-AF15-41CF-8127-861D35084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32956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defPPr>
            <a:lvl1pPr>
              <a:defRPr sz="345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1pPr>
            <a:lvl2pPr>
              <a:defRPr sz="345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2pPr>
            <a:lvl3pPr>
              <a:defRPr sz="345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3pPr>
            <a:lvl4pPr>
              <a:defRPr sz="345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4pPr>
            <a:lvl5pPr>
              <a:defRPr sz="345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5pPr>
            <a:lvl6pPr>
              <a:defRPr sz="345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6pPr>
            <a:lvl7pPr>
              <a:defRPr sz="345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7pPr>
            <a:lvl8pPr>
              <a:defRPr sz="345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8pPr>
            <a:lvl9pPr>
              <a:defRPr sz="345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345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3450" b="1">
                <a:solidFill>
                  <a:srgbClr val="FAF8FF"/>
                </a:solidFill>
                <a:latin typeface="Meiryo"/>
                <a:ea typeface="Meiryo"/>
                <a:cs typeface="Meiryo"/>
              </a:rPr>
              <a:t>魅せる行動を、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345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3450" b="1">
                <a:solidFill>
                  <a:srgbClr val="FAF8FF"/>
                </a:solidFill>
                <a:latin typeface="Meiryo"/>
                <a:ea typeface="Meiryo"/>
                <a:cs typeface="Meiryo"/>
              </a:rPr>
              <a:t>勝つための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345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3450" b="1">
                <a:solidFill>
                  <a:srgbClr val="FAF8FF"/>
                </a:solidFill>
                <a:latin typeface="Meiryo"/>
                <a:ea typeface="Meiryo"/>
                <a:cs typeface="Meiryo"/>
              </a:rPr>
              <a:t>戦略に。</a:t>
            </a:r>
          </a:p>
        </p:txBody>
      </p:sp>
      <p:sp>
        <p:nvSpPr>
          <p:cNvPr id="7" name="攻撃するだけでなく、&#10;相手の隙にアピール。&#10;配信の盛り上がりを&#10;戦いの力">
            <a:extLst xmlns:a="http://schemas.openxmlformats.org/drawingml/2006/main">
              <a:ext uri="{FF2B5EF4-FFF2-40B4-BE49-F238E27FC236}">
                <a16:creationId xmlns:a16="http://schemas.microsoft.com/office/drawing/2014/main" id="{AA60EE57-0FE6-4E16-8C93-59827FBF1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525"/>
            <a:ext cx="32956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defPPr>
            <a:lvl1pPr>
              <a:defRPr sz="1875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1pPr>
            <a:lvl2pPr>
              <a:defRPr sz="1875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2pPr>
            <a:lvl3pPr>
              <a:defRPr sz="1875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3pPr>
            <a:lvl4pPr>
              <a:defRPr sz="1875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4pPr>
            <a:lvl5pPr>
              <a:defRPr sz="1875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5pPr>
            <a:lvl6pPr>
              <a:defRPr sz="1875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6pPr>
            <a:lvl7pPr>
              <a:defRPr sz="1875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7pPr>
            <a:lvl8pPr>
              <a:defRPr sz="1875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8pPr>
            <a:lvl9pPr>
              <a:defRPr sz="1875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875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1875" b="0">
                <a:solidFill>
                  <a:srgbClr val="FAF8FF"/>
                </a:solidFill>
                <a:latin typeface="Meiryo"/>
                <a:ea typeface="Meiryo"/>
                <a:cs typeface="Meiryo"/>
              </a:rPr>
              <a:t>攻撃するだけでなく、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75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1875" b="0">
                <a:solidFill>
                  <a:srgbClr val="FAF8FF"/>
                </a:solidFill>
                <a:latin typeface="Meiryo"/>
                <a:ea typeface="Meiryo"/>
                <a:cs typeface="Meiryo"/>
              </a:rPr>
              <a:t>相手の隙にアピール。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75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1875" b="0">
                <a:solidFill>
                  <a:srgbClr val="FAF8FF"/>
                </a:solidFill>
                <a:latin typeface="Meiryo"/>
                <a:ea typeface="Meiryo"/>
                <a:cs typeface="Meiryo"/>
              </a:rPr>
              <a:t>配信の盛り上がりを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75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1875" b="0">
                <a:solidFill>
                  <a:srgbClr val="FAF8FF"/>
                </a:solidFill>
                <a:latin typeface="Meiryo"/>
                <a:ea typeface="Meiryo"/>
                <a:cs typeface="Meiryo"/>
              </a:rPr>
              <a:t>戦いの力へ変える企画。</a:t>
            </a:r>
          </a:p>
        </p:txBody>
      </p:sp>
      <p:sp>
        <p:nvSpPr>
          <p:cNvPr id="8" name="制作人数：8人 / Unity&#10;企画書作成：島本善太">
            <a:extLst xmlns:a="http://schemas.openxmlformats.org/drawingml/2006/main">
              <a:ext uri="{FF2B5EF4-FFF2-40B4-BE49-F238E27FC236}">
                <a16:creationId xmlns:a16="http://schemas.microsoft.com/office/drawing/2014/main" id="{6437A1C2-25B4-405E-93AC-B53C75EA9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defPPr>
            <a:lvl1pPr>
              <a:defRPr sz="135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1pPr>
            <a:lvl2pPr>
              <a:defRPr sz="135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2pPr>
            <a:lvl3pPr>
              <a:defRPr sz="135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3pPr>
            <a:lvl4pPr>
              <a:defRPr sz="135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4pPr>
            <a:lvl5pPr>
              <a:defRPr sz="135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5pPr>
            <a:lvl6pPr>
              <a:defRPr sz="135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6pPr>
            <a:lvl7pPr>
              <a:defRPr sz="135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7pPr>
            <a:lvl8pPr>
              <a:defRPr sz="135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8pPr>
            <a:lvl9pPr>
              <a:defRPr sz="135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35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C5BDCE"/>
                </a:solidFill>
                <a:latin typeface="Meiryo"/>
                <a:ea typeface="Meiryo"/>
                <a:cs typeface="Meiryo"/>
              </a:rPr>
              <a:t>制作人数：8人 / Unity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35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C5BDCE"/>
                </a:solidFill>
                <a:latin typeface="Meiryo"/>
                <a:ea typeface="Meiryo"/>
                <a:cs typeface="Meiryo"/>
              </a:rPr>
              <a:t>企画書作成：島本善太</a:t>
            </a:r>
          </a:p>
        </p:txBody>
      </p:sp>
    </p:spTree>
    <p:extLst>
      <p:ext uri="{BB962C8B-B14F-4D97-AF65-F5344CB8AC3E}">
        <p14:creationId xmlns:p14="http://schemas.microsoft.com/office/powerpoint/2010/main" val="195642706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211E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企画の核とプレイヤー体験">
            <a:extLst xmlns:a="http://schemas.openxmlformats.org/drawingml/2006/main">
              <a:ext uri="{FF2B5EF4-FFF2-40B4-BE49-F238E27FC236}">
                <a16:creationId xmlns:a16="http://schemas.microsoft.com/office/drawing/2014/main" id="{97E9C7A2-AECE-46CC-A499-134891045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defPPr>
            <a:lvl1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1pPr>
            <a:lvl2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2pPr>
            <a:lvl3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3pPr>
            <a:lvl4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4pPr>
            <a:lvl5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5pPr>
            <a:lvl6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6pPr>
            <a:lvl7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7pPr>
            <a:lvl8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8pPr>
            <a:lvl9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3300" b="1">
                <a:solidFill>
                  <a:srgbClr val="FAF8FF"/>
                </a:solidFill>
                <a:latin typeface="Meiryo"/>
                <a:ea typeface="Meiryo"/>
                <a:cs typeface="Meiryo"/>
              </a:rPr>
              <a:t>企画の核とプレイヤー体験</a:t>
            </a:r>
          </a:p>
        </p:txBody>
      </p:sp>
      <p:sp>
        <p:nvSpPr>
          <p:cNvPr id="2" name="対戦の駆け引きに、配信者らしい「見せ場」を加える">
            <a:extLst xmlns:a="http://schemas.openxmlformats.org/drawingml/2006/main">
              <a:ext uri="{FF2B5EF4-FFF2-40B4-BE49-F238E27FC236}">
                <a16:creationId xmlns:a16="http://schemas.microsoft.com/office/drawing/2014/main" id="{9CC25C03-8D90-435C-B7D7-0CC1B6731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defPPr>
            <a:lvl1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1pPr>
            <a:lvl2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2pPr>
            <a:lvl3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3pPr>
            <a:lvl4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4pPr>
            <a:lvl5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5pPr>
            <a:lvl6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6pPr>
            <a:lvl7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7pPr>
            <a:lvl8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8pPr>
            <a:lvl9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pPr>
            <a:r>
              <a:rPr sz="1800" b="0">
                <a:solidFill>
                  <a:srgbClr val="FF72B5"/>
                </a:solidFill>
                <a:latin typeface="Meiryo"/>
                <a:ea typeface="Meiryo"/>
                <a:cs typeface="Meiryo"/>
              </a:rPr>
              <a:t>対戦の駆け引きに、配信者らしい「見せ場」を加える</a:t>
            </a:r>
          </a:p>
        </p:txBody>
      </p:sp>
      <p:sp>
        <p:nvSpPr>
          <p:cNvPr id="3" name="V-Link Battle / 企画書">
            <a:extLst xmlns:a="http://schemas.openxmlformats.org/drawingml/2006/main">
              <a:ext uri="{FF2B5EF4-FFF2-40B4-BE49-F238E27FC236}">
                <a16:creationId xmlns:a16="http://schemas.microsoft.com/office/drawing/2014/main" id="{51831DC9-844A-434C-AF77-3FDC4EBE5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defPPr>
            <a:lvl1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1pPr>
            <a:lvl2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2pPr>
            <a:lvl3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3pPr>
            <a:lvl4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4pPr>
            <a:lvl5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5pPr>
            <a:lvl6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6pPr>
            <a:lvl7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7pPr>
            <a:lvl8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8pPr>
            <a:lvl9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pPr>
            <a:r>
              <a:rPr sz="1200" b="0">
                <a:solidFill>
                  <a:srgbClr val="C5BDCE"/>
                </a:solidFill>
                <a:latin typeface="Meiryo"/>
                <a:ea typeface="Meiryo"/>
                <a:cs typeface="Meiryo"/>
              </a:rPr>
              <a:t>V-Link Battle / 企画書</a:t>
            </a:r>
          </a:p>
        </p:txBody>
      </p:sp>
      <p:sp>
        <p:nvSpPr>
          <p:cNvPr id="4" name="02 / 06">
            <a:extLst xmlns:a="http://schemas.openxmlformats.org/drawingml/2006/main">
              <a:ext uri="{FF2B5EF4-FFF2-40B4-BE49-F238E27FC236}">
                <a16:creationId xmlns:a16="http://schemas.microsoft.com/office/drawing/2014/main" id="{D8AD39E5-ED47-4718-8F29-8F5B6B5D2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4842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defPPr>
            <a:lvl1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1pPr>
            <a:lvl2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2pPr>
            <a:lvl3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3pPr>
            <a:lvl4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4pPr>
            <a:lvl5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5pPr>
            <a:lvl6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6pPr>
            <a:lvl7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7pPr>
            <a:lvl8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8pPr>
            <a:lvl9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pPr>
            <a:r>
              <a:rPr sz="1200" b="0">
                <a:solidFill>
                  <a:srgbClr val="C5BDCE"/>
                </a:solidFill>
                <a:latin typeface="Meiryo"/>
                <a:ea typeface="Meiryo"/>
                <a:cs typeface="Meiryo"/>
              </a:rPr>
              <a:t>02 / 06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CA4F2F-6D2C-4C98-9F50-D762E3EF12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43b14a606a4eb1"/>
          <a:stretch xmlns:a="http://schemas.openxmlformats.org/drawingml/2006/main"/>
        </p:blipFill>
        <p:spPr>
          <a:xfrm xmlns:a="http://schemas.openxmlformats.org/drawingml/2006/main">
            <a:off x="609600" y="1838325"/>
            <a:ext cx="3238500" cy="3238500"/>
          </a:xfrm>
          <a:prstGeom xmlns:a="http://schemas.openxmlformats.org/drawingml/2006/main" prst="rect">
            <a:avLst/>
          </a:prstGeom>
        </p:spPr>
      </p:pic>
      <p:sp>
        <p:nvSpPr>
          <p:cNvPr id="6" name="想定するプレイヤー">
            <a:extLst xmlns:a="http://schemas.openxmlformats.org/drawingml/2006/main">
              <a:ext uri="{FF2B5EF4-FFF2-40B4-BE49-F238E27FC236}">
                <a16:creationId xmlns:a16="http://schemas.microsoft.com/office/drawing/2014/main" id="{66433405-B389-45C6-8BBA-1E7252AAA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847850"/>
            <a:ext cx="720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defPPr>
            <a:lvl1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1pPr>
            <a:lvl2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2pPr>
            <a:lvl3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3pPr>
            <a:lvl4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4pPr>
            <a:lvl5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5pPr>
            <a:lvl6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6pPr>
            <a:lvl7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7pPr>
            <a:lvl8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8pPr>
            <a:lvl9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FF72B5"/>
                </a:solidFill>
                <a:latin typeface="Meiryo"/>
                <a:ea typeface="Meiryo"/>
                <a:cs typeface="Meiryo"/>
              </a:rPr>
              <a:t>想定するプレイヤー</a:t>
            </a:r>
          </a:p>
        </p:txBody>
      </p:sp>
      <p:sp>
        <p:nvSpPr>
          <p:cNvPr id="7" name="VTuberや配信文化に親しみがあり、&#10;相手との読み合いや対戦を楽しみた">
            <a:extLst xmlns:a="http://schemas.openxmlformats.org/drawingml/2006/main">
              <a:ext uri="{FF2B5EF4-FFF2-40B4-BE49-F238E27FC236}">
                <a16:creationId xmlns:a16="http://schemas.microsoft.com/office/drawing/2014/main" id="{BEF3BCDD-385E-4C32-A38E-60540F3E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24100"/>
            <a:ext cx="7200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defPPr>
            <a:lvl1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1pPr>
            <a:lvl2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2pPr>
            <a:lvl3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3pPr>
            <a:lvl4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4pPr>
            <a:lvl5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5pPr>
            <a:lvl6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6pPr>
            <a:lvl7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7pPr>
            <a:lvl8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8pPr>
            <a:lvl9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8FF"/>
                </a:solidFill>
                <a:latin typeface="Meiryo"/>
                <a:ea typeface="Meiryo"/>
                <a:cs typeface="Meiryo"/>
              </a:rPr>
              <a:t>VTuberや配信文化に親しみがあり、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8FF"/>
                </a:solidFill>
                <a:latin typeface="Meiryo"/>
                <a:ea typeface="Meiryo"/>
                <a:cs typeface="Meiryo"/>
              </a:rPr>
              <a:t>相手との読み合いや対戦を楽しみたい人。</a:t>
            </a:r>
          </a:p>
        </p:txBody>
      </p:sp>
      <p:sp>
        <p:nvSpPr>
          <p:cNvPr id="8" name="基本の遊び">
            <a:extLst xmlns:a="http://schemas.openxmlformats.org/drawingml/2006/main">
              <a:ext uri="{FF2B5EF4-FFF2-40B4-BE49-F238E27FC236}">
                <a16:creationId xmlns:a16="http://schemas.microsoft.com/office/drawing/2014/main" id="{A1256D00-2F83-4648-9881-3A81DBD58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457575"/>
            <a:ext cx="720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defPPr>
            <a:lvl1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1pPr>
            <a:lvl2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2pPr>
            <a:lvl3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3pPr>
            <a:lvl4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4pPr>
            <a:lvl5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5pPr>
            <a:lvl6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6pPr>
            <a:lvl7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7pPr>
            <a:lvl8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8pPr>
            <a:lvl9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FF72B5"/>
                </a:solidFill>
                <a:latin typeface="Meiryo"/>
                <a:ea typeface="Meiryo"/>
                <a:cs typeface="Meiryo"/>
              </a:rPr>
              <a:t>基本の遊び</a:t>
            </a:r>
          </a:p>
        </p:txBody>
      </p:sp>
      <p:sp>
        <p:nvSpPr>
          <p:cNvPr id="9" name="攻撃・ガード・移動で相手のHPを削る。&#10;そこにアピールを挟み、&#10;次の攻撃">
            <a:extLst xmlns:a="http://schemas.openxmlformats.org/drawingml/2006/main">
              <a:ext uri="{FF2B5EF4-FFF2-40B4-BE49-F238E27FC236}">
                <a16:creationId xmlns:a16="http://schemas.microsoft.com/office/drawing/2014/main" id="{E6815499-B851-4B5D-AAEE-76BF7CB77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933825"/>
            <a:ext cx="72009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defPPr>
            <a:lvl1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1pPr>
            <a:lvl2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2pPr>
            <a:lvl3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3pPr>
            <a:lvl4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4pPr>
            <a:lvl5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5pPr>
            <a:lvl6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6pPr>
            <a:lvl7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7pPr>
            <a:lvl8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8pPr>
            <a:lvl9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8FF"/>
                </a:solidFill>
                <a:latin typeface="Meiryo"/>
                <a:ea typeface="Meiryo"/>
                <a:cs typeface="Meiryo"/>
              </a:rPr>
              <a:t>攻撃・ガード・移動で相手のHPを削る。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8FF"/>
                </a:solidFill>
                <a:latin typeface="Meiryo"/>
                <a:ea typeface="Meiryo"/>
                <a:cs typeface="Meiryo"/>
              </a:rPr>
              <a:t>そこにアピールを挟み、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8FF"/>
                </a:solidFill>
                <a:latin typeface="Meiryo"/>
                <a:ea typeface="Meiryo"/>
                <a:cs typeface="Meiryo"/>
              </a:rPr>
              <a:t>次の攻撃につながる機会を作る。</a:t>
            </a:r>
          </a:p>
        </p:txBody>
      </p:sp>
      <p:sp>
        <p:nvSpPr>
          <p:cNvPr id="10" name="目指す体験：勝つための判断そのものが、キャラクターの見せ場になる。">
            <a:extLst xmlns:a="http://schemas.openxmlformats.org/drawingml/2006/main">
              <a:ext uri="{FF2B5EF4-FFF2-40B4-BE49-F238E27FC236}">
                <a16:creationId xmlns:a16="http://schemas.microsoft.com/office/drawing/2014/main" id="{DFB24809-C3A5-42D6-AA68-9358518AD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defPPr>
            <a:lvl1pPr>
              <a:defRPr sz="21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1pPr>
            <a:lvl2pPr>
              <a:defRPr sz="21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2pPr>
            <a:lvl3pPr>
              <a:defRPr sz="21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3pPr>
            <a:lvl4pPr>
              <a:defRPr sz="21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4pPr>
            <a:lvl5pPr>
              <a:defRPr sz="21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5pPr>
            <a:lvl6pPr>
              <a:defRPr sz="21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6pPr>
            <a:lvl7pPr>
              <a:defRPr sz="21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7pPr>
            <a:lvl8pPr>
              <a:defRPr sz="21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8pPr>
            <a:lvl9pPr>
              <a:defRPr sz="21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pPr>
            <a:r>
              <a:rPr sz="2175" b="1">
                <a:solidFill>
                  <a:srgbClr val="FF72B5"/>
                </a:solidFill>
                <a:latin typeface="Meiryo"/>
                <a:ea typeface="Meiryo"/>
                <a:cs typeface="Meiryo"/>
              </a:rPr>
              <a:t>目指す体験：勝つための判断そのものが、キャラクターの見せ場になる。</a:t>
            </a:r>
          </a:p>
        </p:txBody>
      </p:sp>
    </p:spTree>
    <p:extLst>
      <p:ext uri="{BB962C8B-B14F-4D97-AF65-F5344CB8AC3E}">
        <p14:creationId xmlns:p14="http://schemas.microsoft.com/office/powerpoint/2010/main" val="201598163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211E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アピールが生むリスクと見返り">
            <a:extLst xmlns:a="http://schemas.openxmlformats.org/drawingml/2006/main">
              <a:ext uri="{FF2B5EF4-FFF2-40B4-BE49-F238E27FC236}">
                <a16:creationId xmlns:a16="http://schemas.microsoft.com/office/drawing/2014/main" id="{5D4EF3CA-E40A-4552-8EFF-1BA236DE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defPPr>
            <a:lvl1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1pPr>
            <a:lvl2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2pPr>
            <a:lvl3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3pPr>
            <a:lvl4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4pPr>
            <a:lvl5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5pPr>
            <a:lvl6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6pPr>
            <a:lvl7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7pPr>
            <a:lvl8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8pPr>
            <a:lvl9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3300" b="1">
                <a:solidFill>
                  <a:srgbClr val="FAF8FF"/>
                </a:solidFill>
                <a:latin typeface="Meiryo"/>
                <a:ea typeface="Meiryo"/>
                <a:cs typeface="Meiryo"/>
              </a:rPr>
              <a:t>アピールが生むリスクと見返り</a:t>
            </a:r>
          </a:p>
        </p:txBody>
      </p:sp>
      <p:sp>
        <p:nvSpPr>
          <p:cNvPr id="2" name="企画上のルール：攻撃を止める瞬間にも、判断を持たせる">
            <a:extLst xmlns:a="http://schemas.openxmlformats.org/drawingml/2006/main">
              <a:ext uri="{FF2B5EF4-FFF2-40B4-BE49-F238E27FC236}">
                <a16:creationId xmlns:a16="http://schemas.microsoft.com/office/drawing/2014/main" id="{1A51D30D-353C-4344-B14F-E497CDBD5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defPPr>
            <a:lvl1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1pPr>
            <a:lvl2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2pPr>
            <a:lvl3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3pPr>
            <a:lvl4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4pPr>
            <a:lvl5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5pPr>
            <a:lvl6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6pPr>
            <a:lvl7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7pPr>
            <a:lvl8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8pPr>
            <a:lvl9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pPr>
            <a:r>
              <a:rPr sz="1800" b="0">
                <a:solidFill>
                  <a:srgbClr val="FF72B5"/>
                </a:solidFill>
                <a:latin typeface="Meiryo"/>
                <a:ea typeface="Meiryo"/>
                <a:cs typeface="Meiryo"/>
              </a:rPr>
              <a:t>企画上のルール：攻撃を止める瞬間にも、判断を持たせる</a:t>
            </a:r>
          </a:p>
        </p:txBody>
      </p:sp>
      <p:sp>
        <p:nvSpPr>
          <p:cNvPr id="3" name="V-Link Battle / 企画書">
            <a:extLst xmlns:a="http://schemas.openxmlformats.org/drawingml/2006/main">
              <a:ext uri="{FF2B5EF4-FFF2-40B4-BE49-F238E27FC236}">
                <a16:creationId xmlns:a16="http://schemas.microsoft.com/office/drawing/2014/main" id="{27009DAA-7897-4D3C-B3B9-8555FAB35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defPPr>
            <a:lvl1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1pPr>
            <a:lvl2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2pPr>
            <a:lvl3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3pPr>
            <a:lvl4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4pPr>
            <a:lvl5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5pPr>
            <a:lvl6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6pPr>
            <a:lvl7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7pPr>
            <a:lvl8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8pPr>
            <a:lvl9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pPr>
            <a:r>
              <a:rPr sz="1200" b="0">
                <a:solidFill>
                  <a:srgbClr val="C5BDCE"/>
                </a:solidFill>
                <a:latin typeface="Meiryo"/>
                <a:ea typeface="Meiryo"/>
                <a:cs typeface="Meiryo"/>
              </a:rPr>
              <a:t>V-Link Battle / 企画書</a:t>
            </a:r>
          </a:p>
        </p:txBody>
      </p:sp>
      <p:sp>
        <p:nvSpPr>
          <p:cNvPr id="4" name="03 / 06">
            <a:extLst xmlns:a="http://schemas.openxmlformats.org/drawingml/2006/main">
              <a:ext uri="{FF2B5EF4-FFF2-40B4-BE49-F238E27FC236}">
                <a16:creationId xmlns:a16="http://schemas.microsoft.com/office/drawing/2014/main" id="{F15253C4-E0A9-4F3E-A481-9DEC4B1A5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4842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defPPr>
            <a:lvl1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1pPr>
            <a:lvl2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2pPr>
            <a:lvl3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3pPr>
            <a:lvl4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4pPr>
            <a:lvl5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5pPr>
            <a:lvl6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6pPr>
            <a:lvl7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7pPr>
            <a:lvl8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8pPr>
            <a:lvl9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pPr>
            <a:r>
              <a:rPr sz="1200" b="0">
                <a:solidFill>
                  <a:srgbClr val="C5BDCE"/>
                </a:solidFill>
                <a:latin typeface="Meiryo"/>
                <a:ea typeface="Meiryo"/>
                <a:cs typeface="Meiryo"/>
              </a:rPr>
              <a:t>03 / 06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59C183-C31B-47ED-A432-3165797A385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96e7a98879491a"/>
          <a:stretch xmlns:a="http://schemas.openxmlformats.org/drawingml/2006/main"/>
        </p:blipFill>
        <p:spPr>
          <a:xfrm xmlns:a="http://schemas.openxmlformats.org/drawingml/2006/main">
            <a:off x="609600" y="1809750"/>
            <a:ext cx="7010400" cy="3943350"/>
          </a:xfrm>
          <a:prstGeom xmlns:a="http://schemas.openxmlformats.org/drawingml/2006/main" prst="rect">
            <a:avLst/>
          </a:prstGeom>
        </p:spPr>
      </p:pic>
      <p:sp>
        <p:nvSpPr>
          <p:cNvPr id="6" name="隙を見つけて魅せる">
            <a:extLst xmlns:a="http://schemas.openxmlformats.org/drawingml/2006/main">
              <a:ext uri="{FF2B5EF4-FFF2-40B4-BE49-F238E27FC236}">
                <a16:creationId xmlns:a16="http://schemas.microsoft.com/office/drawing/2014/main" id="{CB592F0D-D9E1-4E5B-9ED1-AF67A3FD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819275"/>
            <a:ext cx="3562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defPPr>
            <a:lvl1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1pPr>
            <a:lvl2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2pPr>
            <a:lvl3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3pPr>
            <a:lvl4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4pPr>
            <a:lvl5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5pPr>
            <a:lvl6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6pPr>
            <a:lvl7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7pPr>
            <a:lvl8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8pPr>
            <a:lvl9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FF72B5"/>
                </a:solidFill>
                <a:latin typeface="Meiryo"/>
                <a:ea typeface="Meiryo"/>
                <a:cs typeface="Meiryo"/>
              </a:rPr>
              <a:t>隙を見つけて魅せる</a:t>
            </a:r>
          </a:p>
        </p:txBody>
      </p:sp>
      <p:sp>
        <p:nvSpPr>
          <p:cNvPr id="7" name="アピール中は無防備。&#10;成功後の攻撃で&#10;ボルテージを高める。">
            <a:extLst xmlns:a="http://schemas.openxmlformats.org/drawingml/2006/main">
              <a:ext uri="{FF2B5EF4-FFF2-40B4-BE49-F238E27FC236}">
                <a16:creationId xmlns:a16="http://schemas.microsoft.com/office/drawing/2014/main" id="{4AC8A181-B6CF-4AF9-9902-DDBF9B3F5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95525"/>
            <a:ext cx="3562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defPPr>
            <a:lvl1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1pPr>
            <a:lvl2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2pPr>
            <a:lvl3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3pPr>
            <a:lvl4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4pPr>
            <a:lvl5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5pPr>
            <a:lvl6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6pPr>
            <a:lvl7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7pPr>
            <a:lvl8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8pPr>
            <a:lvl9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8FF"/>
                </a:solidFill>
                <a:latin typeface="Meiryo"/>
                <a:ea typeface="Meiryo"/>
                <a:cs typeface="Meiryo"/>
              </a:rPr>
              <a:t>アピール中は無防備。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8FF"/>
                </a:solidFill>
                <a:latin typeface="Meiryo"/>
                <a:ea typeface="Meiryo"/>
                <a:cs typeface="Meiryo"/>
              </a:rPr>
              <a:t>成功後の攻撃で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8FF"/>
                </a:solidFill>
                <a:latin typeface="Meiryo"/>
                <a:ea typeface="Meiryo"/>
                <a:cs typeface="Meiryo"/>
              </a:rPr>
              <a:t>ボルテージを高める。</a:t>
            </a:r>
          </a:p>
        </p:txBody>
      </p:sp>
      <p:sp>
        <p:nvSpPr>
          <p:cNvPr id="8" name="読み合いの場面">
            <a:extLst xmlns:a="http://schemas.openxmlformats.org/drawingml/2006/main">
              <a:ext uri="{FF2B5EF4-FFF2-40B4-BE49-F238E27FC236}">
                <a16:creationId xmlns:a16="http://schemas.microsoft.com/office/drawing/2014/main" id="{E81B06E5-90D9-4B5F-95FD-2EA9C1FFD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781425"/>
            <a:ext cx="3562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defPPr>
            <a:lvl1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1pPr>
            <a:lvl2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2pPr>
            <a:lvl3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3pPr>
            <a:lvl4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4pPr>
            <a:lvl5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5pPr>
            <a:lvl6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6pPr>
            <a:lvl7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7pPr>
            <a:lvl8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8pPr>
            <a:lvl9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FF72B5"/>
                </a:solidFill>
                <a:latin typeface="Meiryo"/>
                <a:ea typeface="Meiryo"/>
                <a:cs typeface="Meiryo"/>
              </a:rPr>
              <a:t>読み合いの場面</a:t>
            </a:r>
          </a:p>
        </p:txBody>
      </p:sp>
      <p:sp>
        <p:nvSpPr>
          <p:cNvPr id="9" name="安全に攻撃を続けるか。&#10;相手の動きを読んで、&#10;アピールを挟むか。">
            <a:extLst xmlns:a="http://schemas.openxmlformats.org/drawingml/2006/main">
              <a:ext uri="{FF2B5EF4-FFF2-40B4-BE49-F238E27FC236}">
                <a16:creationId xmlns:a16="http://schemas.microsoft.com/office/drawing/2014/main" id="{61C9ECA6-435E-43BC-8D40-CE0CFD3BE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257675"/>
            <a:ext cx="3562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defPPr>
            <a:lvl1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1pPr>
            <a:lvl2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2pPr>
            <a:lvl3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3pPr>
            <a:lvl4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4pPr>
            <a:lvl5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5pPr>
            <a:lvl6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6pPr>
            <a:lvl7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7pPr>
            <a:lvl8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8pPr>
            <a:lvl9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8FF"/>
                </a:solidFill>
                <a:latin typeface="Meiryo"/>
                <a:ea typeface="Meiryo"/>
                <a:cs typeface="Meiryo"/>
              </a:rPr>
              <a:t>安全に攻撃を続けるか。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8FF"/>
                </a:solidFill>
                <a:latin typeface="Meiryo"/>
                <a:ea typeface="Meiryo"/>
                <a:cs typeface="Meiryo"/>
              </a:rPr>
              <a:t>相手の動きを読んで、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8FF"/>
                </a:solidFill>
                <a:latin typeface="Meiryo"/>
                <a:ea typeface="Meiryo"/>
                <a:cs typeface="Meiryo"/>
              </a:rPr>
              <a:t>アピールを挟むか。</a:t>
            </a:r>
          </a:p>
        </p:txBody>
      </p:sp>
      <p:sp>
        <p:nvSpPr>
          <p:cNvPr id="10" name="ボルテージを高め、必殺技の見せ場へつなぐ構想。">
            <a:extLst xmlns:a="http://schemas.openxmlformats.org/drawingml/2006/main">
              <a:ext uri="{FF2B5EF4-FFF2-40B4-BE49-F238E27FC236}">
                <a16:creationId xmlns:a16="http://schemas.microsoft.com/office/drawing/2014/main" id="{0B5776BB-2331-4723-BE7D-4A474779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defPPr>
            <a:lvl1pPr>
              <a:defRPr sz="1875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1pPr>
            <a:lvl2pPr>
              <a:defRPr sz="1875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2pPr>
            <a:lvl3pPr>
              <a:defRPr sz="1875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3pPr>
            <a:lvl4pPr>
              <a:defRPr sz="1875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4pPr>
            <a:lvl5pPr>
              <a:defRPr sz="1875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5pPr>
            <a:lvl6pPr>
              <a:defRPr sz="1875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6pPr>
            <a:lvl7pPr>
              <a:defRPr sz="1875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7pPr>
            <a:lvl8pPr>
              <a:defRPr sz="1875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8pPr>
            <a:lvl9pPr>
              <a:defRPr sz="1875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875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pPr>
            <a:r>
              <a:rPr sz="1875" b="0">
                <a:solidFill>
                  <a:srgbClr val="FF72B5"/>
                </a:solidFill>
                <a:latin typeface="Meiryo"/>
                <a:ea typeface="Meiryo"/>
                <a:cs typeface="Meiryo"/>
              </a:rPr>
              <a:t>ボルテージを高め、必殺技の見せ場へつなぐ構想。</a:t>
            </a:r>
          </a:p>
        </p:txBody>
      </p:sp>
    </p:spTree>
    <p:extLst>
      <p:ext uri="{BB962C8B-B14F-4D97-AF65-F5344CB8AC3E}">
        <p14:creationId xmlns:p14="http://schemas.microsoft.com/office/powerpoint/2010/main" val="20953315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211E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配信らしさを、戦場の出来事に">
            <a:extLst xmlns:a="http://schemas.openxmlformats.org/drawingml/2006/main">
              <a:ext uri="{FF2B5EF4-FFF2-40B4-BE49-F238E27FC236}">
                <a16:creationId xmlns:a16="http://schemas.microsoft.com/office/drawing/2014/main" id="{3136587D-2104-4F8B-9022-D7A15B26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defPPr>
            <a:lvl1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1pPr>
            <a:lvl2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2pPr>
            <a:lvl3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3pPr>
            <a:lvl4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4pPr>
            <a:lvl5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5pPr>
            <a:lvl6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6pPr>
            <a:lvl7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7pPr>
            <a:lvl8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8pPr>
            <a:lvl9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3300" b="1">
                <a:solidFill>
                  <a:srgbClr val="FAF8FF"/>
                </a:solidFill>
                <a:latin typeface="Meiryo"/>
                <a:ea typeface="Meiryo"/>
                <a:cs typeface="Meiryo"/>
              </a:rPr>
              <a:t>配信らしさを、戦場の出来事に</a:t>
            </a:r>
          </a:p>
        </p:txBody>
      </p:sp>
      <p:sp>
        <p:nvSpPr>
          <p:cNvPr id="2" name="企画上の仕掛け / 画像は制作時の実演映像">
            <a:extLst xmlns:a="http://schemas.openxmlformats.org/drawingml/2006/main">
              <a:ext uri="{FF2B5EF4-FFF2-40B4-BE49-F238E27FC236}">
                <a16:creationId xmlns:a16="http://schemas.microsoft.com/office/drawing/2014/main" id="{36147A42-7E96-4C2D-8725-6ECCFE202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defPPr>
            <a:lvl1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1pPr>
            <a:lvl2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2pPr>
            <a:lvl3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3pPr>
            <a:lvl4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4pPr>
            <a:lvl5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5pPr>
            <a:lvl6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6pPr>
            <a:lvl7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7pPr>
            <a:lvl8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8pPr>
            <a:lvl9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pPr>
            <a:r>
              <a:rPr sz="1800" b="0">
                <a:solidFill>
                  <a:srgbClr val="FF72B5"/>
                </a:solidFill>
                <a:latin typeface="Meiryo"/>
                <a:ea typeface="Meiryo"/>
                <a:cs typeface="Meiryo"/>
              </a:rPr>
              <a:t>企画上の仕掛け / 画像は制作時の実演映像</a:t>
            </a:r>
          </a:p>
        </p:txBody>
      </p:sp>
      <p:sp>
        <p:nvSpPr>
          <p:cNvPr id="3" name="V-Link Battle / 企画書">
            <a:extLst xmlns:a="http://schemas.openxmlformats.org/drawingml/2006/main">
              <a:ext uri="{FF2B5EF4-FFF2-40B4-BE49-F238E27FC236}">
                <a16:creationId xmlns:a16="http://schemas.microsoft.com/office/drawing/2014/main" id="{6197044B-5D53-4256-9AE2-18483A868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defPPr>
            <a:lvl1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1pPr>
            <a:lvl2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2pPr>
            <a:lvl3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3pPr>
            <a:lvl4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4pPr>
            <a:lvl5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5pPr>
            <a:lvl6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6pPr>
            <a:lvl7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7pPr>
            <a:lvl8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8pPr>
            <a:lvl9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pPr>
            <a:r>
              <a:rPr sz="1200" b="0">
                <a:solidFill>
                  <a:srgbClr val="C5BDCE"/>
                </a:solidFill>
                <a:latin typeface="Meiryo"/>
                <a:ea typeface="Meiryo"/>
                <a:cs typeface="Meiryo"/>
              </a:rPr>
              <a:t>V-Link Battle / 企画書</a:t>
            </a:r>
          </a:p>
        </p:txBody>
      </p:sp>
      <p:sp>
        <p:nvSpPr>
          <p:cNvPr id="4" name="04 / 06">
            <a:extLst xmlns:a="http://schemas.openxmlformats.org/drawingml/2006/main">
              <a:ext uri="{FF2B5EF4-FFF2-40B4-BE49-F238E27FC236}">
                <a16:creationId xmlns:a16="http://schemas.microsoft.com/office/drawing/2014/main" id="{453120AC-CB38-4DF4-B6E1-678E9A6A2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4842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defPPr>
            <a:lvl1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1pPr>
            <a:lvl2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2pPr>
            <a:lvl3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3pPr>
            <a:lvl4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4pPr>
            <a:lvl5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5pPr>
            <a:lvl6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6pPr>
            <a:lvl7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7pPr>
            <a:lvl8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8pPr>
            <a:lvl9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pPr>
            <a:r>
              <a:rPr sz="1200" b="0">
                <a:solidFill>
                  <a:srgbClr val="C5BDCE"/>
                </a:solidFill>
                <a:latin typeface="Meiryo"/>
                <a:ea typeface="Meiryo"/>
                <a:cs typeface="Meiryo"/>
              </a:rPr>
              <a:t>04 / 06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E9CAB6-AB63-45DC-A2A0-10B02E09A8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35fd0556354d3b"/>
          <a:stretch xmlns:a="http://schemas.openxmlformats.org/drawingml/2006/main"/>
        </p:blipFill>
        <p:spPr>
          <a:xfrm xmlns:a="http://schemas.openxmlformats.org/drawingml/2006/main">
            <a:off x="609600" y="1764506"/>
            <a:ext cx="5257800" cy="2957513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1E2E74-C930-47DC-97C0-D533F63DA25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c52868c7fc4dda"/>
          <a:stretch xmlns:a="http://schemas.openxmlformats.org/drawingml/2006/main"/>
        </p:blipFill>
        <p:spPr>
          <a:xfrm xmlns:a="http://schemas.openxmlformats.org/drawingml/2006/main">
            <a:off x="6324600" y="1764506"/>
            <a:ext cx="5257800" cy="2957513"/>
          </a:xfrm>
          <a:prstGeom xmlns:a="http://schemas.openxmlformats.org/drawingml/2006/main" prst="rect">
            <a:avLst/>
          </a:prstGeom>
        </p:spPr>
      </p:pic>
      <p:sp>
        <p:nvSpPr>
          <p:cNvPr id="7" name="コメントに触れる判断">
            <a:extLst xmlns:a="http://schemas.openxmlformats.org/drawingml/2006/main">
              <a:ext uri="{FF2B5EF4-FFF2-40B4-BE49-F238E27FC236}">
                <a16:creationId xmlns:a16="http://schemas.microsoft.com/office/drawing/2014/main" id="{EC8FF389-FB16-4369-AF36-908516215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5257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defPPr>
            <a:lvl1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1pPr>
            <a:lvl2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2pPr>
            <a:lvl3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3pPr>
            <a:lvl4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4pPr>
            <a:lvl5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5pPr>
            <a:lvl6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6pPr>
            <a:lvl7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7pPr>
            <a:lvl8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8pPr>
            <a:lvl9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FF72B5"/>
                </a:solidFill>
                <a:latin typeface="Meiryo"/>
                <a:ea typeface="Meiryo"/>
                <a:cs typeface="Meiryo"/>
              </a:rPr>
              <a:t>コメントに触れる判断</a:t>
            </a:r>
          </a:p>
        </p:txBody>
      </p:sp>
      <p:sp>
        <p:nvSpPr>
          <p:cNvPr id="8" name="流れる言葉に効果を持たせ、&#10;拾う・避ける判断へつなげる。">
            <a:extLst xmlns:a="http://schemas.openxmlformats.org/drawingml/2006/main">
              <a:ext uri="{FF2B5EF4-FFF2-40B4-BE49-F238E27FC236}">
                <a16:creationId xmlns:a16="http://schemas.microsoft.com/office/drawing/2014/main" id="{50E6DE03-01D2-4A28-AE46-9DC238F23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5257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defPPr>
            <a:lvl1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1pPr>
            <a:lvl2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2pPr>
            <a:lvl3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3pPr>
            <a:lvl4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4pPr>
            <a:lvl5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5pPr>
            <a:lvl6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6pPr>
            <a:lvl7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7pPr>
            <a:lvl8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8pPr>
            <a:lvl9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8FF"/>
                </a:solidFill>
                <a:latin typeface="Meiryo"/>
                <a:ea typeface="Meiryo"/>
                <a:cs typeface="Meiryo"/>
              </a:rPr>
              <a:t>流れる言葉に効果を持たせ、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8FF"/>
                </a:solidFill>
                <a:latin typeface="Meiryo"/>
                <a:ea typeface="Meiryo"/>
                <a:cs typeface="Meiryo"/>
              </a:rPr>
              <a:t>拾う・避ける判断へつなげる。</a:t>
            </a:r>
          </a:p>
        </p:txBody>
      </p:sp>
      <p:sp>
        <p:nvSpPr>
          <p:cNvPr id="9" name="通知による意外性">
            <a:extLst xmlns:a="http://schemas.openxmlformats.org/drawingml/2006/main">
              <a:ext uri="{FF2B5EF4-FFF2-40B4-BE49-F238E27FC236}">
                <a16:creationId xmlns:a16="http://schemas.microsoft.com/office/drawing/2014/main" id="{C32FCC8A-BED1-48F6-9EFD-D61635069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895850"/>
            <a:ext cx="5257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defPPr>
            <a:lvl1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1pPr>
            <a:lvl2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2pPr>
            <a:lvl3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3pPr>
            <a:lvl4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4pPr>
            <a:lvl5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5pPr>
            <a:lvl6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6pPr>
            <a:lvl7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7pPr>
            <a:lvl8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8pPr>
            <a:lvl9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FF72B5"/>
                </a:solidFill>
                <a:latin typeface="Meiryo"/>
                <a:ea typeface="Meiryo"/>
                <a:cs typeface="Meiryo"/>
              </a:rPr>
              <a:t>通知による意外性</a:t>
            </a:r>
          </a:p>
        </p:txBody>
      </p:sp>
      <p:sp>
        <p:nvSpPr>
          <p:cNvPr id="10" name="見慣れた通知ウィンドウの出現で、&#10;戦闘中のタイミングを変える。">
            <a:extLst xmlns:a="http://schemas.openxmlformats.org/drawingml/2006/main">
              <a:ext uri="{FF2B5EF4-FFF2-40B4-BE49-F238E27FC236}">
                <a16:creationId xmlns:a16="http://schemas.microsoft.com/office/drawing/2014/main" id="{28AF3A08-0E69-402C-AEA4-E5156FD87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372100"/>
            <a:ext cx="5257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defPPr>
            <a:lvl1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1pPr>
            <a:lvl2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2pPr>
            <a:lvl3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3pPr>
            <a:lvl4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4pPr>
            <a:lvl5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5pPr>
            <a:lvl6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6pPr>
            <a:lvl7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7pPr>
            <a:lvl8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8pPr>
            <a:lvl9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8FF"/>
                </a:solidFill>
                <a:latin typeface="Meiryo"/>
                <a:ea typeface="Meiryo"/>
                <a:cs typeface="Meiryo"/>
              </a:rPr>
              <a:t>見慣れた通知ウィンドウの出現で、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8FF"/>
                </a:solidFill>
                <a:latin typeface="Meiryo"/>
                <a:ea typeface="Meiryo"/>
                <a:cs typeface="Meiryo"/>
              </a:rPr>
              <a:t>戦闘中のタイミングを変える。</a:t>
            </a:r>
          </a:p>
        </p:txBody>
      </p:sp>
    </p:spTree>
    <p:extLst>
      <p:ext uri="{BB962C8B-B14F-4D97-AF65-F5344CB8AC3E}">
        <p14:creationId xmlns:p14="http://schemas.microsoft.com/office/powerpoint/2010/main" val="113984628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211E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企画の見どころと公開版の違い">
            <a:extLst xmlns:a="http://schemas.openxmlformats.org/drawingml/2006/main">
              <a:ext uri="{FF2B5EF4-FFF2-40B4-BE49-F238E27FC236}">
                <a16:creationId xmlns:a16="http://schemas.microsoft.com/office/drawing/2014/main" id="{54FB057A-6B5C-4983-8B09-DE08CE221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defPPr>
            <a:lvl1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1pPr>
            <a:lvl2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2pPr>
            <a:lvl3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3pPr>
            <a:lvl4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4pPr>
            <a:lvl5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5pPr>
            <a:lvl6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6pPr>
            <a:lvl7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7pPr>
            <a:lvl8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8pPr>
            <a:lvl9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3300" b="1">
                <a:solidFill>
                  <a:srgbClr val="FAF8FF"/>
                </a:solidFill>
                <a:latin typeface="Meiryo"/>
                <a:ea typeface="Meiryo"/>
                <a:cs typeface="Meiryo"/>
              </a:rPr>
              <a:t>企画の見どころと公開版の違い</a:t>
            </a:r>
          </a:p>
        </p:txBody>
      </p:sp>
      <p:sp>
        <p:nvSpPr>
          <p:cNvPr id="2" name="企画上の構想と、試遊できる範囲を分けてご案内します">
            <a:extLst xmlns:a="http://schemas.openxmlformats.org/drawingml/2006/main">
              <a:ext uri="{FF2B5EF4-FFF2-40B4-BE49-F238E27FC236}">
                <a16:creationId xmlns:a16="http://schemas.microsoft.com/office/drawing/2014/main" id="{F34320FA-C12E-4E20-8E7A-7622BA1C8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defPPr>
            <a:lvl1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1pPr>
            <a:lvl2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2pPr>
            <a:lvl3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3pPr>
            <a:lvl4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4pPr>
            <a:lvl5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5pPr>
            <a:lvl6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6pPr>
            <a:lvl7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7pPr>
            <a:lvl8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8pPr>
            <a:lvl9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pPr>
            <a:r>
              <a:rPr sz="1800" b="0">
                <a:solidFill>
                  <a:srgbClr val="FF72B5"/>
                </a:solidFill>
                <a:latin typeface="Meiryo"/>
                <a:ea typeface="Meiryo"/>
                <a:cs typeface="Meiryo"/>
              </a:rPr>
              <a:t>企画上の構想と、試遊できる範囲を分けてご案内します</a:t>
            </a:r>
          </a:p>
        </p:txBody>
      </p:sp>
      <p:sp>
        <p:nvSpPr>
          <p:cNvPr id="3" name="V-Link Battle / 企画書">
            <a:extLst xmlns:a="http://schemas.openxmlformats.org/drawingml/2006/main">
              <a:ext uri="{FF2B5EF4-FFF2-40B4-BE49-F238E27FC236}">
                <a16:creationId xmlns:a16="http://schemas.microsoft.com/office/drawing/2014/main" id="{B53A002E-ED4F-45D8-8854-7947B9E5D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defPPr>
            <a:lvl1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1pPr>
            <a:lvl2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2pPr>
            <a:lvl3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3pPr>
            <a:lvl4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4pPr>
            <a:lvl5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5pPr>
            <a:lvl6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6pPr>
            <a:lvl7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7pPr>
            <a:lvl8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8pPr>
            <a:lvl9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pPr>
            <a:r>
              <a:rPr sz="1200" b="0">
                <a:solidFill>
                  <a:srgbClr val="C5BDCE"/>
                </a:solidFill>
                <a:latin typeface="Meiryo"/>
                <a:ea typeface="Meiryo"/>
                <a:cs typeface="Meiryo"/>
              </a:rPr>
              <a:t>V-Link Battle / 企画書</a:t>
            </a:r>
          </a:p>
        </p:txBody>
      </p:sp>
      <p:sp>
        <p:nvSpPr>
          <p:cNvPr id="4" name="05 / 06">
            <a:extLst xmlns:a="http://schemas.openxmlformats.org/drawingml/2006/main">
              <a:ext uri="{FF2B5EF4-FFF2-40B4-BE49-F238E27FC236}">
                <a16:creationId xmlns:a16="http://schemas.microsoft.com/office/drawing/2014/main" id="{E21163F0-CECE-4C57-8313-832210130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4842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defPPr>
            <a:lvl1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1pPr>
            <a:lvl2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2pPr>
            <a:lvl3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3pPr>
            <a:lvl4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4pPr>
            <a:lvl5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5pPr>
            <a:lvl6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6pPr>
            <a:lvl7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7pPr>
            <a:lvl8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8pPr>
            <a:lvl9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pPr>
            <a:r>
              <a:rPr sz="1200" b="0">
                <a:solidFill>
                  <a:srgbClr val="C5BDCE"/>
                </a:solidFill>
                <a:latin typeface="Meiryo"/>
                <a:ea typeface="Meiryo"/>
                <a:cs typeface="Meiryo"/>
              </a:rPr>
              <a:t>05 / 06</a:t>
            </a:r>
          </a:p>
        </p:txBody>
      </p:sp>
      <p:sp>
        <p:nvSpPr>
          <p:cNvPr id="5" name="見どころ">
            <a:extLst xmlns:a="http://schemas.openxmlformats.org/drawingml/2006/main">
              <a:ext uri="{FF2B5EF4-FFF2-40B4-BE49-F238E27FC236}">
                <a16:creationId xmlns:a16="http://schemas.microsoft.com/office/drawing/2014/main" id="{7150A0FE-0C8D-429D-AC97-E0A4E72F3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defPPr>
            <a:lvl1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1pPr>
            <a:lvl2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2pPr>
            <a:lvl3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3pPr>
            <a:lvl4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4pPr>
            <a:lvl5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5pPr>
            <a:lvl6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6pPr>
            <a:lvl7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7pPr>
            <a:lvl8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8pPr>
            <a:lvl9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FF72B5"/>
                </a:solidFill>
                <a:latin typeface="Meiryo"/>
                <a:ea typeface="Meiryo"/>
                <a:cs typeface="Meiryo"/>
              </a:rPr>
              <a:t>見どころ</a:t>
            </a:r>
          </a:p>
        </p:txBody>
      </p:sp>
      <p:sp>
        <p:nvSpPr>
          <p:cNvPr id="6" name="配信文化を背景だけでなく、アピールや戦闘中の出来事に結び付けること。&#10;氷">
            <a:extLst xmlns:a="http://schemas.openxmlformats.org/drawingml/2006/main">
              <a:ext uri="{FF2B5EF4-FFF2-40B4-BE49-F238E27FC236}">
                <a16:creationId xmlns:a16="http://schemas.microsoft.com/office/drawing/2014/main" id="{9DCA575E-2B58-4563-B888-CA1B858DC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defPPr>
            <a:lvl1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1pPr>
            <a:lvl2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2pPr>
            <a:lvl3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3pPr>
            <a:lvl4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4pPr>
            <a:lvl5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5pPr>
            <a:lvl6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6pPr>
            <a:lvl7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7pPr>
            <a:lvl8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8pPr>
            <a:lvl9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8FF"/>
                </a:solidFill>
                <a:latin typeface="Meiryo"/>
                <a:ea typeface="Meiryo"/>
                <a:cs typeface="Meiryo"/>
              </a:rPr>
              <a:t>配信文化を背景だけでなく、アピールや戦闘中の出来事に結び付けること。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8FF"/>
                </a:solidFill>
                <a:latin typeface="Meiryo"/>
                <a:ea typeface="Meiryo"/>
                <a:cs typeface="Meiryo"/>
              </a:rPr>
              <a:t>氷の攻撃、立体のコメント、ウィンドウ演出でデジタルな雰囲気を作ります。</a:t>
            </a:r>
          </a:p>
        </p:txBody>
      </p:sp>
      <p:sp>
        <p:nvSpPr>
          <p:cNvPr id="7" name="Windows版とブラウザー版">
            <a:extLst xmlns:a="http://schemas.openxmlformats.org/drawingml/2006/main">
              <a:ext uri="{FF2B5EF4-FFF2-40B4-BE49-F238E27FC236}">
                <a16:creationId xmlns:a16="http://schemas.microsoft.com/office/drawing/2014/main" id="{BB0801A9-57EF-49B6-B0D4-D578ECDEE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194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defPPr>
            <a:lvl1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1pPr>
            <a:lvl2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2pPr>
            <a:lvl3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3pPr>
            <a:lvl4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4pPr>
            <a:lvl5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5pPr>
            <a:lvl6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6pPr>
            <a:lvl7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7pPr>
            <a:lvl8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8pPr>
            <a:lvl9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FF72B5"/>
                </a:solidFill>
                <a:latin typeface="Meiryo"/>
                <a:ea typeface="Meiryo"/>
                <a:cs typeface="Meiryo"/>
              </a:rPr>
              <a:t>Windows版とブラウザー版</a:t>
            </a:r>
          </a:p>
        </p:txBody>
      </p:sp>
      <p:sp>
        <p:nvSpPr>
          <p:cNvPr id="8" name="Windows版はOSの別ウィンドウを使う演出に対応。&#10;ブラウザー版はゲ">
            <a:extLst xmlns:a="http://schemas.openxmlformats.org/drawingml/2006/main">
              <a:ext uri="{FF2B5EF4-FFF2-40B4-BE49-F238E27FC236}">
                <a16:creationId xmlns:a16="http://schemas.microsoft.com/office/drawing/2014/main" id="{F8E03477-AA19-4A8E-B054-EF5BDB819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957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defPPr>
            <a:lvl1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1pPr>
            <a:lvl2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2pPr>
            <a:lvl3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3pPr>
            <a:lvl4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4pPr>
            <a:lvl5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5pPr>
            <a:lvl6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6pPr>
            <a:lvl7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7pPr>
            <a:lvl8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8pPr>
            <a:lvl9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8FF"/>
                </a:solidFill>
                <a:latin typeface="Meiryo"/>
                <a:ea typeface="Meiryo"/>
                <a:cs typeface="Meiryo"/>
              </a:rPr>
              <a:t>Windows版はOSの別ウィンドウを使う演出に対応。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8FF"/>
                </a:solidFill>
                <a:latin typeface="Meiryo"/>
                <a:ea typeface="Meiryo"/>
                <a:cs typeface="Meiryo"/>
              </a:rPr>
              <a:t>ブラウザー版はゲーム内の疑似表示で、一部のエフェクトも簡略化しています。</a:t>
            </a:r>
          </a:p>
        </p:txBody>
      </p:sp>
      <p:sp>
        <p:nvSpPr>
          <p:cNvPr id="9" name="企画にある通知・コメントの一部ギミックは、現行ソースで無効になっています">
            <a:extLst xmlns:a="http://schemas.openxmlformats.org/drawingml/2006/main">
              <a:ext uri="{FF2B5EF4-FFF2-40B4-BE49-F238E27FC236}">
                <a16:creationId xmlns:a16="http://schemas.microsoft.com/office/drawing/2014/main" id="{F90E4123-1727-4C05-9BF0-60B07D74D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defPPr>
            <a:lvl1pPr>
              <a:defRPr sz="18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1pPr>
            <a:lvl2pPr>
              <a:defRPr sz="18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2pPr>
            <a:lvl3pPr>
              <a:defRPr sz="18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3pPr>
            <a:lvl4pPr>
              <a:defRPr sz="18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4pPr>
            <a:lvl5pPr>
              <a:defRPr sz="18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5pPr>
            <a:lvl6pPr>
              <a:defRPr sz="18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6pPr>
            <a:lvl7pPr>
              <a:defRPr sz="18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7pPr>
            <a:lvl8pPr>
              <a:defRPr sz="18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8pPr>
            <a:lvl9pPr>
              <a:defRPr sz="18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8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pPr>
            <a:r>
              <a:rPr sz="1800" b="0">
                <a:solidFill>
                  <a:srgbClr val="C5BDCE"/>
                </a:solidFill>
                <a:latin typeface="Meiryo"/>
                <a:ea typeface="Meiryo"/>
                <a:cs typeface="Meiryo"/>
              </a:rPr>
              <a:t>企画にある通知・コメントの一部ギミックは、現行ソースで無効になっています。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pPr>
            <a:r>
              <a:rPr sz="1800" b="0">
                <a:solidFill>
                  <a:srgbClr val="C5BDCE"/>
                </a:solidFill>
                <a:latin typeface="Meiryo"/>
                <a:ea typeface="Meiryo"/>
                <a:cs typeface="Meiryo"/>
              </a:rPr>
              <a:t>全構想を公開版に実装済みとして紹介するものではありません。</a:t>
            </a:r>
          </a:p>
        </p:txBody>
      </p:sp>
    </p:spTree>
    <p:extLst>
      <p:ext uri="{BB962C8B-B14F-4D97-AF65-F5344CB8AC3E}">
        <p14:creationId xmlns:p14="http://schemas.microsoft.com/office/powerpoint/2010/main" val="119280407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211E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制作体制と作品への入口">
            <a:extLst xmlns:a="http://schemas.openxmlformats.org/drawingml/2006/main">
              <a:ext uri="{FF2B5EF4-FFF2-40B4-BE49-F238E27FC236}">
                <a16:creationId xmlns:a16="http://schemas.microsoft.com/office/drawing/2014/main" id="{81A176B3-F542-42BA-BB86-1543BAAC8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defPPr>
            <a:lvl1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1pPr>
            <a:lvl2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2pPr>
            <a:lvl3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3pPr>
            <a:lvl4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4pPr>
            <a:lvl5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5pPr>
            <a:lvl6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6pPr>
            <a:lvl7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7pPr>
            <a:lvl8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8pPr>
            <a:lvl9pPr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3300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3300" b="1">
                <a:solidFill>
                  <a:srgbClr val="FAF8FF"/>
                </a:solidFill>
                <a:latin typeface="Meiryo"/>
                <a:ea typeface="Meiryo"/>
                <a:cs typeface="Meiryo"/>
              </a:rPr>
              <a:t>制作体制と作品への入口</a:t>
            </a:r>
          </a:p>
        </p:txBody>
      </p:sp>
      <p:sp>
        <p:nvSpPr>
          <p:cNvPr id="2" name="制作人数：8人 / 開発環境：Unity / PC向け">
            <a:extLst xmlns:a="http://schemas.openxmlformats.org/drawingml/2006/main">
              <a:ext uri="{FF2B5EF4-FFF2-40B4-BE49-F238E27FC236}">
                <a16:creationId xmlns:a16="http://schemas.microsoft.com/office/drawing/2014/main" id="{6B6D7332-DADA-4F69-86FC-D2D29A0B8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defPPr>
            <a:lvl1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1pPr>
            <a:lvl2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2pPr>
            <a:lvl3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3pPr>
            <a:lvl4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4pPr>
            <a:lvl5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5pPr>
            <a:lvl6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6pPr>
            <a:lvl7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7pPr>
            <a:lvl8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8pPr>
            <a:lvl9pPr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800" b="0">
                <a:solidFill>
                  <a:srgbClr val="FF72B5"/>
                </a:solidFill>
                <a:latin typeface="Meiryo"/>
                <a:ea typeface="Meiryo"/>
                <a:cs typeface="Meiryo"/>
              </a:defRPr>
            </a:pPr>
            <a:r>
              <a:rPr sz="1800" b="0">
                <a:solidFill>
                  <a:srgbClr val="FF72B5"/>
                </a:solidFill>
                <a:latin typeface="Meiryo"/>
                <a:ea typeface="Meiryo"/>
                <a:cs typeface="Meiryo"/>
              </a:rPr>
              <a:t>制作人数：8人 / 開発環境：Unity / PC向け</a:t>
            </a:r>
          </a:p>
        </p:txBody>
      </p:sp>
      <p:sp>
        <p:nvSpPr>
          <p:cNvPr id="3" name="V-Link Battle / 企画書">
            <a:extLst xmlns:a="http://schemas.openxmlformats.org/drawingml/2006/main">
              <a:ext uri="{FF2B5EF4-FFF2-40B4-BE49-F238E27FC236}">
                <a16:creationId xmlns:a16="http://schemas.microsoft.com/office/drawing/2014/main" id="{0AE2F299-46FF-4E52-925A-38FEC99E3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defPPr>
            <a:lvl1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1pPr>
            <a:lvl2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2pPr>
            <a:lvl3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3pPr>
            <a:lvl4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4pPr>
            <a:lvl5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5pPr>
            <a:lvl6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6pPr>
            <a:lvl7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7pPr>
            <a:lvl8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8pPr>
            <a:lvl9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pPr>
            <a:r>
              <a:rPr sz="1200" b="0">
                <a:solidFill>
                  <a:srgbClr val="C5BDCE"/>
                </a:solidFill>
                <a:latin typeface="Meiryo"/>
                <a:ea typeface="Meiryo"/>
                <a:cs typeface="Meiryo"/>
              </a:rPr>
              <a:t>V-Link Battle / 企画書</a:t>
            </a:r>
          </a:p>
        </p:txBody>
      </p:sp>
      <p:sp>
        <p:nvSpPr>
          <p:cNvPr id="4" name="06 / 06">
            <a:extLst xmlns:a="http://schemas.openxmlformats.org/drawingml/2006/main">
              <a:ext uri="{FF2B5EF4-FFF2-40B4-BE49-F238E27FC236}">
                <a16:creationId xmlns:a16="http://schemas.microsoft.com/office/drawing/2014/main" id="{03312444-2A74-4320-A7D6-C505DB58F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4842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defPPr>
            <a:lvl1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1pPr>
            <a:lvl2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2pPr>
            <a:lvl3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3pPr>
            <a:lvl4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4pPr>
            <a:lvl5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5pPr>
            <a:lvl6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6pPr>
            <a:lvl7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7pPr>
            <a:lvl8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8pPr>
            <a:lvl9pPr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20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pPr>
            <a:r>
              <a:rPr sz="1200" b="0">
                <a:solidFill>
                  <a:srgbClr val="C5BDCE"/>
                </a:solidFill>
                <a:latin typeface="Meiryo"/>
                <a:ea typeface="Meiryo"/>
                <a:cs typeface="Meiryo"/>
              </a:rPr>
              <a:t>06 / 06</a:t>
            </a:r>
          </a:p>
        </p:txBody>
      </p:sp>
      <p:sp>
        <p:nvSpPr>
          <p:cNvPr id="5" name="私の担当">
            <a:extLst xmlns:a="http://schemas.openxmlformats.org/drawingml/2006/main">
              <a:ext uri="{FF2B5EF4-FFF2-40B4-BE49-F238E27FC236}">
                <a16:creationId xmlns:a16="http://schemas.microsoft.com/office/drawing/2014/main" id="{651A5AAB-FA66-45C2-8758-713E214F2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192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defPPr>
            <a:lvl1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1pPr>
            <a:lvl2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2pPr>
            <a:lvl3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3pPr>
            <a:lvl4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4pPr>
            <a:lvl5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5pPr>
            <a:lvl6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6pPr>
            <a:lvl7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7pPr>
            <a:lvl8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8pPr>
            <a:lvl9pPr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00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FF72B5"/>
                </a:solidFill>
                <a:latin typeface="Meiryo"/>
                <a:ea typeface="Meiryo"/>
                <a:cs typeface="Meiryo"/>
              </a:rPr>
              <a:t>私の担当</a:t>
            </a:r>
          </a:p>
        </p:txBody>
      </p:sp>
      <p:sp>
        <p:nvSpPr>
          <p:cNvPr id="6" name="企画・仕様整理・システム設計・タスク振り分け。&#10;素材集め、3Dオブジェク">
            <a:extLst xmlns:a="http://schemas.openxmlformats.org/drawingml/2006/main">
              <a:ext uri="{FF2B5EF4-FFF2-40B4-BE49-F238E27FC236}">
                <a16:creationId xmlns:a16="http://schemas.microsoft.com/office/drawing/2014/main" id="{96A1943A-C4F1-4C03-85B0-3C72072A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defPPr>
            <a:lvl1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1pPr>
            <a:lvl2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2pPr>
            <a:lvl3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3pPr>
            <a:lvl4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4pPr>
            <a:lvl5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5pPr>
            <a:lvl6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6pPr>
            <a:lvl7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7pPr>
            <a:lvl8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8pPr>
            <a:lvl9pPr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8FF"/>
                </a:solidFill>
                <a:latin typeface="Meiryo"/>
                <a:ea typeface="Meiryo"/>
                <a:cs typeface="Meiryo"/>
              </a:rPr>
              <a:t>企画・仕様整理・システム設計・タスク振り分け。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8FF"/>
                </a:solidFill>
                <a:latin typeface="Meiryo"/>
                <a:ea typeface="Meiryo"/>
                <a:cs typeface="Meiryo"/>
              </a:rPr>
              <a:t>素材集め、3Dオブジェクト、エフェクト、アニメーションの制作にも参加。</a:t>
            </a:r>
          </a:p>
        </p:txBody>
      </p:sp>
      <p:sp>
        <p:nvSpPr>
          <p:cNvPr id="7" name="配信文化のどの要素を遊びにするか整理し、制作へつなげました。">
            <a:extLst xmlns:a="http://schemas.openxmlformats.org/drawingml/2006/main">
              <a:ext uri="{FF2B5EF4-FFF2-40B4-BE49-F238E27FC236}">
                <a16:creationId xmlns:a16="http://schemas.microsoft.com/office/drawing/2014/main" id="{2731A202-A2D4-4AC3-ADDF-BD0A62637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defPPr>
            <a:lvl1pPr>
              <a:defRPr sz="2175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1pPr>
            <a:lvl2pPr>
              <a:defRPr sz="2175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2pPr>
            <a:lvl3pPr>
              <a:defRPr sz="2175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3pPr>
            <a:lvl4pPr>
              <a:defRPr sz="2175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4pPr>
            <a:lvl5pPr>
              <a:defRPr sz="2175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5pPr>
            <a:lvl6pPr>
              <a:defRPr sz="2175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6pPr>
            <a:lvl7pPr>
              <a:defRPr sz="2175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7pPr>
            <a:lvl8pPr>
              <a:defRPr sz="2175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8pPr>
            <a:lvl9pPr>
              <a:defRPr sz="2175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75" b="1">
                <a:solidFill>
                  <a:srgbClr val="FAF8FF"/>
                </a:solidFill>
                <a:latin typeface="Meiryo"/>
                <a:ea typeface="Meiryo"/>
                <a:cs typeface="Meiryo"/>
              </a:defRPr>
            </a:pPr>
            <a:r>
              <a:rPr sz="2175" b="1">
                <a:solidFill>
                  <a:srgbClr val="FAF8FF"/>
                </a:solidFill>
                <a:latin typeface="Meiryo"/>
                <a:ea typeface="Meiryo"/>
                <a:cs typeface="Meiryo"/>
              </a:rPr>
              <a:t>配信文化のどの要素を遊びにするか整理し、制作へつなげました。</a:t>
            </a:r>
          </a:p>
        </p:txBody>
      </p:sp>
      <p:sp>
        <p:nvSpPr>
          <p:cNvPr id="8" name="ブラウザー版をプレイ">
            <a:extLst xmlns:a="http://schemas.openxmlformats.org/drawingml/2006/main">
              <a:ext uri="{FF2B5EF4-FFF2-40B4-BE49-F238E27FC236}">
                <a16:creationId xmlns:a16="http://schemas.microsoft.com/office/drawing/2014/main" id="{E0FFE22E-2040-44DF-88F9-B23B6F791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defPPr>
            <a:lvl1pPr>
              <a:defRPr sz="18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1pPr>
            <a:lvl2pPr>
              <a:defRPr sz="18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2pPr>
            <a:lvl3pPr>
              <a:defRPr sz="18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3pPr>
            <a:lvl4pPr>
              <a:defRPr sz="18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4pPr>
            <a:lvl5pPr>
              <a:defRPr sz="18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5pPr>
            <a:lvl6pPr>
              <a:defRPr sz="18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6pPr>
            <a:lvl7pPr>
              <a:defRPr sz="18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7pPr>
            <a:lvl8pPr>
              <a:defRPr sz="18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8pPr>
            <a:lvl9pPr>
              <a:defRPr sz="18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8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pPr>
            <a:r>
              <a:rPr sz="1875" b="1">
                <a:solidFill>
                  <a:srgbClr val="FF72B5"/>
                </a:solidFill>
                <a:latin typeface="Meiryo"/>
                <a:ea typeface="Meiryo"/>
                <a:cs typeface="Meiryo"/>
                <a:hlinkClick xmlns:r="http://schemas.openxmlformats.org/officeDocument/2006/relationships" r:id="R10ad3dcdbd5f40f7"/>
              </a:rPr>
              <a:t>ブラウザー版をプレイ</a:t>
            </a:r>
          </a:p>
        </p:txBody>
      </p:sp>
      <p:sp>
        <p:nvSpPr>
          <p:cNvPr id="9" name="Windows版・プレイ映像を見る">
            <a:extLst xmlns:a="http://schemas.openxmlformats.org/drawingml/2006/main">
              <a:ext uri="{FF2B5EF4-FFF2-40B4-BE49-F238E27FC236}">
                <a16:creationId xmlns:a16="http://schemas.microsoft.com/office/drawing/2014/main" id="{64CCA464-32E0-481F-9B15-499567A1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defPPr>
            <a:lvl1pPr>
              <a:defRPr sz="18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1pPr>
            <a:lvl2pPr>
              <a:defRPr sz="18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2pPr>
            <a:lvl3pPr>
              <a:defRPr sz="18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3pPr>
            <a:lvl4pPr>
              <a:defRPr sz="18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4pPr>
            <a:lvl5pPr>
              <a:defRPr sz="18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5pPr>
            <a:lvl6pPr>
              <a:defRPr sz="18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6pPr>
            <a:lvl7pPr>
              <a:defRPr sz="18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7pPr>
            <a:lvl8pPr>
              <a:defRPr sz="18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8pPr>
            <a:lvl9pPr>
              <a:defRPr sz="18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875" b="1">
                <a:solidFill>
                  <a:srgbClr val="FF72B5"/>
                </a:solidFill>
                <a:latin typeface="Meiryo"/>
                <a:ea typeface="Meiryo"/>
                <a:cs typeface="Meiryo"/>
              </a:defRPr>
            </a:pPr>
            <a:r>
              <a:rPr sz="1875" b="1">
                <a:solidFill>
                  <a:srgbClr val="FF72B5"/>
                </a:solidFill>
                <a:latin typeface="Meiryo"/>
                <a:ea typeface="Meiryo"/>
                <a:cs typeface="Meiryo"/>
                <a:hlinkClick xmlns:r="http://schemas.openxmlformats.org/officeDocument/2006/relationships" r:id="Rbb1841ed5a274097"/>
              </a:rPr>
              <a:t>Windows版・プレイ映像を見る</a:t>
            </a:r>
          </a:p>
        </p:txBody>
      </p:sp>
      <p:sp>
        <p:nvSpPr>
          <p:cNvPr id="10" name="実行ファイルを利用できない環境にも、ブラウザー版と映像を用意しています。">
            <a:extLst xmlns:a="http://schemas.openxmlformats.org/drawingml/2006/main">
              <a:ext uri="{FF2B5EF4-FFF2-40B4-BE49-F238E27FC236}">
                <a16:creationId xmlns:a16="http://schemas.microsoft.com/office/drawing/2014/main" id="{07B3637F-86F0-403E-AF33-4BDCDE0D6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defPPr>
            <a:lvl1pPr>
              <a:defRPr sz="165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1pPr>
            <a:lvl2pPr>
              <a:defRPr sz="165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2pPr>
            <a:lvl3pPr>
              <a:defRPr sz="165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3pPr>
            <a:lvl4pPr>
              <a:defRPr sz="165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4pPr>
            <a:lvl5pPr>
              <a:defRPr sz="165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5pPr>
            <a:lvl6pPr>
              <a:defRPr sz="165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6pPr>
            <a:lvl7pPr>
              <a:defRPr sz="165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7pPr>
            <a:lvl8pPr>
              <a:defRPr sz="165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8pPr>
            <a:lvl9pPr>
              <a:defRPr sz="165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65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pPr>
            <a:r>
              <a:rPr sz="1650" b="0">
                <a:solidFill>
                  <a:srgbClr val="C5BDCE"/>
                </a:solidFill>
                <a:latin typeface="Meiryo"/>
                <a:ea typeface="Meiryo"/>
                <a:cs typeface="Meiryo"/>
              </a:rPr>
              <a:t>実行ファイルを利用できない環境にも、ブラウザー版と映像を用意しています。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650" b="0">
                <a:solidFill>
                  <a:srgbClr val="C5BDCE"/>
                </a:solidFill>
                <a:latin typeface="Meiryo"/>
                <a:ea typeface="Meiryo"/>
                <a:cs typeface="Meiryo"/>
              </a:defRPr>
            </a:pPr>
            <a:r>
              <a:rPr sz="1650" b="0">
                <a:solidFill>
                  <a:srgbClr val="C5BDCE"/>
                </a:solidFill>
                <a:latin typeface="Meiryo"/>
                <a:ea typeface="Meiryo"/>
                <a:cs typeface="Meiryo"/>
              </a:rPr>
              <a:t>利用可否は所属先のセキュリティ方針に従ってください。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953504376"/>
      </p:ext>
    </p:extLst>
  </p:cSld>
</p:sld>
</file>

<file path=ppt/theme/theme1.xml><?xml version="1.0" encoding="utf-8"?>
<a:theme xmlns:a="http://schemas.openxmlformats.org/drawingml/2006/main" name="ChatGPT">
  <a:themeElements>
    <a:clrScheme name="V-Link Battle">
      <a:dk1>
        <a:srgbClr val="111111"/>
      </a:dk1>
      <a:lt1>
        <a:srgbClr val="FFFFFF"/>
      </a:lt1>
      <a:dk2>
        <a:srgbClr val="222222"/>
      </a:dk2>
      <a:lt2>
        <a:srgbClr val="EEEEEE"/>
      </a:lt2>
      <a:accent1>
        <a:srgbClr val="FF72B5"/>
      </a:accent1>
      <a:accent2>
        <a:srgbClr val="24B6AC"/>
      </a:accent2>
      <a:accent3>
        <a:srgbClr val="FBD069"/>
      </a:accent3>
      <a:accent4>
        <a:srgbClr val="E85166"/>
      </a:accent4>
      <a:accent5>
        <a:srgbClr val="8F78CD"/>
      </a:accent5>
      <a:accent6>
        <a:srgbClr val="4B985A"/>
      </a:accent6>
      <a:hlink>
        <a:srgbClr val="FF72B5"/>
      </a:hlink>
      <a:folHlink>
        <a:srgbClr val="FF72B5"/>
      </a:folHlink>
    </a:clrScheme>
    <a:fontScheme name="">
      <a:majorFont>
        <a:latin typeface="Meiryo"/>
        <a:ea typeface=""/>
        <a:cs typeface=""/>
      </a:majorFont>
      <a:minorFont>
        <a:latin typeface="Meiryo"/>
        <a:ea typeface=""/>
        <a:cs typeface=""/>
      </a:minorFont>
    </a:fontScheme>
    <a:fmtScheme name="V-Link Battl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2026-10-30T07:51:31.1830000Z</dcterms:created>
  <dcterms:modified xsi:type="dcterms:W3CDTF">2026-10-30T07:51:31.1830000Z</dcterms:modified>
</coreProperties>
</file>