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98cf3f738d44e2" /><Relationship Type="http://schemas.openxmlformats.org/officeDocument/2006/relationships/extended-properties" Target="/docProps/app.xml" Id="R57d0c7d9ed554615" /><Relationship Type="http://schemas.openxmlformats.org/officeDocument/2006/relationships/officeDocument" Target="/ppt/presentation.xml" Id="Ra1c6b3053c284c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97829608f6431f"/>
  </p:sldMasterIdLst>
  <p:notesMasterIdLst>
    <p:notesMasterId xmlns:r="http://schemas.openxmlformats.org/officeDocument/2006/relationships" r:id="Re273fa8ecba449b3"/>
  </p:notesMasterIdLst>
  <p:sldIdLst>
    <p:sldId xmlns:r="http://schemas.openxmlformats.org/officeDocument/2006/relationships" id="256" r:id="Ra6886030f4e1496c"/>
    <p:sldId xmlns:r="http://schemas.openxmlformats.org/officeDocument/2006/relationships" id="257" r:id="R40f9494ad0ae4107"/>
    <p:sldId xmlns:r="http://schemas.openxmlformats.org/officeDocument/2006/relationships" id="258" r:id="R844c37e9cb8648d9"/>
    <p:sldId xmlns:r="http://schemas.openxmlformats.org/officeDocument/2006/relationships" id="259" r:id="R9fc2fbf5c77c4587"/>
    <p:sldId xmlns:r="http://schemas.openxmlformats.org/officeDocument/2006/relationships" id="260" r:id="Rdc9cfd5b5e2f4220"/>
    <p:sldId xmlns:r="http://schemas.openxmlformats.org/officeDocument/2006/relationships" id="261" r:id="R0b7b8b5ba73642d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a21d9da5224716" /><Relationship Type="http://schemas.openxmlformats.org/officeDocument/2006/relationships/slideMaster" Target="/ppt/slideMasters/slideMaster1.xml" Id="R9d97829608f6431f" /><Relationship Type="http://schemas.openxmlformats.org/officeDocument/2006/relationships/notesMaster" Target="/ppt/notesMasters/notesMaster1.xml" Id="Re273fa8ecba449b3" /><Relationship Type="http://schemas.openxmlformats.org/officeDocument/2006/relationships/presProps" Target="/ppt/presProps.xml" Id="Re33c82abedf74ecd" /><Relationship Type="http://schemas.openxmlformats.org/officeDocument/2006/relationships/tableStyles" Target="/ppt/tableStyles.xml" Id="R23a9215b22d4473b" /><Relationship Type="http://schemas.openxmlformats.org/officeDocument/2006/relationships/slide" Target="/ppt/slides/slide1.xml" Id="Ra6886030f4e1496c" /><Relationship Type="http://schemas.openxmlformats.org/officeDocument/2006/relationships/slide" Target="/ppt/slides/slide2.xml" Id="R40f9494ad0ae4107" /><Relationship Type="http://schemas.openxmlformats.org/officeDocument/2006/relationships/slide" Target="/ppt/slides/slide3.xml" Id="R844c37e9cb8648d9" /><Relationship Type="http://schemas.openxmlformats.org/officeDocument/2006/relationships/slide" Target="/ppt/slides/slide4.xml" Id="R9fc2fbf5c77c4587" /><Relationship Type="http://schemas.openxmlformats.org/officeDocument/2006/relationships/slide" Target="/ppt/slides/slide5.xml" Id="Rdc9cfd5b5e2f4220" /><Relationship Type="http://schemas.openxmlformats.org/officeDocument/2006/relationships/slide" Target="/ppt/slides/slide6.xml" Id="R0b7b8b5ba73642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2e159c1020c426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V-Link Battle">
      <a:dk1>
        <a:srgbClr val="111111"/>
      </a:dk1>
      <a:lt1>
        <a:srgbClr val="FFFFFF"/>
      </a:lt1>
      <a:dk2>
        <a:srgbClr val="222222"/>
      </a:dk2>
      <a:lt2>
        <a:srgbClr val="EEEEEE"/>
      </a:lt2>
      <a:accent1>
        <a:srgbClr val="FF72B5"/>
      </a:accent1>
      <a:accent2>
        <a:srgbClr val="24B6AC"/>
      </a:accent2>
      <a:accent3>
        <a:srgbClr val="FBD069"/>
      </a:accent3>
      <a:accent4>
        <a:srgbClr val="E85166"/>
      </a:accent4>
      <a:accent5>
        <a:srgbClr val="8F78CD"/>
      </a:accent5>
      <a:accent6>
        <a:srgbClr val="4B985A"/>
      </a:accent6>
      <a:hlink>
        <a:srgbClr val="FF72B5"/>
      </a:hlink>
      <a:folHlink>
        <a:srgbClr val="FF72B5"/>
      </a:folHlink>
    </a:clrScheme>
    <a:fontScheme name="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V-Link Battl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b1583f60974fad" /><Relationship Type="http://schemas.openxmlformats.org/officeDocument/2006/relationships/notesMaster" Target="/ppt/notesMasters/notesMaster1.xml" Id="R6325138b5fee4d1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a533afc913c4c78" /><Relationship Type="http://schemas.openxmlformats.org/officeDocument/2006/relationships/notesMaster" Target="/ppt/notesMasters/notesMaster1.xml" Id="R7c0cbd18c7b1464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942e7e7f44e4571" /><Relationship Type="http://schemas.openxmlformats.org/officeDocument/2006/relationships/notesMaster" Target="/ppt/notesMasters/notesMaster1.xml" Id="R4f486636f12548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363b1f24db542cd" /><Relationship Type="http://schemas.openxmlformats.org/officeDocument/2006/relationships/notesMaster" Target="/ppt/notesMasters/notesMaster1.xml" Id="R278d5da16dad447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aa4d5f300ab4c81" /><Relationship Type="http://schemas.openxmlformats.org/officeDocument/2006/relationships/notesMaster" Target="/ppt/notesMasters/notesMaster1.xml" Id="Rd4b50239fbfd406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ee2b84d7c91481d" /><Relationship Type="http://schemas.openxmlformats.org/officeDocument/2006/relationships/notesMaster" Target="/ppt/notesMasters/notesMaster1.xml" Id="R1e0656c44a7d4e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根拠資料</a:t>
            </a:r>
          </a:p>
          <a:p xmlns:a="http://schemas.openxmlformats.org/drawingml/2006/main">
            <a:r>
              <a:t>既存企画資料：D:/企画書、ポートフォリオ、仕様書/企画書/V-LinkBattle (1).pdf</a:t>
            </a:r>
          </a:p>
          <a:p xmlns:a="http://schemas.openxmlformats.org/drawingml/2006/main">
            <a:r>
              <a:t>担当・制作人数：src/sections/featured-works.html、利用者確認（8人）</a:t>
            </a:r>
          </a:p>
          <a:p xmlns:a="http://schemas.openxmlformats.org/drawingml/2006/main">
            <a:r>
              <a:t>掲載映像：files/Vlinkvideo.mp4（対戦24秒、コメント30秒、キャラクター選択12秒）</a:t>
            </a:r>
          </a:p>
          <a:p xmlns:a="http://schemas.openxmlformats.org/drawingml/2006/main">
            <a:r>
              <a:t>公開版の差異：tools/vlink-web/README.md、documents/specifications/specifications.json</a:t>
            </a:r>
          </a:p>
          <a:p xmlns:a="http://schemas.openxmlformats.org/drawingml/2006/main">
            <a:r>
              <a:t>想定プレイヤー・企画の狙いは提案上の位置付け。市場調査の結果ではありません。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根拠資料</a:t>
            </a:r>
          </a:p>
          <a:p xmlns:a="http://schemas.openxmlformats.org/drawingml/2006/main">
            <a:r>
              <a:t>既存企画資料：D:/企画書、ポートフォリオ、仕様書/企画書/V-LinkBattle (1).pdf</a:t>
            </a:r>
          </a:p>
          <a:p xmlns:a="http://schemas.openxmlformats.org/drawingml/2006/main">
            <a:r>
              <a:t>担当・制作人数：src/sections/featured-works.html、利用者確認（8人）</a:t>
            </a:r>
          </a:p>
          <a:p xmlns:a="http://schemas.openxmlformats.org/drawingml/2006/main">
            <a:r>
              <a:t>掲載映像：files/Vlinkvideo.mp4（対戦24秒、コメント30秒、キャラクター選択12秒）</a:t>
            </a:r>
          </a:p>
          <a:p xmlns:a="http://schemas.openxmlformats.org/drawingml/2006/main">
            <a:r>
              <a:t>公開版の差異：tools/vlink-web/README.md、documents/specifications/specifications.json</a:t>
            </a:r>
          </a:p>
          <a:p xmlns:a="http://schemas.openxmlformats.org/drawingml/2006/main">
            <a:r>
              <a:t>想定プレイヤー・企画の狙いは提案上の位置付け。市場調査の結果ではありません。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根拠資料</a:t>
            </a:r>
          </a:p>
          <a:p xmlns:a="http://schemas.openxmlformats.org/drawingml/2006/main">
            <a:r>
              <a:t>既存企画資料：D:/企画書、ポートフォリオ、仕様書/企画書/V-LinkBattle (1).pdf</a:t>
            </a:r>
          </a:p>
          <a:p xmlns:a="http://schemas.openxmlformats.org/drawingml/2006/main">
            <a:r>
              <a:t>担当・制作人数：src/sections/featured-works.html、利用者確認（8人）</a:t>
            </a:r>
          </a:p>
          <a:p xmlns:a="http://schemas.openxmlformats.org/drawingml/2006/main">
            <a:r>
              <a:t>掲載映像：files/Vlinkvideo.mp4（対戦24秒、コメント30秒、キャラクター選択12秒）</a:t>
            </a:r>
          </a:p>
          <a:p xmlns:a="http://schemas.openxmlformats.org/drawingml/2006/main">
            <a:r>
              <a:t>公開版の差異：tools/vlink-web/README.md、documents/specifications/specifications.json</a:t>
            </a:r>
          </a:p>
          <a:p xmlns:a="http://schemas.openxmlformats.org/drawingml/2006/main">
            <a:r>
              <a:t>想定プレイヤー・企画の狙いは提案上の位置付け。市場調査の結果ではありません。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根拠資料</a:t>
            </a:r>
          </a:p>
          <a:p xmlns:a="http://schemas.openxmlformats.org/drawingml/2006/main">
            <a:r>
              <a:t>既存企画資料：D:/企画書、ポートフォリオ、仕様書/企画書/V-LinkBattle (1).pdf</a:t>
            </a:r>
          </a:p>
          <a:p xmlns:a="http://schemas.openxmlformats.org/drawingml/2006/main">
            <a:r>
              <a:t>担当・制作人数：src/sections/featured-works.html、利用者確認（8人）</a:t>
            </a:r>
          </a:p>
          <a:p xmlns:a="http://schemas.openxmlformats.org/drawingml/2006/main">
            <a:r>
              <a:t>掲載映像：files/Vlinkvideo.mp4（対戦24秒、コメント30秒、キャラクター選択12秒）</a:t>
            </a:r>
          </a:p>
          <a:p xmlns:a="http://schemas.openxmlformats.org/drawingml/2006/main">
            <a:r>
              <a:t>公開版の差異：tools/vlink-web/README.md、documents/specifications/specifications.json</a:t>
            </a:r>
          </a:p>
          <a:p xmlns:a="http://schemas.openxmlformats.org/drawingml/2006/main">
            <a:r>
              <a:t>想定プレイヤー・企画の狙いは提案上の位置付け。市場調査の結果ではありません。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根拠資料</a:t>
            </a:r>
          </a:p>
          <a:p xmlns:a="http://schemas.openxmlformats.org/drawingml/2006/main">
            <a:r>
              <a:t>既存企画資料：D:/企画書、ポートフォリオ、仕様書/企画書/V-LinkBattle (1).pdf</a:t>
            </a:r>
          </a:p>
          <a:p xmlns:a="http://schemas.openxmlformats.org/drawingml/2006/main">
            <a:r>
              <a:t>担当・制作人数：src/sections/featured-works.html、利用者確認（8人）</a:t>
            </a:r>
          </a:p>
          <a:p xmlns:a="http://schemas.openxmlformats.org/drawingml/2006/main">
            <a:r>
              <a:t>掲載映像：files/Vlinkvideo.mp4（対戦24秒、コメント30秒、キャラクター選択12秒）</a:t>
            </a:r>
          </a:p>
          <a:p xmlns:a="http://schemas.openxmlformats.org/drawingml/2006/main">
            <a:r>
              <a:t>公開版の差異：tools/vlink-web/README.md、documents/specifications/specifications.json</a:t>
            </a:r>
          </a:p>
          <a:p xmlns:a="http://schemas.openxmlformats.org/drawingml/2006/main">
            <a:r>
              <a:t>想定プレイヤー・企画の狙いは提案上の位置付け。市場調査の結果ではありません。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根拠資料</a:t>
            </a:r>
          </a:p>
          <a:p xmlns:a="http://schemas.openxmlformats.org/drawingml/2006/main">
            <a:r>
              <a:t>既存企画資料：D:/企画書、ポートフォリオ、仕様書/企画書/V-LinkBattle (1).pdf</a:t>
            </a:r>
          </a:p>
          <a:p xmlns:a="http://schemas.openxmlformats.org/drawingml/2006/main">
            <a:r>
              <a:t>担当・制作人数：src/sections/featured-works.html、利用者確認（8人）</a:t>
            </a:r>
          </a:p>
          <a:p xmlns:a="http://schemas.openxmlformats.org/drawingml/2006/main">
            <a:r>
              <a:t>掲載映像：files/Vlinkvideo.mp4（対戦24秒、コメント30秒、キャラクター選択12秒）</a:t>
            </a:r>
          </a:p>
          <a:p xmlns:a="http://schemas.openxmlformats.org/drawingml/2006/main">
            <a:r>
              <a:t>公開版の差異：tools/vlink-web/README.md、documents/specifications/specifications.json</a:t>
            </a:r>
          </a:p>
          <a:p xmlns:a="http://schemas.openxmlformats.org/drawingml/2006/main">
            <a:r>
              <a:t>想定プレイヤー・企画の狙いは提案上の位置付け。市場調査の結果ではありません。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2bfee6b5814cb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07d076332b4ba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a25b5e5fac4e9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594c719dfd413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57f7c5360b416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b7f6e4fd2344c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4F17FCE-C99C-4136-A6FC-4CE1787F34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5631469-A368-468F-9571-5E3F39D7A9B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8CA4838-46A3-4D32-BB0F-BAEF8C36C7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AB199F7-D166-44E7-AE9E-322C363FB1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6E96114-FF96-47E9-AADB-4C01D7E480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568DEEB-07C6-499A-9417-0412C4F58B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6E4C47F-9F92-4BFA-8DEF-AF7E6B1295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02B06D9-8D8A-4819-9A71-D2845280861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78201A4-B73F-4F9A-85FB-F414A704C0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688AE78-8A6B-413B-B22C-D9E35492351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8be05239da4fb9" /><Relationship Type="http://schemas.openxmlformats.org/officeDocument/2006/relationships/slideLayout" Target="/ppt/slideLayouts/slideLayout1.xml" Id="R04afc0e8620a4c91" /><Relationship Type="http://schemas.openxmlformats.org/officeDocument/2006/relationships/slideLayout" Target="/ppt/slideLayouts/slideLayout2.xml" Id="Rb1b9230c910a4667" /><Relationship Type="http://schemas.openxmlformats.org/officeDocument/2006/relationships/slideLayout" Target="/ppt/slideLayouts/slideLayout3.xml" Id="R9eb11b63657e4290" /><Relationship Type="http://schemas.openxmlformats.org/officeDocument/2006/relationships/slideLayout" Target="/ppt/slideLayouts/slideLayout4.xml" Id="Rf773ca14a8e942bf" /><Relationship Type="http://schemas.openxmlformats.org/officeDocument/2006/relationships/slideLayout" Target="/ppt/slideLayouts/slideLayout5.xml" Id="Rbc91cef700274f6c" /><Relationship Type="http://schemas.openxmlformats.org/officeDocument/2006/relationships/slideLayout" Target="/ppt/slideLayouts/slideLayout6.xml" Id="R0919950921ae4bc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afc0e8620a4c91"/>
    <p:sldLayoutId xmlns:r="http://schemas.openxmlformats.org/officeDocument/2006/relationships" id="2147483650" r:id="Rb1b9230c910a4667"/>
    <p:sldLayoutId xmlns:r="http://schemas.openxmlformats.org/officeDocument/2006/relationships" id="2147483651" r:id="R9eb11b63657e4290"/>
    <p:sldLayoutId xmlns:r="http://schemas.openxmlformats.org/officeDocument/2006/relationships" id="2147483652" r:id="Rf773ca14a8e942bf"/>
    <p:sldLayoutId xmlns:r="http://schemas.openxmlformats.org/officeDocument/2006/relationships" id="2147483653" r:id="Rbc91cef700274f6c"/>
    <p:sldLayoutId xmlns:r="http://schemas.openxmlformats.org/officeDocument/2006/relationships" id="2147483654" r:id="R0919950921ae4b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V-Link Battle">
      <a:dk1>
        <a:srgbClr val="111111"/>
      </a:dk1>
      <a:lt1>
        <a:srgbClr val="FFFFFF"/>
      </a:lt1>
      <a:dk2>
        <a:srgbClr val="222222"/>
      </a:dk2>
      <a:lt2>
        <a:srgbClr val="EEEEEE"/>
      </a:lt2>
      <a:accent1>
        <a:srgbClr val="FF72B5"/>
      </a:accent1>
      <a:accent2>
        <a:srgbClr val="24B6AC"/>
      </a:accent2>
      <a:accent3>
        <a:srgbClr val="FBD069"/>
      </a:accent3>
      <a:accent4>
        <a:srgbClr val="E85166"/>
      </a:accent4>
      <a:accent5>
        <a:srgbClr val="8F78CD"/>
      </a:accent5>
      <a:accent6>
        <a:srgbClr val="4B985A"/>
      </a:accent6>
      <a:hlink>
        <a:srgbClr val="FF72B5"/>
      </a:hlink>
      <a:folHlink>
        <a:srgbClr val="FF72B5"/>
      </a:folHlink>
    </a:clrScheme>
    <a:fontScheme name="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V-Link Battl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9e66050f0544af" /><Relationship Type="http://schemas.openxmlformats.org/officeDocument/2006/relationships/image" Target="/ppt/media/image.jpeg" Id="Rc31735a1bfea411f" /><Relationship Type="http://schemas.openxmlformats.org/officeDocument/2006/relationships/notesSlide" Target="/ppt/notesSlides/notesSlide1.xml" Id="R31be4584f9ef4d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76fd8b88554b34" /><Relationship Type="http://schemas.openxmlformats.org/officeDocument/2006/relationships/image" Target="/ppt/media/image.png" Id="Re22ce4d987d44bdb" /><Relationship Type="http://schemas.openxmlformats.org/officeDocument/2006/relationships/notesSlide" Target="/ppt/notesSlides/notesSlide2.xml" Id="R2674eb726d674b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210dbaba2c4df5" /><Relationship Type="http://schemas.openxmlformats.org/officeDocument/2006/relationships/image" Target="/ppt/media/image2.jpeg" Id="Rd019716c933c4301" /><Relationship Type="http://schemas.openxmlformats.org/officeDocument/2006/relationships/notesSlide" Target="/ppt/notesSlides/notesSlide3.xml" Id="R5d022da5ec9442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b8d8b220fd47ed" /><Relationship Type="http://schemas.openxmlformats.org/officeDocument/2006/relationships/image" Target="/ppt/media/image3.jpeg" Id="R48b0bb43adbf4512" /><Relationship Type="http://schemas.openxmlformats.org/officeDocument/2006/relationships/image" Target="/ppt/media/image4.jpeg" Id="Re3c0a4e1a4e64bb3" /><Relationship Type="http://schemas.openxmlformats.org/officeDocument/2006/relationships/notesSlide" Target="/ppt/notesSlides/notesSlide4.xml" Id="R8327383e7dc341c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e179da8f6a44b6" /><Relationship Type="http://schemas.openxmlformats.org/officeDocument/2006/relationships/notesSlide" Target="/ppt/notesSlides/notesSlide5.xml" Id="R454488e02d0b4a1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f15b8687bd497d" /><Relationship Type="http://schemas.openxmlformats.org/officeDocument/2006/relationships/hyperlink" Target="https://kuon-haruto.github.io/portfolio/play/v-link-battle/" TargetMode="External" Id="Ra2358bf47c3f49bd" /><Relationship Type="http://schemas.openxmlformats.org/officeDocument/2006/relationships/hyperlink" Target="https://kuon-haruto.github.io/portfolio/#featured-works" TargetMode="External" Id="R2695f222f98e4eb3" /><Relationship Type="http://schemas.openxmlformats.org/officeDocument/2006/relationships/notesSlide" Target="/ppt/notesSlides/notesSlide6.xml" Id="Rfb4c20781184447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11E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V-Link Battle">
            <a:extLst xmlns:a="http://schemas.openxmlformats.org/drawingml/2006/main">
              <a:ext uri="{FF2B5EF4-FFF2-40B4-BE49-F238E27FC236}">
                <a16:creationId xmlns:a16="http://schemas.microsoft.com/office/drawing/2014/main" id="{F5653742-54AC-433C-8E83-EC347E215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defPPr>
            <a:lvl1pPr>
              <a:defRPr sz="3300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1pPr>
            <a:lvl2pPr>
              <a:defRPr sz="3300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2pPr>
            <a:lvl3pPr>
              <a:defRPr sz="3300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3pPr>
            <a:lvl4pPr>
              <a:defRPr sz="3300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4pPr>
            <a:lvl5pPr>
              <a:defRPr sz="3300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5pPr>
            <a:lvl6pPr>
              <a:defRPr sz="3300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6pPr>
            <a:lvl7pPr>
              <a:defRPr sz="3300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7pPr>
            <a:lvl8pPr>
              <a:defRPr sz="3300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8pPr>
            <a:lvl9pPr>
              <a:defRPr sz="3300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3300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FAF8FF"/>
                </a:solidFill>
                <a:latin typeface="Meiryo"/>
                <a:ea typeface="Meiryo"/>
                <a:cs typeface="Meiryo"/>
              </a:rPr>
              <a:t>V-Link Battle</a:t>
            </a:r>
          </a:p>
        </p:txBody>
      </p:sp>
      <p:sp>
        <p:nvSpPr>
          <p:cNvPr id="2" name="VTuberの配信文化を題材にした3D対戦アクション">
            <a:extLst xmlns:a="http://schemas.openxmlformats.org/drawingml/2006/main">
              <a:ext uri="{FF2B5EF4-FFF2-40B4-BE49-F238E27FC236}">
                <a16:creationId xmlns:a16="http://schemas.microsoft.com/office/drawing/2014/main" id="{D329AF05-0EF8-495A-8F5F-0EDB1BA57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FF72B5"/>
                </a:solidFill>
                <a:latin typeface="Meiryo"/>
                <a:ea typeface="Meiryo"/>
                <a:cs typeface="Meiryo"/>
              </a:defRPr>
            </a:defPPr>
            <a:lvl1pPr>
              <a:defRPr sz="1800" b="0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1pPr>
            <a:lvl2pPr>
              <a:defRPr sz="1800" b="0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2pPr>
            <a:lvl3pPr>
              <a:defRPr sz="1800" b="0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3pPr>
            <a:lvl4pPr>
              <a:defRPr sz="1800" b="0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4pPr>
            <a:lvl5pPr>
              <a:defRPr sz="1800" b="0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5pPr>
            <a:lvl6pPr>
              <a:defRPr sz="1800" b="0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6pPr>
            <a:lvl7pPr>
              <a:defRPr sz="1800" b="0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7pPr>
            <a:lvl8pPr>
              <a:defRPr sz="1800" b="0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8pPr>
            <a:lvl9pPr>
              <a:defRPr sz="1800" b="0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800" b="0">
                <a:solidFill>
                  <a:srgbClr val="FF72B5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FF72B5"/>
                </a:solidFill>
                <a:latin typeface="Meiryo"/>
                <a:ea typeface="Meiryo"/>
                <a:cs typeface="Meiryo"/>
              </a:rPr>
              <a:t>VTuberの配信文化を題材にした3D対戦アクション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DDD046-CDCF-4A6D-97DE-BE2FD3ECCE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1735a1bfea411f"/>
          <a:stretch xmlns:a="http://schemas.openxmlformats.org/drawingml/2006/main"/>
        </p:blipFill>
        <p:spPr>
          <a:xfrm xmlns:a="http://schemas.openxmlformats.org/drawingml/2006/main">
            <a:off x="4000500" y="1810941"/>
            <a:ext cx="7581900" cy="4264819"/>
          </a:xfrm>
          <a:prstGeom xmlns:a="http://schemas.openxmlformats.org/drawingml/2006/main" prst="rect">
            <a:avLst/>
          </a:prstGeom>
        </p:spPr>
      </p:pic>
      <p:sp>
        <p:nvSpPr>
          <p:cNvPr id="4" name="魅せる行動を、&#10;勝つための&#10;戦略に。">
            <a:extLst xmlns:a="http://schemas.openxmlformats.org/drawingml/2006/main">
              <a:ext uri="{FF2B5EF4-FFF2-40B4-BE49-F238E27FC236}">
                <a16:creationId xmlns:a16="http://schemas.microsoft.com/office/drawing/2014/main" id="{DF09FDED-D229-4F42-B31E-57707E6A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329565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defPPr>
            <a:lvl1pPr>
              <a:defRPr sz="3450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1pPr>
            <a:lvl2pPr>
              <a:defRPr sz="3450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2pPr>
            <a:lvl3pPr>
              <a:defRPr sz="3450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3pPr>
            <a:lvl4pPr>
              <a:defRPr sz="3450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4pPr>
            <a:lvl5pPr>
              <a:defRPr sz="3450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5pPr>
            <a:lvl6pPr>
              <a:defRPr sz="3450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6pPr>
            <a:lvl7pPr>
              <a:defRPr sz="3450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7pPr>
            <a:lvl8pPr>
              <a:defRPr sz="3450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8pPr>
            <a:lvl9pPr>
              <a:defRPr sz="3450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3450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pPr>
            <a:r>
              <a:rPr sz="3450" b="1">
                <a:solidFill>
                  <a:srgbClr val="FAF8FF"/>
                </a:solidFill>
                <a:latin typeface="Meiryo"/>
                <a:ea typeface="Meiryo"/>
                <a:cs typeface="Meiryo"/>
              </a:rPr>
              <a:t>魅せる行動を、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3450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pPr>
            <a:r>
              <a:rPr sz="3450" b="1">
                <a:solidFill>
                  <a:srgbClr val="FAF8FF"/>
                </a:solidFill>
                <a:latin typeface="Meiryo"/>
                <a:ea typeface="Meiryo"/>
                <a:cs typeface="Meiryo"/>
              </a:rPr>
              <a:t>勝つための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3450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pPr>
            <a:r>
              <a:rPr sz="3450" b="1">
                <a:solidFill>
                  <a:srgbClr val="FAF8FF"/>
                </a:solidFill>
                <a:latin typeface="Meiryo"/>
                <a:ea typeface="Meiryo"/>
                <a:cs typeface="Meiryo"/>
              </a:rPr>
              <a:t>戦略に。</a:t>
            </a:r>
          </a:p>
        </p:txBody>
      </p:sp>
      <p:sp>
        <p:nvSpPr>
          <p:cNvPr id="5" name="攻撃するだけでなく、&#10;相手の隙にアピール。&#10;配信の盛り上がりを&#10;戦いの力">
            <a:extLst xmlns:a="http://schemas.openxmlformats.org/drawingml/2006/main">
              <a:ext uri="{FF2B5EF4-FFF2-40B4-BE49-F238E27FC236}">
                <a16:creationId xmlns:a16="http://schemas.microsoft.com/office/drawing/2014/main" id="{B1231FCB-F62D-4DD7-B9FC-CA42458B9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32956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defPPr>
            <a:lvl1pPr>
              <a:defRPr sz="1875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1pPr>
            <a:lvl2pPr>
              <a:defRPr sz="1875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2pPr>
            <a:lvl3pPr>
              <a:defRPr sz="1875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3pPr>
            <a:lvl4pPr>
              <a:defRPr sz="1875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4pPr>
            <a:lvl5pPr>
              <a:defRPr sz="1875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5pPr>
            <a:lvl6pPr>
              <a:defRPr sz="1875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6pPr>
            <a:lvl7pPr>
              <a:defRPr sz="1875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7pPr>
            <a:lvl8pPr>
              <a:defRPr sz="1875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8pPr>
            <a:lvl9pPr>
              <a:defRPr sz="1875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875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FAF8FF"/>
                </a:solidFill>
                <a:latin typeface="Meiryo"/>
                <a:ea typeface="Meiryo"/>
                <a:cs typeface="Meiryo"/>
              </a:rPr>
              <a:t>攻撃するだけでなく、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875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FAF8FF"/>
                </a:solidFill>
                <a:latin typeface="Meiryo"/>
                <a:ea typeface="Meiryo"/>
                <a:cs typeface="Meiryo"/>
              </a:rPr>
              <a:t>相手の隙にアピール。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875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FAF8FF"/>
                </a:solidFill>
                <a:latin typeface="Meiryo"/>
                <a:ea typeface="Meiryo"/>
                <a:cs typeface="Meiryo"/>
              </a:rPr>
              <a:t>配信の盛り上がりを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875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FAF8FF"/>
                </a:solidFill>
                <a:latin typeface="Meiryo"/>
                <a:ea typeface="Meiryo"/>
                <a:cs typeface="Meiryo"/>
              </a:rPr>
              <a:t>戦いの力へ変える企画。</a:t>
            </a:r>
          </a:p>
        </p:txBody>
      </p:sp>
      <p:sp>
        <p:nvSpPr>
          <p:cNvPr id="6" name="制作人数：8人 / Unity&#10;企画書作成：島本善太">
            <a:extLst xmlns:a="http://schemas.openxmlformats.org/drawingml/2006/main">
              <a:ext uri="{FF2B5EF4-FFF2-40B4-BE49-F238E27FC236}">
                <a16:creationId xmlns:a16="http://schemas.microsoft.com/office/drawing/2014/main" id="{BD7B8404-DEA3-440B-AE5F-D675EB1B0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0">
                <a:solidFill>
                  <a:srgbClr val="C5BDCE"/>
                </a:solidFill>
                <a:latin typeface="Meiryo"/>
                <a:ea typeface="Meiryo"/>
                <a:cs typeface="Meiryo"/>
              </a:defRPr>
            </a:defPPr>
            <a:lvl1pPr>
              <a:defRPr sz="1350" b="0">
                <a:solidFill>
                  <a:srgbClr val="C5BDCE"/>
                </a:solidFill>
                <a:latin typeface="Meiryo"/>
                <a:ea typeface="Meiryo"/>
                <a:cs typeface="Meiryo"/>
              </a:defRPr>
            </a:lvl1pPr>
            <a:lvl2pPr>
              <a:defRPr sz="1350" b="0">
                <a:solidFill>
                  <a:srgbClr val="C5BDCE"/>
                </a:solidFill>
                <a:latin typeface="Meiryo"/>
                <a:ea typeface="Meiryo"/>
                <a:cs typeface="Meiryo"/>
              </a:defRPr>
            </a:lvl2pPr>
            <a:lvl3pPr>
              <a:defRPr sz="1350" b="0">
                <a:solidFill>
                  <a:srgbClr val="C5BDCE"/>
                </a:solidFill>
                <a:latin typeface="Meiryo"/>
                <a:ea typeface="Meiryo"/>
                <a:cs typeface="Meiryo"/>
              </a:defRPr>
            </a:lvl3pPr>
            <a:lvl4pPr>
              <a:defRPr sz="1350" b="0">
                <a:solidFill>
                  <a:srgbClr val="C5BDCE"/>
                </a:solidFill>
                <a:latin typeface="Meiryo"/>
                <a:ea typeface="Meiryo"/>
                <a:cs typeface="Meiryo"/>
              </a:defRPr>
            </a:lvl4pPr>
            <a:lvl5pPr>
              <a:defRPr sz="1350" b="0">
                <a:solidFill>
                  <a:srgbClr val="C5BDCE"/>
                </a:solidFill>
                <a:latin typeface="Meiryo"/>
                <a:ea typeface="Meiryo"/>
                <a:cs typeface="Meiryo"/>
              </a:defRPr>
            </a:lvl5pPr>
            <a:lvl6pPr>
              <a:defRPr sz="1350" b="0">
                <a:solidFill>
                  <a:srgbClr val="C5BDCE"/>
                </a:solidFill>
                <a:latin typeface="Meiryo"/>
                <a:ea typeface="Meiryo"/>
                <a:cs typeface="Meiryo"/>
              </a:defRPr>
            </a:lvl6pPr>
            <a:lvl7pPr>
              <a:defRPr sz="1350" b="0">
                <a:solidFill>
                  <a:srgbClr val="C5BDCE"/>
                </a:solidFill>
                <a:latin typeface="Meiryo"/>
                <a:ea typeface="Meiryo"/>
                <a:cs typeface="Meiryo"/>
              </a:defRPr>
            </a:lvl7pPr>
            <a:lvl8pPr>
              <a:defRPr sz="1350" b="0">
                <a:solidFill>
                  <a:srgbClr val="C5BDCE"/>
                </a:solidFill>
                <a:latin typeface="Meiryo"/>
                <a:ea typeface="Meiryo"/>
                <a:cs typeface="Meiryo"/>
              </a:defRPr>
            </a:lvl8pPr>
            <a:lvl9pPr>
              <a:defRPr sz="1350" b="0">
                <a:solidFill>
                  <a:srgbClr val="C5BDCE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350" b="0">
                <a:solidFill>
                  <a:srgbClr val="C5BDCE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C5BDCE"/>
                </a:solidFill>
                <a:latin typeface="Meiryo"/>
                <a:ea typeface="Meiryo"/>
                <a:cs typeface="Meiryo"/>
              </a:rPr>
              <a:t>制作人数：8人 / Unity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350" b="0">
                <a:solidFill>
                  <a:srgbClr val="C5BDCE"/>
                </a:solidFill>
                <a:latin typeface="Meiryo"/>
                <a:ea typeface="Meiryo"/>
                <a:cs typeface="Meiryo"/>
              </a:defRPr>
            </a:pPr>
            <a:r>
              <a:rPr sz="1350" b="0">
                <a:solidFill>
                  <a:srgbClr val="C5BDCE"/>
                </a:solidFill>
                <a:latin typeface="Meiryo"/>
                <a:ea typeface="Meiryo"/>
                <a:cs typeface="Meiryo"/>
              </a:rPr>
              <a:t>企画書作成：島本善太</a:t>
            </a:r>
          </a:p>
        </p:txBody>
      </p:sp>
    </p:spTree>
    <p:extLst>
      <p:ext uri="{BB962C8B-B14F-4D97-AF65-F5344CB8AC3E}">
        <p14:creationId xmlns:p14="http://schemas.microsoft.com/office/powerpoint/2010/main" val="2698673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211E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企画の核とプレイヤー体験">
            <a:extLst xmlns:a="http://schemas.openxmlformats.org/drawingml/2006/main">
              <a:ext uri="{FF2B5EF4-FFF2-40B4-BE49-F238E27FC236}">
                <a16:creationId xmlns:a16="http://schemas.microsoft.com/office/drawing/2014/main" id="{01A5B6DB-9502-421C-B172-D3788D32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defPPr>
            <a:lvl1pPr>
              <a:defRPr sz="3300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1pPr>
            <a:lvl2pPr>
              <a:defRPr sz="3300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2pPr>
            <a:lvl3pPr>
              <a:defRPr sz="3300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3pPr>
            <a:lvl4pPr>
              <a:defRPr sz="3300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4pPr>
            <a:lvl5pPr>
              <a:defRPr sz="3300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5pPr>
            <a:lvl6pPr>
              <a:defRPr sz="3300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6pPr>
            <a:lvl7pPr>
              <a:defRPr sz="3300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7pPr>
            <a:lvl8pPr>
              <a:defRPr sz="3300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8pPr>
            <a:lvl9pPr>
              <a:defRPr sz="3300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3300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FAF8FF"/>
                </a:solidFill>
                <a:latin typeface="Meiryo"/>
                <a:ea typeface="Meiryo"/>
                <a:cs typeface="Meiryo"/>
              </a:rPr>
              <a:t>企画の核とプレイヤー体験</a:t>
            </a:r>
          </a:p>
        </p:txBody>
      </p:sp>
      <p:sp>
        <p:nvSpPr>
          <p:cNvPr id="2" name="対戦の駆け引きに、配信者らしい「見せ場」を加える">
            <a:extLst xmlns:a="http://schemas.openxmlformats.org/drawingml/2006/main">
              <a:ext uri="{FF2B5EF4-FFF2-40B4-BE49-F238E27FC236}">
                <a16:creationId xmlns:a16="http://schemas.microsoft.com/office/drawing/2014/main" id="{E3162E13-C89B-4B0F-A5D2-0B48C308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FF72B5"/>
                </a:solidFill>
                <a:latin typeface="Meiryo"/>
                <a:ea typeface="Meiryo"/>
                <a:cs typeface="Meiryo"/>
              </a:defRPr>
            </a:defPPr>
            <a:lvl1pPr>
              <a:defRPr sz="1800" b="0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1pPr>
            <a:lvl2pPr>
              <a:defRPr sz="1800" b="0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2pPr>
            <a:lvl3pPr>
              <a:defRPr sz="1800" b="0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3pPr>
            <a:lvl4pPr>
              <a:defRPr sz="1800" b="0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4pPr>
            <a:lvl5pPr>
              <a:defRPr sz="1800" b="0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5pPr>
            <a:lvl6pPr>
              <a:defRPr sz="1800" b="0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6pPr>
            <a:lvl7pPr>
              <a:defRPr sz="1800" b="0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7pPr>
            <a:lvl8pPr>
              <a:defRPr sz="1800" b="0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8pPr>
            <a:lvl9pPr>
              <a:defRPr sz="1800" b="0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800" b="0">
                <a:solidFill>
                  <a:srgbClr val="FF72B5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FF72B5"/>
                </a:solidFill>
                <a:latin typeface="Meiryo"/>
                <a:ea typeface="Meiryo"/>
                <a:cs typeface="Meiryo"/>
              </a:rPr>
              <a:t>対戦の駆け引きに、配信者らしい「見せ場」を加える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0A850F-D3CE-4039-B38B-38BD3EDB7C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2ce4d987d44bdb"/>
          <a:stretch xmlns:a="http://schemas.openxmlformats.org/drawingml/2006/main"/>
        </p:blipFill>
        <p:spPr>
          <a:xfrm xmlns:a="http://schemas.openxmlformats.org/drawingml/2006/main">
            <a:off x="609600" y="1838325"/>
            <a:ext cx="3238500" cy="3238500"/>
          </a:xfrm>
          <a:prstGeom xmlns:a="http://schemas.openxmlformats.org/drawingml/2006/main" prst="rect">
            <a:avLst/>
          </a:prstGeom>
        </p:spPr>
      </p:pic>
      <p:sp>
        <p:nvSpPr>
          <p:cNvPr id="4" name="想定するプレイヤー">
            <a:extLst xmlns:a="http://schemas.openxmlformats.org/drawingml/2006/main">
              <a:ext uri="{FF2B5EF4-FFF2-40B4-BE49-F238E27FC236}">
                <a16:creationId xmlns:a16="http://schemas.microsoft.com/office/drawing/2014/main" id="{FE8705F8-61FF-49C7-9029-80E06745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847850"/>
            <a:ext cx="720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defPPr>
            <a:lvl1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1pPr>
            <a:lvl2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2pPr>
            <a:lvl3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3pPr>
            <a:lvl4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4pPr>
            <a:lvl5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5pPr>
            <a:lvl6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6pPr>
            <a:lvl7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7pPr>
            <a:lvl8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8pPr>
            <a:lvl9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FF72B5"/>
                </a:solidFill>
                <a:latin typeface="Meiryo"/>
                <a:ea typeface="Meiryo"/>
                <a:cs typeface="Meiryo"/>
              </a:rPr>
              <a:t>想定するプレイヤー</a:t>
            </a:r>
          </a:p>
        </p:txBody>
      </p:sp>
      <p:sp>
        <p:nvSpPr>
          <p:cNvPr id="5" name="VTuberや配信文化に親しみがあり、&#10;相手との読み合いや対戦を楽しみた">
            <a:extLst xmlns:a="http://schemas.openxmlformats.org/drawingml/2006/main">
              <a:ext uri="{FF2B5EF4-FFF2-40B4-BE49-F238E27FC236}">
                <a16:creationId xmlns:a16="http://schemas.microsoft.com/office/drawing/2014/main" id="{C4F03212-4623-479F-A032-EC0E626B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24100"/>
            <a:ext cx="72009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defPPr>
            <a:lvl1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1pPr>
            <a:lvl2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2pPr>
            <a:lvl3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3pPr>
            <a:lvl4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4pPr>
            <a:lvl5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5pPr>
            <a:lvl6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6pPr>
            <a:lvl7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7pPr>
            <a:lvl8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8pPr>
            <a:lvl9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FAF8FF"/>
                </a:solidFill>
                <a:latin typeface="Meiryo"/>
                <a:ea typeface="Meiryo"/>
                <a:cs typeface="Meiryo"/>
              </a:rPr>
              <a:t>VTuberや配信文化に親しみがあり、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FAF8FF"/>
                </a:solidFill>
                <a:latin typeface="Meiryo"/>
                <a:ea typeface="Meiryo"/>
                <a:cs typeface="Meiryo"/>
              </a:rPr>
              <a:t>相手との読み合いや対戦を楽しみたい人。</a:t>
            </a:r>
          </a:p>
        </p:txBody>
      </p:sp>
      <p:sp>
        <p:nvSpPr>
          <p:cNvPr id="6" name="基本の遊び">
            <a:extLst xmlns:a="http://schemas.openxmlformats.org/drawingml/2006/main">
              <a:ext uri="{FF2B5EF4-FFF2-40B4-BE49-F238E27FC236}">
                <a16:creationId xmlns:a16="http://schemas.microsoft.com/office/drawing/2014/main" id="{103E76B4-FF8F-4990-9DB7-BAD64584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57575"/>
            <a:ext cx="720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defPPr>
            <a:lvl1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1pPr>
            <a:lvl2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2pPr>
            <a:lvl3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3pPr>
            <a:lvl4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4pPr>
            <a:lvl5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5pPr>
            <a:lvl6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6pPr>
            <a:lvl7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7pPr>
            <a:lvl8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8pPr>
            <a:lvl9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FF72B5"/>
                </a:solidFill>
                <a:latin typeface="Meiryo"/>
                <a:ea typeface="Meiryo"/>
                <a:cs typeface="Meiryo"/>
              </a:rPr>
              <a:t>基本の遊び</a:t>
            </a:r>
          </a:p>
        </p:txBody>
      </p:sp>
      <p:sp>
        <p:nvSpPr>
          <p:cNvPr id="7" name="攻撃・ガード・移動で相手のHPを削る。&#10;そこにアピールを挟み、&#10;次の攻撃">
            <a:extLst xmlns:a="http://schemas.openxmlformats.org/drawingml/2006/main">
              <a:ext uri="{FF2B5EF4-FFF2-40B4-BE49-F238E27FC236}">
                <a16:creationId xmlns:a16="http://schemas.microsoft.com/office/drawing/2014/main" id="{D9401E1C-DCDE-4372-9129-D6014B9D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33825"/>
            <a:ext cx="7200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defPPr>
            <a:lvl1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1pPr>
            <a:lvl2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2pPr>
            <a:lvl3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3pPr>
            <a:lvl4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4pPr>
            <a:lvl5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5pPr>
            <a:lvl6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6pPr>
            <a:lvl7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7pPr>
            <a:lvl8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8pPr>
            <a:lvl9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FAF8FF"/>
                </a:solidFill>
                <a:latin typeface="Meiryo"/>
                <a:ea typeface="Meiryo"/>
                <a:cs typeface="Meiryo"/>
              </a:rPr>
              <a:t>攻撃・ガード・移動で相手のHPを削る。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FAF8FF"/>
                </a:solidFill>
                <a:latin typeface="Meiryo"/>
                <a:ea typeface="Meiryo"/>
                <a:cs typeface="Meiryo"/>
              </a:rPr>
              <a:t>そこにアピールを挟み、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FAF8FF"/>
                </a:solidFill>
                <a:latin typeface="Meiryo"/>
                <a:ea typeface="Meiryo"/>
                <a:cs typeface="Meiryo"/>
              </a:rPr>
              <a:t>次の攻撃につながる機会を作る。</a:t>
            </a:r>
          </a:p>
        </p:txBody>
      </p:sp>
      <p:sp>
        <p:nvSpPr>
          <p:cNvPr id="8" name="目指す体験：勝つための判断そのものが、キャラクターの見せ場になる。">
            <a:extLst xmlns:a="http://schemas.openxmlformats.org/drawingml/2006/main">
              <a:ext uri="{FF2B5EF4-FFF2-40B4-BE49-F238E27FC236}">
                <a16:creationId xmlns:a16="http://schemas.microsoft.com/office/drawing/2014/main" id="{F50FDD45-080F-4E3F-8EC2-7E6927A10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defPPr>
            <a:lvl1pPr>
              <a:defRPr sz="2175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1pPr>
            <a:lvl2pPr>
              <a:defRPr sz="2175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2pPr>
            <a:lvl3pPr>
              <a:defRPr sz="2175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3pPr>
            <a:lvl4pPr>
              <a:defRPr sz="2175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4pPr>
            <a:lvl5pPr>
              <a:defRPr sz="2175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5pPr>
            <a:lvl6pPr>
              <a:defRPr sz="2175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6pPr>
            <a:lvl7pPr>
              <a:defRPr sz="2175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7pPr>
            <a:lvl8pPr>
              <a:defRPr sz="2175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8pPr>
            <a:lvl9pPr>
              <a:defRPr sz="2175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2175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pPr>
            <a:r>
              <a:rPr sz="2175" b="1">
                <a:solidFill>
                  <a:srgbClr val="FF72B5"/>
                </a:solidFill>
                <a:latin typeface="Meiryo"/>
                <a:ea typeface="Meiryo"/>
                <a:cs typeface="Meiryo"/>
              </a:rPr>
              <a:t>目指す体験：勝つための判断そのものが、キャラクターの見せ場になる。</a:t>
            </a:r>
          </a:p>
        </p:txBody>
      </p:sp>
    </p:spTree>
    <p:extLst>
      <p:ext uri="{BB962C8B-B14F-4D97-AF65-F5344CB8AC3E}">
        <p14:creationId xmlns:p14="http://schemas.microsoft.com/office/powerpoint/2010/main" val="18062232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211E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アピールが生むリスクと見返り">
            <a:extLst xmlns:a="http://schemas.openxmlformats.org/drawingml/2006/main">
              <a:ext uri="{FF2B5EF4-FFF2-40B4-BE49-F238E27FC236}">
                <a16:creationId xmlns:a16="http://schemas.microsoft.com/office/drawing/2014/main" id="{1F7EA334-D1F5-4E99-BF00-6BBC7E9A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defPPr>
            <a:lvl1pPr>
              <a:defRPr sz="3300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1pPr>
            <a:lvl2pPr>
              <a:defRPr sz="3300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2pPr>
            <a:lvl3pPr>
              <a:defRPr sz="3300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3pPr>
            <a:lvl4pPr>
              <a:defRPr sz="3300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4pPr>
            <a:lvl5pPr>
              <a:defRPr sz="3300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5pPr>
            <a:lvl6pPr>
              <a:defRPr sz="3300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6pPr>
            <a:lvl7pPr>
              <a:defRPr sz="3300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7pPr>
            <a:lvl8pPr>
              <a:defRPr sz="3300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8pPr>
            <a:lvl9pPr>
              <a:defRPr sz="3300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3300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FAF8FF"/>
                </a:solidFill>
                <a:latin typeface="Meiryo"/>
                <a:ea typeface="Meiryo"/>
                <a:cs typeface="Meiryo"/>
              </a:rPr>
              <a:t>アピールが生むリスクと見返り</a:t>
            </a:r>
          </a:p>
        </p:txBody>
      </p:sp>
      <p:sp>
        <p:nvSpPr>
          <p:cNvPr id="2" name="企画上のルール：攻撃を止める瞬間にも、判断を持たせる">
            <a:extLst xmlns:a="http://schemas.openxmlformats.org/drawingml/2006/main">
              <a:ext uri="{FF2B5EF4-FFF2-40B4-BE49-F238E27FC236}">
                <a16:creationId xmlns:a16="http://schemas.microsoft.com/office/drawing/2014/main" id="{EA19DB25-2CD7-4BF9-A088-07E6530C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FF72B5"/>
                </a:solidFill>
                <a:latin typeface="Meiryo"/>
                <a:ea typeface="Meiryo"/>
                <a:cs typeface="Meiryo"/>
              </a:defRPr>
            </a:defPPr>
            <a:lvl1pPr>
              <a:defRPr sz="1800" b="0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1pPr>
            <a:lvl2pPr>
              <a:defRPr sz="1800" b="0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2pPr>
            <a:lvl3pPr>
              <a:defRPr sz="1800" b="0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3pPr>
            <a:lvl4pPr>
              <a:defRPr sz="1800" b="0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4pPr>
            <a:lvl5pPr>
              <a:defRPr sz="1800" b="0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5pPr>
            <a:lvl6pPr>
              <a:defRPr sz="1800" b="0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6pPr>
            <a:lvl7pPr>
              <a:defRPr sz="1800" b="0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7pPr>
            <a:lvl8pPr>
              <a:defRPr sz="1800" b="0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8pPr>
            <a:lvl9pPr>
              <a:defRPr sz="1800" b="0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800" b="0">
                <a:solidFill>
                  <a:srgbClr val="FF72B5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FF72B5"/>
                </a:solidFill>
                <a:latin typeface="Meiryo"/>
                <a:ea typeface="Meiryo"/>
                <a:cs typeface="Meiryo"/>
              </a:rPr>
              <a:t>企画上のルール：攻撃を止める瞬間にも、判断を持たせる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AE7496-6E9E-4DAC-9CC7-EA5E0FA49F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19716c933c4301"/>
          <a:stretch xmlns:a="http://schemas.openxmlformats.org/drawingml/2006/main"/>
        </p:blipFill>
        <p:spPr>
          <a:xfrm xmlns:a="http://schemas.openxmlformats.org/drawingml/2006/main">
            <a:off x="609600" y="1809750"/>
            <a:ext cx="7010400" cy="3943350"/>
          </a:xfrm>
          <a:prstGeom xmlns:a="http://schemas.openxmlformats.org/drawingml/2006/main" prst="rect">
            <a:avLst/>
          </a:prstGeom>
        </p:spPr>
      </p:pic>
      <p:sp>
        <p:nvSpPr>
          <p:cNvPr id="4" name="隙を見つけて魅せる">
            <a:extLst xmlns:a="http://schemas.openxmlformats.org/drawingml/2006/main">
              <a:ext uri="{FF2B5EF4-FFF2-40B4-BE49-F238E27FC236}">
                <a16:creationId xmlns:a16="http://schemas.microsoft.com/office/drawing/2014/main" id="{A7BF2596-F551-4497-B1F7-7B243F64B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19275"/>
            <a:ext cx="3562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defPPr>
            <a:lvl1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1pPr>
            <a:lvl2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2pPr>
            <a:lvl3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3pPr>
            <a:lvl4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4pPr>
            <a:lvl5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5pPr>
            <a:lvl6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6pPr>
            <a:lvl7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7pPr>
            <a:lvl8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8pPr>
            <a:lvl9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FF72B5"/>
                </a:solidFill>
                <a:latin typeface="Meiryo"/>
                <a:ea typeface="Meiryo"/>
                <a:cs typeface="Meiryo"/>
              </a:rPr>
              <a:t>隙を見つけて魅せる</a:t>
            </a:r>
          </a:p>
        </p:txBody>
      </p:sp>
      <p:sp>
        <p:nvSpPr>
          <p:cNvPr id="5" name="アピール中は無防備。&#10;成功後の攻撃で&#10;ボルテージを高める。">
            <a:extLst xmlns:a="http://schemas.openxmlformats.org/drawingml/2006/main">
              <a:ext uri="{FF2B5EF4-FFF2-40B4-BE49-F238E27FC236}">
                <a16:creationId xmlns:a16="http://schemas.microsoft.com/office/drawing/2014/main" id="{B61A5ACB-8E03-476C-8E64-E185FBC6E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95525"/>
            <a:ext cx="35623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defPPr>
            <a:lvl1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1pPr>
            <a:lvl2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2pPr>
            <a:lvl3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3pPr>
            <a:lvl4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4pPr>
            <a:lvl5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5pPr>
            <a:lvl6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6pPr>
            <a:lvl7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7pPr>
            <a:lvl8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8pPr>
            <a:lvl9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FAF8FF"/>
                </a:solidFill>
                <a:latin typeface="Meiryo"/>
                <a:ea typeface="Meiryo"/>
                <a:cs typeface="Meiryo"/>
              </a:rPr>
              <a:t>アピール中は無防備。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FAF8FF"/>
                </a:solidFill>
                <a:latin typeface="Meiryo"/>
                <a:ea typeface="Meiryo"/>
                <a:cs typeface="Meiryo"/>
              </a:rPr>
              <a:t>成功後の攻撃で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FAF8FF"/>
                </a:solidFill>
                <a:latin typeface="Meiryo"/>
                <a:ea typeface="Meiryo"/>
                <a:cs typeface="Meiryo"/>
              </a:rPr>
              <a:t>ボルテージを高める。</a:t>
            </a:r>
          </a:p>
        </p:txBody>
      </p:sp>
      <p:sp>
        <p:nvSpPr>
          <p:cNvPr id="6" name="読み合いの場面">
            <a:extLst xmlns:a="http://schemas.openxmlformats.org/drawingml/2006/main">
              <a:ext uri="{FF2B5EF4-FFF2-40B4-BE49-F238E27FC236}">
                <a16:creationId xmlns:a16="http://schemas.microsoft.com/office/drawing/2014/main" id="{77BC65BC-97AC-4479-9682-77F43312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81425"/>
            <a:ext cx="3562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defPPr>
            <a:lvl1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1pPr>
            <a:lvl2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2pPr>
            <a:lvl3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3pPr>
            <a:lvl4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4pPr>
            <a:lvl5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5pPr>
            <a:lvl6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6pPr>
            <a:lvl7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7pPr>
            <a:lvl8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8pPr>
            <a:lvl9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FF72B5"/>
                </a:solidFill>
                <a:latin typeface="Meiryo"/>
                <a:ea typeface="Meiryo"/>
                <a:cs typeface="Meiryo"/>
              </a:rPr>
              <a:t>読み合いの場面</a:t>
            </a:r>
          </a:p>
        </p:txBody>
      </p:sp>
      <p:sp>
        <p:nvSpPr>
          <p:cNvPr id="7" name="安全に攻撃を続けるか。&#10;相手の動きを読んで、&#10;アピールを挟むか。">
            <a:extLst xmlns:a="http://schemas.openxmlformats.org/drawingml/2006/main">
              <a:ext uri="{FF2B5EF4-FFF2-40B4-BE49-F238E27FC236}">
                <a16:creationId xmlns:a16="http://schemas.microsoft.com/office/drawing/2014/main" id="{E5B02D1E-76D3-4A6F-B3D8-DF96EF1C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57675"/>
            <a:ext cx="35623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defPPr>
            <a:lvl1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1pPr>
            <a:lvl2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2pPr>
            <a:lvl3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3pPr>
            <a:lvl4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4pPr>
            <a:lvl5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5pPr>
            <a:lvl6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6pPr>
            <a:lvl7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7pPr>
            <a:lvl8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8pPr>
            <a:lvl9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FAF8FF"/>
                </a:solidFill>
                <a:latin typeface="Meiryo"/>
                <a:ea typeface="Meiryo"/>
                <a:cs typeface="Meiryo"/>
              </a:rPr>
              <a:t>安全に攻撃を続けるか。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FAF8FF"/>
                </a:solidFill>
                <a:latin typeface="Meiryo"/>
                <a:ea typeface="Meiryo"/>
                <a:cs typeface="Meiryo"/>
              </a:rPr>
              <a:t>相手の動きを読んで、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FAF8FF"/>
                </a:solidFill>
                <a:latin typeface="Meiryo"/>
                <a:ea typeface="Meiryo"/>
                <a:cs typeface="Meiryo"/>
              </a:rPr>
              <a:t>アピールを挟むか。</a:t>
            </a:r>
          </a:p>
        </p:txBody>
      </p:sp>
      <p:sp>
        <p:nvSpPr>
          <p:cNvPr id="8" name="ボルテージを高め、必殺技の見せ場へつなぐ構想。">
            <a:extLst xmlns:a="http://schemas.openxmlformats.org/drawingml/2006/main">
              <a:ext uri="{FF2B5EF4-FFF2-40B4-BE49-F238E27FC236}">
                <a16:creationId xmlns:a16="http://schemas.microsoft.com/office/drawing/2014/main" id="{B4F8D1FA-2909-45FE-8A2E-23A5EDFC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FF72B5"/>
                </a:solidFill>
                <a:latin typeface="Meiryo"/>
                <a:ea typeface="Meiryo"/>
                <a:cs typeface="Meiryo"/>
              </a:defRPr>
            </a:defPPr>
            <a:lvl1pPr>
              <a:defRPr sz="1875" b="0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1pPr>
            <a:lvl2pPr>
              <a:defRPr sz="1875" b="0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2pPr>
            <a:lvl3pPr>
              <a:defRPr sz="1875" b="0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3pPr>
            <a:lvl4pPr>
              <a:defRPr sz="1875" b="0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4pPr>
            <a:lvl5pPr>
              <a:defRPr sz="1875" b="0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5pPr>
            <a:lvl6pPr>
              <a:defRPr sz="1875" b="0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6pPr>
            <a:lvl7pPr>
              <a:defRPr sz="1875" b="0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7pPr>
            <a:lvl8pPr>
              <a:defRPr sz="1875" b="0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8pPr>
            <a:lvl9pPr>
              <a:defRPr sz="1875" b="0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875" b="0">
                <a:solidFill>
                  <a:srgbClr val="FF72B5"/>
                </a:solidFill>
                <a:latin typeface="Meiryo"/>
                <a:ea typeface="Meiryo"/>
                <a:cs typeface="Meiryo"/>
              </a:defRPr>
            </a:pPr>
            <a:r>
              <a:rPr sz="1875" b="0">
                <a:solidFill>
                  <a:srgbClr val="FF72B5"/>
                </a:solidFill>
                <a:latin typeface="Meiryo"/>
                <a:ea typeface="Meiryo"/>
                <a:cs typeface="Meiryo"/>
              </a:rPr>
              <a:t>ボルテージを高め、必殺技の見せ場へつなぐ構想。</a:t>
            </a:r>
          </a:p>
        </p:txBody>
      </p:sp>
    </p:spTree>
    <p:extLst>
      <p:ext uri="{BB962C8B-B14F-4D97-AF65-F5344CB8AC3E}">
        <p14:creationId xmlns:p14="http://schemas.microsoft.com/office/powerpoint/2010/main" val="11727199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211E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配信を感じさせる画面と演出">
            <a:extLst xmlns:a="http://schemas.openxmlformats.org/drawingml/2006/main">
              <a:ext uri="{FF2B5EF4-FFF2-40B4-BE49-F238E27FC236}">
                <a16:creationId xmlns:a16="http://schemas.microsoft.com/office/drawing/2014/main" id="{58E6E014-4065-4EDE-BB9F-E91AAB82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defPPr>
            <a:lvl1pPr>
              <a:defRPr sz="3300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1pPr>
            <a:lvl2pPr>
              <a:defRPr sz="3300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2pPr>
            <a:lvl3pPr>
              <a:defRPr sz="3300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3pPr>
            <a:lvl4pPr>
              <a:defRPr sz="3300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4pPr>
            <a:lvl5pPr>
              <a:defRPr sz="3300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5pPr>
            <a:lvl6pPr>
              <a:defRPr sz="3300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6pPr>
            <a:lvl7pPr>
              <a:defRPr sz="3300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7pPr>
            <a:lvl8pPr>
              <a:defRPr sz="3300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8pPr>
            <a:lvl9pPr>
              <a:defRPr sz="3300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3300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FAF8FF"/>
                </a:solidFill>
                <a:latin typeface="Meiryo"/>
                <a:ea typeface="Meiryo"/>
                <a:cs typeface="Meiryo"/>
              </a:rPr>
              <a:t>配信を感じさせる画面と演出</a:t>
            </a:r>
          </a:p>
        </p:txBody>
      </p:sp>
      <p:sp>
        <p:nvSpPr>
          <p:cNvPr id="2" name="コメントとウィンドウ風の画面で、デジタルな世界観を伝える">
            <a:extLst xmlns:a="http://schemas.openxmlformats.org/drawingml/2006/main">
              <a:ext uri="{FF2B5EF4-FFF2-40B4-BE49-F238E27FC236}">
                <a16:creationId xmlns:a16="http://schemas.microsoft.com/office/drawing/2014/main" id="{DC1B5A47-D8BA-47D2-88A4-DB6D14E5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FF72B5"/>
                </a:solidFill>
                <a:latin typeface="Meiryo"/>
                <a:ea typeface="Meiryo"/>
                <a:cs typeface="Meiryo"/>
              </a:defRPr>
            </a:defPPr>
            <a:lvl1pPr>
              <a:defRPr sz="1800" b="0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1pPr>
            <a:lvl2pPr>
              <a:defRPr sz="1800" b="0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2pPr>
            <a:lvl3pPr>
              <a:defRPr sz="1800" b="0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3pPr>
            <a:lvl4pPr>
              <a:defRPr sz="1800" b="0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4pPr>
            <a:lvl5pPr>
              <a:defRPr sz="1800" b="0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5pPr>
            <a:lvl6pPr>
              <a:defRPr sz="1800" b="0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6pPr>
            <a:lvl7pPr>
              <a:defRPr sz="1800" b="0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7pPr>
            <a:lvl8pPr>
              <a:defRPr sz="1800" b="0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8pPr>
            <a:lvl9pPr>
              <a:defRPr sz="1800" b="0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800" b="0">
                <a:solidFill>
                  <a:srgbClr val="FF72B5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FF72B5"/>
                </a:solidFill>
                <a:latin typeface="Meiryo"/>
                <a:ea typeface="Meiryo"/>
                <a:cs typeface="Meiryo"/>
              </a:rPr>
              <a:t>コメントとウィンドウ風の画面で、デジタルな世界観を伝える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3AD4BD-5FB0-4CEF-A1FB-0638740685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b0bb43adbf4512"/>
          <a:stretch xmlns:a="http://schemas.openxmlformats.org/drawingml/2006/main"/>
        </p:blipFill>
        <p:spPr>
          <a:xfrm xmlns:a="http://schemas.openxmlformats.org/drawingml/2006/main">
            <a:off x="609600" y="1764506"/>
            <a:ext cx="5257800" cy="2957513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5EF96A-5896-4C1A-9A88-877C1379EF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c0a4e1a4e64bb3"/>
          <a:stretch xmlns:a="http://schemas.openxmlformats.org/drawingml/2006/main"/>
        </p:blipFill>
        <p:spPr>
          <a:xfrm xmlns:a="http://schemas.openxmlformats.org/drawingml/2006/main">
            <a:off x="6324600" y="1764506"/>
            <a:ext cx="5257800" cy="2957513"/>
          </a:xfrm>
          <a:prstGeom xmlns:a="http://schemas.openxmlformats.org/drawingml/2006/main" prst="rect">
            <a:avLst/>
          </a:prstGeom>
        </p:spPr>
      </p:pic>
      <p:sp>
        <p:nvSpPr>
          <p:cNvPr id="5" name="立体的なコメント">
            <a:extLst xmlns:a="http://schemas.openxmlformats.org/drawingml/2006/main">
              <a:ext uri="{FF2B5EF4-FFF2-40B4-BE49-F238E27FC236}">
                <a16:creationId xmlns:a16="http://schemas.microsoft.com/office/drawing/2014/main" id="{8EF2B0CB-B687-4A74-933E-55ECEAFC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525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defPPr>
            <a:lvl1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1pPr>
            <a:lvl2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2pPr>
            <a:lvl3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3pPr>
            <a:lvl4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4pPr>
            <a:lvl5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5pPr>
            <a:lvl6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6pPr>
            <a:lvl7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7pPr>
            <a:lvl8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8pPr>
            <a:lvl9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FF72B5"/>
                </a:solidFill>
                <a:latin typeface="Meiryo"/>
                <a:ea typeface="Meiryo"/>
                <a:cs typeface="Meiryo"/>
              </a:rPr>
              <a:t>立体的なコメント</a:t>
            </a:r>
          </a:p>
        </p:txBody>
      </p:sp>
      <p:sp>
        <p:nvSpPr>
          <p:cNvPr id="6" name="戦闘空間を横切る言葉で、&#10;配信の賑わいを表現する。">
            <a:extLst xmlns:a="http://schemas.openxmlformats.org/drawingml/2006/main">
              <a:ext uri="{FF2B5EF4-FFF2-40B4-BE49-F238E27FC236}">
                <a16:creationId xmlns:a16="http://schemas.microsoft.com/office/drawing/2014/main" id="{266F3FF8-0EE8-4990-AD26-6E285574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52578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defPPr>
            <a:lvl1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1pPr>
            <a:lvl2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2pPr>
            <a:lvl3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3pPr>
            <a:lvl4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4pPr>
            <a:lvl5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5pPr>
            <a:lvl6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6pPr>
            <a:lvl7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7pPr>
            <a:lvl8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8pPr>
            <a:lvl9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FAF8FF"/>
                </a:solidFill>
                <a:latin typeface="Meiryo"/>
                <a:ea typeface="Meiryo"/>
                <a:cs typeface="Meiryo"/>
              </a:rPr>
              <a:t>戦闘空間を横切る言葉で、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FAF8FF"/>
                </a:solidFill>
                <a:latin typeface="Meiryo"/>
                <a:ea typeface="Meiryo"/>
                <a:cs typeface="Meiryo"/>
              </a:rPr>
              <a:t>配信の賑わいを表現する。</a:t>
            </a:r>
          </a:p>
        </p:txBody>
      </p:sp>
      <p:sp>
        <p:nvSpPr>
          <p:cNvPr id="7" name="ウィンドウ風の画面">
            <a:extLst xmlns:a="http://schemas.openxmlformats.org/drawingml/2006/main">
              <a:ext uri="{FF2B5EF4-FFF2-40B4-BE49-F238E27FC236}">
                <a16:creationId xmlns:a16="http://schemas.microsoft.com/office/drawing/2014/main" id="{AE3F0443-352F-4372-BBE8-A434421AC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95850"/>
            <a:ext cx="525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defPPr>
            <a:lvl1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1pPr>
            <a:lvl2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2pPr>
            <a:lvl3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3pPr>
            <a:lvl4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4pPr>
            <a:lvl5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5pPr>
            <a:lvl6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6pPr>
            <a:lvl7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7pPr>
            <a:lvl8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8pPr>
            <a:lvl9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FF72B5"/>
                </a:solidFill>
                <a:latin typeface="Meiryo"/>
                <a:ea typeface="Meiryo"/>
                <a:cs typeface="Meiryo"/>
              </a:rPr>
              <a:t>ウィンドウ風の画面</a:t>
            </a:r>
          </a:p>
        </p:txBody>
      </p:sp>
      <p:sp>
        <p:nvSpPr>
          <p:cNvPr id="8" name="キャラクター選択もブラウザー風の枠に。&#10;対戦前から作品の世界観を伝える。">
            <a:extLst xmlns:a="http://schemas.openxmlformats.org/drawingml/2006/main">
              <a:ext uri="{FF2B5EF4-FFF2-40B4-BE49-F238E27FC236}">
                <a16:creationId xmlns:a16="http://schemas.microsoft.com/office/drawing/2014/main" id="{1C4AE8F8-8C2F-4D10-9B10-ABE8E4A8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372100"/>
            <a:ext cx="52578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defPPr>
            <a:lvl1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1pPr>
            <a:lvl2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2pPr>
            <a:lvl3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3pPr>
            <a:lvl4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4pPr>
            <a:lvl5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5pPr>
            <a:lvl6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6pPr>
            <a:lvl7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7pPr>
            <a:lvl8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8pPr>
            <a:lvl9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FAF8FF"/>
                </a:solidFill>
                <a:latin typeface="Meiryo"/>
                <a:ea typeface="Meiryo"/>
                <a:cs typeface="Meiryo"/>
              </a:rPr>
              <a:t>キャラクター選択もブラウザー風の枠に。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FAF8FF"/>
                </a:solidFill>
                <a:latin typeface="Meiryo"/>
                <a:ea typeface="Meiryo"/>
                <a:cs typeface="Meiryo"/>
              </a:rPr>
              <a:t>対戦前から作品の世界観を伝える。</a:t>
            </a:r>
          </a:p>
        </p:txBody>
      </p:sp>
    </p:spTree>
    <p:extLst>
      <p:ext uri="{BB962C8B-B14F-4D97-AF65-F5344CB8AC3E}">
        <p14:creationId xmlns:p14="http://schemas.microsoft.com/office/powerpoint/2010/main" val="19880585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211E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企画の見どころと公開版の違い">
            <a:extLst xmlns:a="http://schemas.openxmlformats.org/drawingml/2006/main">
              <a:ext uri="{FF2B5EF4-FFF2-40B4-BE49-F238E27FC236}">
                <a16:creationId xmlns:a16="http://schemas.microsoft.com/office/drawing/2014/main" id="{03DA2801-37E5-4E3A-B975-7C911028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defPPr>
            <a:lvl1pPr>
              <a:defRPr sz="3300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1pPr>
            <a:lvl2pPr>
              <a:defRPr sz="3300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2pPr>
            <a:lvl3pPr>
              <a:defRPr sz="3300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3pPr>
            <a:lvl4pPr>
              <a:defRPr sz="3300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4pPr>
            <a:lvl5pPr>
              <a:defRPr sz="3300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5pPr>
            <a:lvl6pPr>
              <a:defRPr sz="3300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6pPr>
            <a:lvl7pPr>
              <a:defRPr sz="3300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7pPr>
            <a:lvl8pPr>
              <a:defRPr sz="3300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8pPr>
            <a:lvl9pPr>
              <a:defRPr sz="3300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3300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FAF8FF"/>
                </a:solidFill>
                <a:latin typeface="Meiryo"/>
                <a:ea typeface="Meiryo"/>
                <a:cs typeface="Meiryo"/>
              </a:rPr>
              <a:t>企画の見どころと公開版の違い</a:t>
            </a:r>
          </a:p>
        </p:txBody>
      </p:sp>
      <p:sp>
        <p:nvSpPr>
          <p:cNvPr id="2" name="企画上の構想と、試遊できる範囲を分けてご案内します">
            <a:extLst xmlns:a="http://schemas.openxmlformats.org/drawingml/2006/main">
              <a:ext uri="{FF2B5EF4-FFF2-40B4-BE49-F238E27FC236}">
                <a16:creationId xmlns:a16="http://schemas.microsoft.com/office/drawing/2014/main" id="{234FE604-214A-42C3-85D3-DB806926B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FF72B5"/>
                </a:solidFill>
                <a:latin typeface="Meiryo"/>
                <a:ea typeface="Meiryo"/>
                <a:cs typeface="Meiryo"/>
              </a:defRPr>
            </a:defPPr>
            <a:lvl1pPr>
              <a:defRPr sz="1800" b="0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1pPr>
            <a:lvl2pPr>
              <a:defRPr sz="1800" b="0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2pPr>
            <a:lvl3pPr>
              <a:defRPr sz="1800" b="0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3pPr>
            <a:lvl4pPr>
              <a:defRPr sz="1800" b="0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4pPr>
            <a:lvl5pPr>
              <a:defRPr sz="1800" b="0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5pPr>
            <a:lvl6pPr>
              <a:defRPr sz="1800" b="0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6pPr>
            <a:lvl7pPr>
              <a:defRPr sz="1800" b="0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7pPr>
            <a:lvl8pPr>
              <a:defRPr sz="1800" b="0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8pPr>
            <a:lvl9pPr>
              <a:defRPr sz="1800" b="0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800" b="0">
                <a:solidFill>
                  <a:srgbClr val="FF72B5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FF72B5"/>
                </a:solidFill>
                <a:latin typeface="Meiryo"/>
                <a:ea typeface="Meiryo"/>
                <a:cs typeface="Meiryo"/>
              </a:rPr>
              <a:t>企画上の構想と、試遊できる範囲を分けてご案内します</a:t>
            </a:r>
          </a:p>
        </p:txBody>
      </p:sp>
      <p:sp>
        <p:nvSpPr>
          <p:cNvPr id="3" name="見どころ">
            <a:extLst xmlns:a="http://schemas.openxmlformats.org/drawingml/2006/main">
              <a:ext uri="{FF2B5EF4-FFF2-40B4-BE49-F238E27FC236}">
                <a16:creationId xmlns:a16="http://schemas.microsoft.com/office/drawing/2014/main" id="{08B7DC13-ABC0-40C6-AB1C-A8A8A932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defPPr>
            <a:lvl1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1pPr>
            <a:lvl2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2pPr>
            <a:lvl3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3pPr>
            <a:lvl4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4pPr>
            <a:lvl5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5pPr>
            <a:lvl6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6pPr>
            <a:lvl7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7pPr>
            <a:lvl8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8pPr>
            <a:lvl9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FF72B5"/>
                </a:solidFill>
                <a:latin typeface="Meiryo"/>
                <a:ea typeface="Meiryo"/>
                <a:cs typeface="Meiryo"/>
              </a:rPr>
              <a:t>見どころ</a:t>
            </a:r>
          </a:p>
        </p:txBody>
      </p:sp>
      <p:sp>
        <p:nvSpPr>
          <p:cNvPr id="4" name="配信文化を背景だけでなく、アピールや戦闘中の出来事に結び付けること。&#10;氷">
            <a:extLst xmlns:a="http://schemas.openxmlformats.org/drawingml/2006/main">
              <a:ext uri="{FF2B5EF4-FFF2-40B4-BE49-F238E27FC236}">
                <a16:creationId xmlns:a16="http://schemas.microsoft.com/office/drawing/2014/main" id="{6441B74F-542A-4A46-8342-32255683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defPPr>
            <a:lvl1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1pPr>
            <a:lvl2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2pPr>
            <a:lvl3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3pPr>
            <a:lvl4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4pPr>
            <a:lvl5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5pPr>
            <a:lvl6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6pPr>
            <a:lvl7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7pPr>
            <a:lvl8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8pPr>
            <a:lvl9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FAF8FF"/>
                </a:solidFill>
                <a:latin typeface="Meiryo"/>
                <a:ea typeface="Meiryo"/>
                <a:cs typeface="Meiryo"/>
              </a:rPr>
              <a:t>配信文化を背景だけでなく、アピールや戦闘中の出来事に結び付けること。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FAF8FF"/>
                </a:solidFill>
                <a:latin typeface="Meiryo"/>
                <a:ea typeface="Meiryo"/>
                <a:cs typeface="Meiryo"/>
              </a:rPr>
              <a:t>氷の攻撃、立体のコメント、ウィンドウ演出でデジタルな雰囲気を作ります。</a:t>
            </a:r>
          </a:p>
        </p:txBody>
      </p:sp>
      <p:sp>
        <p:nvSpPr>
          <p:cNvPr id="5" name="Windows版とブラウザー版">
            <a:extLst xmlns:a="http://schemas.openxmlformats.org/drawingml/2006/main">
              <a:ext uri="{FF2B5EF4-FFF2-40B4-BE49-F238E27FC236}">
                <a16:creationId xmlns:a16="http://schemas.microsoft.com/office/drawing/2014/main" id="{A8040E56-7803-44C6-A2E8-4F3CA5AC1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defPPr>
            <a:lvl1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1pPr>
            <a:lvl2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2pPr>
            <a:lvl3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3pPr>
            <a:lvl4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4pPr>
            <a:lvl5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5pPr>
            <a:lvl6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6pPr>
            <a:lvl7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7pPr>
            <a:lvl8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8pPr>
            <a:lvl9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FF72B5"/>
                </a:solidFill>
                <a:latin typeface="Meiryo"/>
                <a:ea typeface="Meiryo"/>
                <a:cs typeface="Meiryo"/>
              </a:rPr>
              <a:t>Windows版とブラウザー版</a:t>
            </a:r>
          </a:p>
        </p:txBody>
      </p:sp>
      <p:sp>
        <p:nvSpPr>
          <p:cNvPr id="6" name="Windows版はOSの別ウィンドウを使う演出に対応。&#10;ブラウザー版はゲ">
            <a:extLst xmlns:a="http://schemas.openxmlformats.org/drawingml/2006/main">
              <a:ext uri="{FF2B5EF4-FFF2-40B4-BE49-F238E27FC236}">
                <a16:creationId xmlns:a16="http://schemas.microsoft.com/office/drawing/2014/main" id="{AB982BD6-0AD6-483B-BF7F-0D2067F76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95725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defPPr>
            <a:lvl1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1pPr>
            <a:lvl2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2pPr>
            <a:lvl3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3pPr>
            <a:lvl4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4pPr>
            <a:lvl5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5pPr>
            <a:lvl6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6pPr>
            <a:lvl7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7pPr>
            <a:lvl8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8pPr>
            <a:lvl9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FAF8FF"/>
                </a:solidFill>
                <a:latin typeface="Meiryo"/>
                <a:ea typeface="Meiryo"/>
                <a:cs typeface="Meiryo"/>
              </a:rPr>
              <a:t>Windows版はOSの別ウィンドウを使う演出に対応。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FAF8FF"/>
                </a:solidFill>
                <a:latin typeface="Meiryo"/>
                <a:ea typeface="Meiryo"/>
                <a:cs typeface="Meiryo"/>
              </a:rPr>
              <a:t>ブラウザー版はゲーム内の疑似表示で、一部のエフェクトも簡略化しています。</a:t>
            </a:r>
          </a:p>
        </p:txBody>
      </p:sp>
      <p:sp>
        <p:nvSpPr>
          <p:cNvPr id="7" name="企画にある通知・コメントの一部ギミックは、現行ソースで無効になっています">
            <a:extLst xmlns:a="http://schemas.openxmlformats.org/drawingml/2006/main">
              <a:ext uri="{FF2B5EF4-FFF2-40B4-BE49-F238E27FC236}">
                <a16:creationId xmlns:a16="http://schemas.microsoft.com/office/drawing/2014/main" id="{2CA0D38B-D991-4CBF-9A2C-D67431B31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728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C5BDCE"/>
                </a:solidFill>
                <a:latin typeface="Meiryo"/>
                <a:ea typeface="Meiryo"/>
                <a:cs typeface="Meiryo"/>
              </a:defRPr>
            </a:defPPr>
            <a:lvl1pPr>
              <a:defRPr sz="1800" b="0">
                <a:solidFill>
                  <a:srgbClr val="C5BDCE"/>
                </a:solidFill>
                <a:latin typeface="Meiryo"/>
                <a:ea typeface="Meiryo"/>
                <a:cs typeface="Meiryo"/>
              </a:defRPr>
            </a:lvl1pPr>
            <a:lvl2pPr>
              <a:defRPr sz="1800" b="0">
                <a:solidFill>
                  <a:srgbClr val="C5BDCE"/>
                </a:solidFill>
                <a:latin typeface="Meiryo"/>
                <a:ea typeface="Meiryo"/>
                <a:cs typeface="Meiryo"/>
              </a:defRPr>
            </a:lvl2pPr>
            <a:lvl3pPr>
              <a:defRPr sz="1800" b="0">
                <a:solidFill>
                  <a:srgbClr val="C5BDCE"/>
                </a:solidFill>
                <a:latin typeface="Meiryo"/>
                <a:ea typeface="Meiryo"/>
                <a:cs typeface="Meiryo"/>
              </a:defRPr>
            </a:lvl3pPr>
            <a:lvl4pPr>
              <a:defRPr sz="1800" b="0">
                <a:solidFill>
                  <a:srgbClr val="C5BDCE"/>
                </a:solidFill>
                <a:latin typeface="Meiryo"/>
                <a:ea typeface="Meiryo"/>
                <a:cs typeface="Meiryo"/>
              </a:defRPr>
            </a:lvl4pPr>
            <a:lvl5pPr>
              <a:defRPr sz="1800" b="0">
                <a:solidFill>
                  <a:srgbClr val="C5BDCE"/>
                </a:solidFill>
                <a:latin typeface="Meiryo"/>
                <a:ea typeface="Meiryo"/>
                <a:cs typeface="Meiryo"/>
              </a:defRPr>
            </a:lvl5pPr>
            <a:lvl6pPr>
              <a:defRPr sz="1800" b="0">
                <a:solidFill>
                  <a:srgbClr val="C5BDCE"/>
                </a:solidFill>
                <a:latin typeface="Meiryo"/>
                <a:ea typeface="Meiryo"/>
                <a:cs typeface="Meiryo"/>
              </a:defRPr>
            </a:lvl6pPr>
            <a:lvl7pPr>
              <a:defRPr sz="1800" b="0">
                <a:solidFill>
                  <a:srgbClr val="C5BDCE"/>
                </a:solidFill>
                <a:latin typeface="Meiryo"/>
                <a:ea typeface="Meiryo"/>
                <a:cs typeface="Meiryo"/>
              </a:defRPr>
            </a:lvl7pPr>
            <a:lvl8pPr>
              <a:defRPr sz="1800" b="0">
                <a:solidFill>
                  <a:srgbClr val="C5BDCE"/>
                </a:solidFill>
                <a:latin typeface="Meiryo"/>
                <a:ea typeface="Meiryo"/>
                <a:cs typeface="Meiryo"/>
              </a:defRPr>
            </a:lvl8pPr>
            <a:lvl9pPr>
              <a:defRPr sz="1800" b="0">
                <a:solidFill>
                  <a:srgbClr val="C5BDCE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800" b="0">
                <a:solidFill>
                  <a:srgbClr val="C5BDCE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C5BDCE"/>
                </a:solidFill>
                <a:latin typeface="Meiryo"/>
                <a:ea typeface="Meiryo"/>
                <a:cs typeface="Meiryo"/>
              </a:rPr>
              <a:t>企画にある通知・コメントの一部ギミックは、現行ソースで無効になっています。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800" b="0">
                <a:solidFill>
                  <a:srgbClr val="C5BDCE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C5BDCE"/>
                </a:solidFill>
                <a:latin typeface="Meiryo"/>
                <a:ea typeface="Meiryo"/>
                <a:cs typeface="Meiryo"/>
              </a:rPr>
              <a:t>全構想を公開版に実装済みとして紹介するものではありません。</a:t>
            </a:r>
          </a:p>
        </p:txBody>
      </p:sp>
    </p:spTree>
    <p:extLst>
      <p:ext uri="{BB962C8B-B14F-4D97-AF65-F5344CB8AC3E}">
        <p14:creationId xmlns:p14="http://schemas.microsoft.com/office/powerpoint/2010/main" val="11772682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211E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制作体制と作品への入口">
            <a:extLst xmlns:a="http://schemas.openxmlformats.org/drawingml/2006/main">
              <a:ext uri="{FF2B5EF4-FFF2-40B4-BE49-F238E27FC236}">
                <a16:creationId xmlns:a16="http://schemas.microsoft.com/office/drawing/2014/main" id="{6B824FF7-A9EB-4CB3-B35F-0E55268FC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defPPr>
            <a:lvl1pPr>
              <a:defRPr sz="3300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1pPr>
            <a:lvl2pPr>
              <a:defRPr sz="3300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2pPr>
            <a:lvl3pPr>
              <a:defRPr sz="3300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3pPr>
            <a:lvl4pPr>
              <a:defRPr sz="3300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4pPr>
            <a:lvl5pPr>
              <a:defRPr sz="3300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5pPr>
            <a:lvl6pPr>
              <a:defRPr sz="3300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6pPr>
            <a:lvl7pPr>
              <a:defRPr sz="3300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7pPr>
            <a:lvl8pPr>
              <a:defRPr sz="3300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8pPr>
            <a:lvl9pPr>
              <a:defRPr sz="3300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3300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FAF8FF"/>
                </a:solidFill>
                <a:latin typeface="Meiryo"/>
                <a:ea typeface="Meiryo"/>
                <a:cs typeface="Meiryo"/>
              </a:rPr>
              <a:t>制作体制と作品への入口</a:t>
            </a:r>
          </a:p>
        </p:txBody>
      </p:sp>
      <p:sp>
        <p:nvSpPr>
          <p:cNvPr id="2" name="制作人数：8人 / 開発環境：Unity / PC向け">
            <a:extLst xmlns:a="http://schemas.openxmlformats.org/drawingml/2006/main">
              <a:ext uri="{FF2B5EF4-FFF2-40B4-BE49-F238E27FC236}">
                <a16:creationId xmlns:a16="http://schemas.microsoft.com/office/drawing/2014/main" id="{95790702-2874-464F-878D-6AADDF02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FF72B5"/>
                </a:solidFill>
                <a:latin typeface="Meiryo"/>
                <a:ea typeface="Meiryo"/>
                <a:cs typeface="Meiryo"/>
              </a:defRPr>
            </a:defPPr>
            <a:lvl1pPr>
              <a:defRPr sz="1800" b="0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1pPr>
            <a:lvl2pPr>
              <a:defRPr sz="1800" b="0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2pPr>
            <a:lvl3pPr>
              <a:defRPr sz="1800" b="0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3pPr>
            <a:lvl4pPr>
              <a:defRPr sz="1800" b="0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4pPr>
            <a:lvl5pPr>
              <a:defRPr sz="1800" b="0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5pPr>
            <a:lvl6pPr>
              <a:defRPr sz="1800" b="0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6pPr>
            <a:lvl7pPr>
              <a:defRPr sz="1800" b="0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7pPr>
            <a:lvl8pPr>
              <a:defRPr sz="1800" b="0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8pPr>
            <a:lvl9pPr>
              <a:defRPr sz="1800" b="0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800" b="0">
                <a:solidFill>
                  <a:srgbClr val="FF72B5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FF72B5"/>
                </a:solidFill>
                <a:latin typeface="Meiryo"/>
                <a:ea typeface="Meiryo"/>
                <a:cs typeface="Meiryo"/>
              </a:rPr>
              <a:t>制作人数：8人 / 開発環境：Unity / PC向け</a:t>
            </a:r>
          </a:p>
        </p:txBody>
      </p:sp>
      <p:sp>
        <p:nvSpPr>
          <p:cNvPr id="3" name="私の担当">
            <a:extLst xmlns:a="http://schemas.openxmlformats.org/drawingml/2006/main">
              <a:ext uri="{FF2B5EF4-FFF2-40B4-BE49-F238E27FC236}">
                <a16:creationId xmlns:a16="http://schemas.microsoft.com/office/drawing/2014/main" id="{0F04175D-2295-43EF-B142-9C3B81ADD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defPPr>
            <a:lvl1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1pPr>
            <a:lvl2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2pPr>
            <a:lvl3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3pPr>
            <a:lvl4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4pPr>
            <a:lvl5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5pPr>
            <a:lvl6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6pPr>
            <a:lvl7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7pPr>
            <a:lvl8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8pPr>
            <a:lvl9pPr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2100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FF72B5"/>
                </a:solidFill>
                <a:latin typeface="Meiryo"/>
                <a:ea typeface="Meiryo"/>
                <a:cs typeface="Meiryo"/>
              </a:rPr>
              <a:t>私の担当</a:t>
            </a:r>
          </a:p>
        </p:txBody>
      </p:sp>
      <p:sp>
        <p:nvSpPr>
          <p:cNvPr id="4" name="企画・仕様整理・システム設計・タスク振り分け。&#10;素材集め、3Dオブジェク">
            <a:extLst xmlns:a="http://schemas.openxmlformats.org/drawingml/2006/main">
              <a:ext uri="{FF2B5EF4-FFF2-40B4-BE49-F238E27FC236}">
                <a16:creationId xmlns:a16="http://schemas.microsoft.com/office/drawing/2014/main" id="{C7A32A86-65BB-4462-B2A2-6FEA9917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10972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defPPr>
            <a:lvl1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1pPr>
            <a:lvl2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2pPr>
            <a:lvl3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3pPr>
            <a:lvl4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4pPr>
            <a:lvl5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5pPr>
            <a:lvl6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6pPr>
            <a:lvl7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7pPr>
            <a:lvl8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8pPr>
            <a:lvl9pPr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FAF8FF"/>
                </a:solidFill>
                <a:latin typeface="Meiryo"/>
                <a:ea typeface="Meiryo"/>
                <a:cs typeface="Meiryo"/>
              </a:rPr>
              <a:t>企画・仕様整理・システム設計・タスク振り分け。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950" b="0">
                <a:solidFill>
                  <a:srgbClr val="FAF8FF"/>
                </a:solidFill>
                <a:latin typeface="Meiryo"/>
                <a:ea typeface="Meiryo"/>
                <a:cs typeface="Meiryo"/>
              </a:defRPr>
            </a:pPr>
            <a:r>
              <a:rPr sz="1950" b="0">
                <a:solidFill>
                  <a:srgbClr val="FAF8FF"/>
                </a:solidFill>
                <a:latin typeface="Meiryo"/>
                <a:ea typeface="Meiryo"/>
                <a:cs typeface="Meiryo"/>
              </a:rPr>
              <a:t>素材集め、3Dオブジェクト、エフェクト、アニメーションの制作にも参加。</a:t>
            </a:r>
          </a:p>
        </p:txBody>
      </p:sp>
      <p:sp>
        <p:nvSpPr>
          <p:cNvPr id="5" name="配信文化のどの要素を遊びにするか整理し、制作へつなげました。">
            <a:extLst xmlns:a="http://schemas.openxmlformats.org/drawingml/2006/main">
              <a:ext uri="{FF2B5EF4-FFF2-40B4-BE49-F238E27FC236}">
                <a16:creationId xmlns:a16="http://schemas.microsoft.com/office/drawing/2014/main" id="{AEAD067B-3179-4508-8E0B-33AC43C8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defPPr>
            <a:lvl1pPr>
              <a:defRPr sz="2175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1pPr>
            <a:lvl2pPr>
              <a:defRPr sz="2175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2pPr>
            <a:lvl3pPr>
              <a:defRPr sz="2175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3pPr>
            <a:lvl4pPr>
              <a:defRPr sz="2175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4pPr>
            <a:lvl5pPr>
              <a:defRPr sz="2175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5pPr>
            <a:lvl6pPr>
              <a:defRPr sz="2175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6pPr>
            <a:lvl7pPr>
              <a:defRPr sz="2175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7pPr>
            <a:lvl8pPr>
              <a:defRPr sz="2175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8pPr>
            <a:lvl9pPr>
              <a:defRPr sz="2175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2175" b="1">
                <a:solidFill>
                  <a:srgbClr val="FAF8FF"/>
                </a:solidFill>
                <a:latin typeface="Meiryo"/>
                <a:ea typeface="Meiryo"/>
                <a:cs typeface="Meiryo"/>
              </a:defRPr>
            </a:pPr>
            <a:r>
              <a:rPr sz="2175" b="1">
                <a:solidFill>
                  <a:srgbClr val="FAF8FF"/>
                </a:solidFill>
                <a:latin typeface="Meiryo"/>
                <a:ea typeface="Meiryo"/>
                <a:cs typeface="Meiryo"/>
              </a:rPr>
              <a:t>配信文化のどの要素を遊びにするか整理し、制作へつなげました。</a:t>
            </a:r>
          </a:p>
        </p:txBody>
      </p:sp>
      <p:sp>
        <p:nvSpPr>
          <p:cNvPr id="6" name="ブラウザー版をプレイ">
            <a:extLst xmlns:a="http://schemas.openxmlformats.org/drawingml/2006/main">
              <a:ext uri="{FF2B5EF4-FFF2-40B4-BE49-F238E27FC236}">
                <a16:creationId xmlns:a16="http://schemas.microsoft.com/office/drawing/2014/main" id="{7460748E-5521-483B-A632-93D6418E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defPPr>
            <a:lvl1pPr>
              <a:defRPr sz="1875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1pPr>
            <a:lvl2pPr>
              <a:defRPr sz="1875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2pPr>
            <a:lvl3pPr>
              <a:defRPr sz="1875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3pPr>
            <a:lvl4pPr>
              <a:defRPr sz="1875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4pPr>
            <a:lvl5pPr>
              <a:defRPr sz="1875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5pPr>
            <a:lvl6pPr>
              <a:defRPr sz="1875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6pPr>
            <a:lvl7pPr>
              <a:defRPr sz="1875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7pPr>
            <a:lvl8pPr>
              <a:defRPr sz="1875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8pPr>
            <a:lvl9pPr>
              <a:defRPr sz="1875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875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FF72B5"/>
                </a:solidFill>
                <a:latin typeface="Meiryo"/>
                <a:ea typeface="Meiryo"/>
                <a:cs typeface="Meiryo"/>
                <a:hlinkClick xmlns:r="http://schemas.openxmlformats.org/officeDocument/2006/relationships" r:id="Ra2358bf47c3f49bd"/>
              </a:rPr>
              <a:t>ブラウザー版をプレイ</a:t>
            </a:r>
          </a:p>
        </p:txBody>
      </p:sp>
      <p:sp>
        <p:nvSpPr>
          <p:cNvPr id="7" name="Windows版・プレイ映像を見る">
            <a:extLst xmlns:a="http://schemas.openxmlformats.org/drawingml/2006/main">
              <a:ext uri="{FF2B5EF4-FFF2-40B4-BE49-F238E27FC236}">
                <a16:creationId xmlns:a16="http://schemas.microsoft.com/office/drawing/2014/main" id="{C7A3A8F7-CE8D-4061-B8EA-09CE55CC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defPPr>
            <a:lvl1pPr>
              <a:defRPr sz="1875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1pPr>
            <a:lvl2pPr>
              <a:defRPr sz="1875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2pPr>
            <a:lvl3pPr>
              <a:defRPr sz="1875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3pPr>
            <a:lvl4pPr>
              <a:defRPr sz="1875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4pPr>
            <a:lvl5pPr>
              <a:defRPr sz="1875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5pPr>
            <a:lvl6pPr>
              <a:defRPr sz="1875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6pPr>
            <a:lvl7pPr>
              <a:defRPr sz="1875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7pPr>
            <a:lvl8pPr>
              <a:defRPr sz="1875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8pPr>
            <a:lvl9pPr>
              <a:defRPr sz="1875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875" b="1">
                <a:solidFill>
                  <a:srgbClr val="FF72B5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FF72B5"/>
                </a:solidFill>
                <a:latin typeface="Meiryo"/>
                <a:ea typeface="Meiryo"/>
                <a:cs typeface="Meiryo"/>
                <a:hlinkClick xmlns:r="http://schemas.openxmlformats.org/officeDocument/2006/relationships" r:id="R2695f222f98e4eb3"/>
              </a:rPr>
              <a:t>Windows版・プレイ映像を見る</a:t>
            </a:r>
          </a:p>
        </p:txBody>
      </p:sp>
      <p:sp>
        <p:nvSpPr>
          <p:cNvPr id="8" name="実行ファイルを利用できない環境にも、ブラウザー版と映像を用意しています。">
            <a:extLst xmlns:a="http://schemas.openxmlformats.org/drawingml/2006/main">
              <a:ext uri="{FF2B5EF4-FFF2-40B4-BE49-F238E27FC236}">
                <a16:creationId xmlns:a16="http://schemas.microsoft.com/office/drawing/2014/main" id="{CA00C705-31AB-40EB-8897-F39269CC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C5BDCE"/>
                </a:solidFill>
                <a:latin typeface="Meiryo"/>
                <a:ea typeface="Meiryo"/>
                <a:cs typeface="Meiryo"/>
              </a:defRPr>
            </a:defPPr>
            <a:lvl1pPr>
              <a:defRPr sz="1650" b="0">
                <a:solidFill>
                  <a:srgbClr val="C5BDCE"/>
                </a:solidFill>
                <a:latin typeface="Meiryo"/>
                <a:ea typeface="Meiryo"/>
                <a:cs typeface="Meiryo"/>
              </a:defRPr>
            </a:lvl1pPr>
            <a:lvl2pPr>
              <a:defRPr sz="1650" b="0">
                <a:solidFill>
                  <a:srgbClr val="C5BDCE"/>
                </a:solidFill>
                <a:latin typeface="Meiryo"/>
                <a:ea typeface="Meiryo"/>
                <a:cs typeface="Meiryo"/>
              </a:defRPr>
            </a:lvl2pPr>
            <a:lvl3pPr>
              <a:defRPr sz="1650" b="0">
                <a:solidFill>
                  <a:srgbClr val="C5BDCE"/>
                </a:solidFill>
                <a:latin typeface="Meiryo"/>
                <a:ea typeface="Meiryo"/>
                <a:cs typeface="Meiryo"/>
              </a:defRPr>
            </a:lvl3pPr>
            <a:lvl4pPr>
              <a:defRPr sz="1650" b="0">
                <a:solidFill>
                  <a:srgbClr val="C5BDCE"/>
                </a:solidFill>
                <a:latin typeface="Meiryo"/>
                <a:ea typeface="Meiryo"/>
                <a:cs typeface="Meiryo"/>
              </a:defRPr>
            </a:lvl4pPr>
            <a:lvl5pPr>
              <a:defRPr sz="1650" b="0">
                <a:solidFill>
                  <a:srgbClr val="C5BDCE"/>
                </a:solidFill>
                <a:latin typeface="Meiryo"/>
                <a:ea typeface="Meiryo"/>
                <a:cs typeface="Meiryo"/>
              </a:defRPr>
            </a:lvl5pPr>
            <a:lvl6pPr>
              <a:defRPr sz="1650" b="0">
                <a:solidFill>
                  <a:srgbClr val="C5BDCE"/>
                </a:solidFill>
                <a:latin typeface="Meiryo"/>
                <a:ea typeface="Meiryo"/>
                <a:cs typeface="Meiryo"/>
              </a:defRPr>
            </a:lvl6pPr>
            <a:lvl7pPr>
              <a:defRPr sz="1650" b="0">
                <a:solidFill>
                  <a:srgbClr val="C5BDCE"/>
                </a:solidFill>
                <a:latin typeface="Meiryo"/>
                <a:ea typeface="Meiryo"/>
                <a:cs typeface="Meiryo"/>
              </a:defRPr>
            </a:lvl7pPr>
            <a:lvl8pPr>
              <a:defRPr sz="1650" b="0">
                <a:solidFill>
                  <a:srgbClr val="C5BDCE"/>
                </a:solidFill>
                <a:latin typeface="Meiryo"/>
                <a:ea typeface="Meiryo"/>
                <a:cs typeface="Meiryo"/>
              </a:defRPr>
            </a:lvl8pPr>
            <a:lvl9pPr>
              <a:defRPr sz="1650" b="0">
                <a:solidFill>
                  <a:srgbClr val="C5BDCE"/>
                </a:solidFill>
                <a:latin typeface="Meiryo"/>
                <a:ea typeface="Meiryo"/>
                <a:cs typeface="Meiryo"/>
              </a:defRPr>
            </a:lvl9pPr>
          </a:lstStyle>
          <a:p xmlns:a="http://schemas.openxmlformats.org/drawingml/2006/main">
            <a:pPr>
              <a:lnSpc>
                <a:spcPct val="118000"/>
              </a:lnSpc>
              <a:buNone/>
              <a:defRPr sz="1650" b="0">
                <a:solidFill>
                  <a:srgbClr val="C5BDCE"/>
                </a:solidFill>
                <a:latin typeface="Meiryo"/>
                <a:ea typeface="Meiryo"/>
                <a:cs typeface="Meiryo"/>
              </a:defRPr>
            </a:pPr>
            <a:r>
              <a:rPr sz="1650" b="0">
                <a:solidFill>
                  <a:srgbClr val="C5BDCE"/>
                </a:solidFill>
                <a:latin typeface="Meiryo"/>
                <a:ea typeface="Meiryo"/>
                <a:cs typeface="Meiryo"/>
              </a:rPr>
              <a:t>実行ファイルを利用できない環境にも、ブラウザー版と映像を用意しています。</a:t>
            </a:r>
          </a:p>
          <a:p xmlns:a="http://schemas.openxmlformats.org/drawingml/2006/main">
            <a:pPr>
              <a:lnSpc>
                <a:spcPct val="118000"/>
              </a:lnSpc>
              <a:buNone/>
              <a:defRPr sz="1650" b="0">
                <a:solidFill>
                  <a:srgbClr val="C5BDCE"/>
                </a:solidFill>
                <a:latin typeface="Meiryo"/>
                <a:ea typeface="Meiryo"/>
                <a:cs typeface="Meiryo"/>
              </a:defRPr>
            </a:pPr>
            <a:r>
              <a:rPr sz="1650" b="0">
                <a:solidFill>
                  <a:srgbClr val="C5BDCE"/>
                </a:solidFill>
                <a:latin typeface="Meiryo"/>
                <a:ea typeface="Meiryo"/>
                <a:cs typeface="Meiryo"/>
              </a:rPr>
              <a:t>利用可否は所属先のセキュリティ方針に従ってください。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1057661214"/>
      </p:ext>
    </p:extLst>
  </p:cSld>
</p:sld>
</file>

<file path=ppt/theme/theme1.xml><?xml version="1.0" encoding="utf-8"?>
<a:theme xmlns:a="http://schemas.openxmlformats.org/drawingml/2006/main" name="ChatGPT">
  <a:themeElements>
    <a:clrScheme name="V-Link Battle">
      <a:dk1>
        <a:srgbClr val="111111"/>
      </a:dk1>
      <a:lt1>
        <a:srgbClr val="FFFFFF"/>
      </a:lt1>
      <a:dk2>
        <a:srgbClr val="222222"/>
      </a:dk2>
      <a:lt2>
        <a:srgbClr val="EEEEEE"/>
      </a:lt2>
      <a:accent1>
        <a:srgbClr val="FF72B5"/>
      </a:accent1>
      <a:accent2>
        <a:srgbClr val="24B6AC"/>
      </a:accent2>
      <a:accent3>
        <a:srgbClr val="FBD069"/>
      </a:accent3>
      <a:accent4>
        <a:srgbClr val="E85166"/>
      </a:accent4>
      <a:accent5>
        <a:srgbClr val="8F78CD"/>
      </a:accent5>
      <a:accent6>
        <a:srgbClr val="4B985A"/>
      </a:accent6>
      <a:hlink>
        <a:srgbClr val="FF72B5"/>
      </a:hlink>
      <a:folHlink>
        <a:srgbClr val="FF72B5"/>
      </a:folHlink>
    </a:clrScheme>
    <a:fontScheme name="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V-Link Battl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2026-10-30T08:03:41.2400000Z</dcterms:created>
  <dcterms:modified xsi:type="dcterms:W3CDTF">2026-10-30T08:03:41.2400000Z</dcterms:modified>
</coreProperties>
</file>